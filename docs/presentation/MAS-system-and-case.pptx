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工作项</c:v>
                </c:pt>
              </c:strCache>
            </c:strRef>
          </c:tx>
          <c:spPr>
            <a:ln w="38100">
              <a:solidFill>
                <a:srgbClr val="2086D5"/>
              </a:solidFill>
            </a:ln>
          </c:spPr>
          <c:marker>
            <c:size val="9"/>
            <c:spPr>
              <a:solidFill>
                <a:srgbClr val="2086D5"/>
              </a:solidFill>
              <a:ln>
                <a:solidFill>
                  <a:srgbClr val="2086D5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起点</c:v>
                </c:pt>
                <c:pt idx="1">
                  <c:v>任务要求</c:v>
                </c:pt>
                <c:pt idx="2">
                  <c:v>靶点覆盖</c:v>
                </c:pt>
                <c:pt idx="3">
                  <c:v>口服性质</c:v>
                </c:pt>
                <c:pt idx="4">
                  <c:v>代谢稳定性</c:v>
                </c:pt>
                <c:pt idx="5">
                  <c:v>安全性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6</c:v>
                </c:pt>
                <c:pt idx="2">
                  <c:v>293</c:v>
                </c:pt>
                <c:pt idx="3">
                  <c:v>504</c:v>
                </c:pt>
                <c:pt idx="4">
                  <c:v>1192</c:v>
                </c:pt>
                <c:pt idx="5">
                  <c:v>1917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2200" b="1">
                  <a:solidFill>
                    <a:srgbClr val="082646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EEE"/>
            </a:solidFill>
          </a:ln>
        </c:spPr>
        <c:txPr>
          <a:bodyPr/>
          <a:lstStyle/>
          <a:p>
            <a:pPr>
              <a:defRPr sz="1700">
                <a:solidFill>
                  <a:srgbClr val="082646"/>
                </a:solidFill>
                <a:ea typeface="Microsoft YaHei"/>
                <a:cs typeface="Microsoft YaHe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100.0"/>
          <c:min val="0.0"/>
        </c:scaling>
        <c:delete val="0"/>
        <c:axPos val="l"/>
        <c:majorGridlines>
          <c:spPr>
            <a:ln>
              <a:solidFill>
                <a:srgbClr val="C9DEEE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rgbClr val="5E7489"/>
                </a:solidFill>
                <a:ea typeface="Microsoft YaHei"/>
                <a:cs typeface="Microsoft YaHei"/>
              </a:defRPr>
            </a:pPr>
          </a:p>
        </c:txPr>
        <c:crossAx val="2118791784"/>
        <c:crosses val="autoZero"/>
        <c:majorUnit val="500.0"/>
      </c:valAx>
    </c:plotArea>
    <c:plotVisOnly val="1"/>
    <c:dispBlanksAs val="gap"/>
    <c:showDLblsOverMax val="0"/>
  </c:chart>
  <c:txPr>
    <a:bodyPr/>
    <a:lstStyle/>
    <a:p>
      <a:pPr>
        <a:defRPr sz="1700">
          <a:latin typeface="Microsoft YaHei"/>
          <a:ea typeface="Microsoft YaHei"/>
          <a:cs typeface="Microsoft YaHei"/>
        </a:defRPr>
      </a:pPr>
      <a:endParaRPr lang="en-US">
        <a:ea typeface="Microsoft YaHei"/>
        <a:cs typeface="Microsoft YaHei"/>
      </a:endParaR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工作项</c:v>
                </c:pt>
              </c:strCache>
            </c:strRef>
          </c:tx>
          <c:spPr>
            <a:ln w="38100">
              <a:solidFill>
                <a:srgbClr val="2086D5"/>
              </a:solidFill>
            </a:ln>
          </c:spPr>
          <c:marker>
            <c:size val="9"/>
            <c:spPr>
              <a:solidFill>
                <a:srgbClr val="2086D5"/>
              </a:solidFill>
              <a:ln>
                <a:solidFill>
                  <a:srgbClr val="2086D5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展开完成</c:v>
                </c:pt>
                <c:pt idx="1">
                  <c:v>第 1 轮</c:v>
                </c:pt>
                <c:pt idx="2">
                  <c:v>第 2 轮</c:v>
                </c:pt>
                <c:pt idx="3">
                  <c:v>第 3 轮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1917</c:v>
                </c:pt>
                <c:pt idx="1">
                  <c:v>147</c:v>
                </c:pt>
                <c:pt idx="2">
                  <c:v>68</c:v>
                </c:pt>
                <c:pt idx="3">
                  <c:v>53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2200" b="1">
                  <a:solidFill>
                    <a:srgbClr val="082646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EEE"/>
            </a:solidFill>
          </a:ln>
        </c:spPr>
        <c:txPr>
          <a:bodyPr/>
          <a:lstStyle/>
          <a:p>
            <a:pPr>
              <a:defRPr sz="1700">
                <a:solidFill>
                  <a:srgbClr val="082646"/>
                </a:solidFill>
                <a:ea typeface="Microsoft YaHei"/>
                <a:cs typeface="Microsoft YaHe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100.0"/>
          <c:min val="0.0"/>
        </c:scaling>
        <c:delete val="0"/>
        <c:axPos val="l"/>
        <c:majorGridlines>
          <c:spPr>
            <a:ln>
              <a:solidFill>
                <a:srgbClr val="C9DEEE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rgbClr val="5E7489"/>
                </a:solidFill>
                <a:ea typeface="Microsoft YaHei"/>
                <a:cs typeface="Microsoft YaHei"/>
              </a:defRPr>
            </a:pPr>
          </a:p>
        </c:txPr>
        <c:crossAx val="2118791784"/>
        <c:crosses val="autoZero"/>
        <c:majorUnit val="500.0"/>
      </c:valAx>
    </c:plotArea>
    <c:plotVisOnly val="1"/>
    <c:dispBlanksAs val="gap"/>
    <c:showDLblsOverMax val="0"/>
  </c:chart>
  <c:txPr>
    <a:bodyPr/>
    <a:lstStyle/>
    <a:p>
      <a:pPr>
        <a:defRPr sz="1700">
          <a:latin typeface="Microsoft YaHei"/>
          <a:ea typeface="Microsoft YaHei"/>
          <a:cs typeface="Microsoft YaHei"/>
        </a:defRPr>
      </a:pPr>
      <a:endParaRPr lang="en-US">
        <a:ea typeface="Microsoft YaHei"/>
        <a:cs typeface="Microsoft YaHei"/>
      </a:endParaR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TRIAGE 是通用医学研究工作台，MAS 保留为代码包名。研究者提供目标、候选和证据，系统从空标准集开始形成评价框架，再进行准入判断与排序。</a:t>
            </a:r>
          </a:p>
          <a:p/>
          <a:p>
            <a:r>
              <a:t>这套演示先介绍组件和设计，再用公开保存的口服多靶点案例说明实际操作。所有工作台截图在 2026 年 10 月 28 日使用当前代码重新拍摄；图中的研究结果来自同一个已保存案例。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区分当前界面截图日期与研究记录日期。</a:t>
            </a:r>
          </a:p>
          <a:p>
            <a:r>
              <a:t>- 说明通用流程，随后进入具体案例。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候选比较常常卡在材料之间的差异。两篇文献可能研究同一种性质，却使用不同对象、剂量、时间或实验方法。把数值放在一起之前，需要先判断它们能回答什么问题。</a:t>
            </a:r>
          </a:p>
          <a:p/>
          <a:p>
            <a:r>
              <a:t>另一个困难是标准本身。“安全性好”或者“递送表现好”只是目标，还需要说明测什么、在什么条件下测，以及结果怎样影响选择。系统因此把形成标准作为独立的研究过程。标准和来源一起保留，研究者就能检查一项材料为什么被用于筛选或评分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本页讲标准形成的必要性，不展开算法。</a:t>
            </a:r>
          </a:p>
          <a:p>
            <a:r>
              <a:t>- 同条件可比性需要逐项判断，图中仅表达问题结构。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用户需要提供三类输入。第一类是研究任务，包括目标、必要条件和比较范围。第二类是候选名单，它决定这次研究到底比较谁。第三类是证据，可以选择已保存的集合，也可以上传自己的测量。</a:t>
            </a:r>
          </a:p>
          <a:p/>
          <a:p>
            <a:r>
              <a:t>这些输入的作用不同。例如，上传一个候选名称，只表示它进入比较范围，并没有为它提供某项性质的证据。系统处理后输出核心标准、候选的资格与排序，以及支持判断的来源和仍然缺少的材料。接下来把输入到输出之间的过程展开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指出候选 CSV 与测量 CSV 的区别。</a:t>
            </a:r>
          </a:p>
          <a:p>
            <a:r>
              <a:t>- 自有数据的具体入口在最后一页展示。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流程从理解任务和准备证据开始。提出者根据研究维度产生标准，审查过程检查依据与定义，提炼过程处理重复、含糊和缺乏支持的提议。遇到尚未解决的争议时，系统保留问题及其原因。</a:t>
            </a:r>
          </a:p>
          <a:p/>
          <a:p>
            <a:r>
              <a:t>能够执行的标准随后组成固定评估方案。候选按照这个方案接受资格核验和偏好比较，结果保存后进入工作台。图上的回路说明标准可以在审查中修订；一旦进入候选评估，使用的规则、来源与方法就需要明确，后续修正也要留下新的记录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两排流程都从左向右阅读，沿连接线进入下一排。</a:t>
            </a:r>
          </a:p>
          <a:p>
            <a:r>
              <a:t>- 该图与工作台的八阶段对应，具体标签在界面中略有缩写。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系统分成三个层次。最上面是具体研究任务，决定目标、约束、候选范围和证据范围。中间是领域知识和工具，提供候选身份、性质定义、数据读取与计算能力。下面是可以复用的研究流程，负责标准形成、审查、筛选、排序和记录。</a:t>
            </a:r>
          </a:p>
          <a:p/>
          <a:p>
            <a:r>
              <a:t>这种划分使得研究对象可以替换。药物研究关注靶点效力、口服性质等；如果研究载体，关注点可能改为粒径、递送效率和实验条件。通用流程可以沿用，领域工具和判断定义则需要按任务配置。后面的完整运行证据来自药物案例，载体在这里用于解释扩展方式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载体为应用示意，不宣称已经完成同等规模的载体验证。</a:t>
            </a:r>
          </a:p>
          <a:p>
            <a:r>
              <a:t>- 对应设计：通用 Core、领域 Adapter、Case 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任务整理组件首先区分用户说的是研究目标、必须满足的条件，还是希望比较的性质。图中的示例要比较载体的递送表现与安全性，系统需要识别研究对象，并进一步明确实验范围和必要限制。</a:t>
            </a:r>
          </a:p>
          <a:p/>
          <a:p>
            <a:r>
              <a:t>整理后的任务指导后续分工：需要哪些证据，按哪些维度提出标准，以及哪些信息会影响执行。可以从上下文确定的内容由系统整理；关键缺项需要补充后再继续。保留原始输入和整理后的版本，有助于研究者检查系统是否准确理解了问题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示例没有预设粒径或安全性的数值阈值。</a:t>
            </a:r>
          </a:p>
          <a:p>
            <a:r>
              <a:t>- 设计理由：避免把一段模糊目标直接变成一套未经解释的分数。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证据组件的基本单位是一条带上下文的发现。它同时记录研究对象、性质、数值与单位、实验条件，以及原文所在位置。这样，后续组件既能使用观测，也能判断它的适用范围。</a:t>
            </a:r>
          </a:p>
          <a:p/>
          <a:p>
            <a:r>
              <a:t>同一篇文献可能提供多条发现，因此界面先按文献组织，展开后再看具体记录。不同实验条件继续分别保留，重复摘录则集中呈现。这个设计减少重复阅读，也让研究者能够从一个判断返回相应段落，检查对象和条件是否匹配。带着这些材料，智能体才能讨论一条标准是否成立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图是证据结构示意，没有虚构实验数值。</a:t>
            </a:r>
          </a:p>
          <a:p>
            <a:r>
              <a:t>- 实际 FGFR1 原文与观测汇总在第 29 页展示。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这张图跟随一条提议，说明各角色怎样协作。提出者根据任务和证据拟定标准。示例先说“粒径越小越好”，审查者随即追问它适用于什么条件。这类问题要求提出者补充范围、依据或判断方法。</a:t>
            </a:r>
          </a:p>
          <a:p/>
          <a:p>
            <a:r>
              <a:t>下方回路表示修订后重新审查。能够解决的问题继续推进，持续分歧则交给裁决角色核对依据、处理争议。最终有的提议纳入标准，有的保留为待处理。分工的意义体现在提议发生了哪些改变，以及每次决定留下了什么理由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先走横向主线，再走修订回路，最后讲右下角分支。</a:t>
            </a:r>
          </a:p>
          <a:p>
            <a:r>
              <a:t>- 粒径为示意提议，不能讲成已成立的科研结论。</a:t>
            </a:r>
          </a:p>
          <a:p>
            <a:r>
              <a:t>- 该页使用用户已确认的样张。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一项评价标准需要明确两部分内容。属性定义说明测量对象、单位、实验条件及观测汇总方式；评价用途说明哪些条件或证据必须具备，以及哪些数值用于评分或解释。</a:t>
            </a:r>
          </a:p>
          <a:p/>
          <a:p>
            <a:r>
              <a:t>同一标准可以同时承担准入与评分用途。例如靶点观测先用于判断所需证据是否齐备，再将效力数值用于候选比较。来源和版本随定义保留，便于研究者理解变化。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载体粒径为通用设计示意。</a:t>
            </a:r>
          </a:p>
          <a:p>
            <a:r>
              <a:t>- 公共界面使用 evaluation criteria；CQA 保留为旧项目内部称呼。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标准展开后，需要解决几类不同问题。支持检查判断提议是否有依据、是否适合任务；定义提炼把宽泛说法变成可以读取或计算的性质；修订回应审查提出的问题；合并则整理同一性质、同一用途的重复提议。</a:t>
            </a:r>
          </a:p>
          <a:p/>
          <a:p>
            <a:r>
              <a:t>图中几条来源不同的提议最终汇合成一个判断项，原提议与支持来源仍然保留。实验条件或者决策含义不同的内容应当继续区分。我们希望核心标准收敛到研究者能够理解和使用的规模，但最终保留多少条，仍由独立决策作用决定。没有解决的问题进入待处理分支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数量 10–30 是软目标，不是强制删除规则。</a:t>
            </a:r>
          </a:p>
          <a:p>
            <a:r>
              <a:t>- 不把“提议合并”和“测量数值取平均”混为一谈。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工具按标准查找观测。实测和整理数据来自文献或数据库，确定性计算从结构得到描述符，模型预测提供声明了端点的估计值。三种来源的性质与证据类型分别显示。</a:t>
            </a:r>
          </a:p>
          <a:p/>
          <a:p>
            <a:r>
              <a:t>允许的预测可以参与评分；本例直接覆盖由测量与结构计算构成。同一性质已有可用直接观测时，评分采用该直接观测。工具失败、缺少输入和缺失证据保留具体状态。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解释预测的实际计分作用。</a:t>
            </a:r>
          </a:p>
          <a:p>
            <a:r>
              <a:t>- 该图是通用观测流程；本次公开案例复用了已有材料。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准入要求由任务定义，包括条件要求和证据要求。条件明确失败时排除；必需评估完成后，没有任何准入依据的候选也归入 Excluded。部分要求已有依据、其余仍有缺口时为 Evidence incomplete；全部要求满足时为 Eligible。</a:t>
            </a:r>
          </a:p>
          <a:p/>
          <a:p>
            <a:r>
              <a:t>合格候选再按评分标准比较，同时检查直接证据覆盖是否达到取得名次的要求。覆盖不足的合格候选保留 Eligible，并显示尚未排名的原因。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明确条件失败具有优先级。</a:t>
            </a:r>
          </a:p>
          <a:p>
            <a:r>
              <a:t>- 未完成的评估另行显示。准入要求可以由条件、证据或二者组成。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运行控制给研究者提供两层信息。上层是整个研究所处的阶段，下层是当前阶段正在处理的批次、候选或具体工作。局部批次接近完成，并不意味着整个研究也接近完成。</a:t>
            </a:r>
          </a:p>
          <a:p/>
          <a:p>
            <a:r>
              <a:t>最近活动、时间、预算和等待原因帮助用户判断系统是否仍在推进。暂停、继续和停止连接到保存的运行状态，研究者可以恢复后继续查看。分母还不知道时，页面说明当前工作而不编造百分比。这种进度表达也让长时间的标准生成与审查更容易跟踪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本页为进度语义示意；第 19 页展示当前界面的保存进度记录。</a:t>
            </a:r>
          </a:p>
          <a:p>
            <a:r>
              <a:t>- 用户侧讲阶段与当前工作，不展开事件推送和数据库实现。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结果解释沿着这条关系向后走：名次来自分数，分数来自各项标准的评估，评估采用具体观测，而观测有来源和位置。研究者可以在链条中的任何一层提出问题，再继续查看依据。</a:t>
            </a:r>
          </a:p>
          <a:p/>
          <a:p>
            <a:r>
              <a:t>版本记录让后来的修改也能被解释。如果标准或者证据读取发生变化，原结果保留，新结果另外保存；仍然有效的材料可以复用。这样既减少重复工作，又能说明两次结果究竟在哪些输入或判断上不同。接下来用同一次口服多靶点研究，把前面介绍的组件放到实际操作中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不把设计中的策略自动改进功能写成本次已经验证的行为。</a:t>
            </a:r>
          </a:p>
          <a:p>
            <a:r>
              <a:t>- 本次演示的是任务、CQA、证据、评估与结果的版本关联。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本案例的研究目标是寻找单一口服药物，覆盖 CSF1R、VEGFR1、VEGFR2、VEGFR3 和 FGFR1。候选库包含 3,177 个化合物，标准形成使用已保存的文献和数据库证据。</a:t>
            </a:r>
          </a:p>
          <a:p/>
          <a:p>
            <a:r>
              <a:t>这些靶点和口服要求属于任务输入。接下来按设置、任务与证据选择、标准形成、准入判断、评分和来源回查的顺序介绍。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这是通用流程的一个公开案例。</a:t>
            </a:r>
          </a:p>
          <a:p>
            <a:r>
              <a:t>- 完整任务及来源设置保留在配套数据中。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 Settings 界面把文献与教材工作量设为 Medium，并发上限设为 4，预算设为 10 美元。设置影响后续研究，页面也明确说明已保存评估保留原配置。</a:t>
            </a:r>
          </a:p>
          <a:p/>
          <a:p>
            <a:r>
              <a:t>顶部进度条属于展示中的保存案例，因此仍显示原预算 5.5 美元和约 4.2101 美元估计模型费用。两个数值分别对应后续工作设置与保存研究记录。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截图于 2026-10-28 实拍。</a:t>
            </a:r>
          </a:p>
          <a:p>
            <a:r>
              <a:t>- 并发上限与实际同时执行数量分别理解。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 Research options 选择 New study with this setup，当前表单会复用研究设置与保存证据，并明确提示新标准从空集开始。多行研究目标可以直接编辑，靶点与口服要求分别显示在范围和约束中。</a:t>
            </a:r>
          </a:p>
          <a:p/>
          <a:p>
            <a:r>
              <a:t>这一页展示的是新建任务表单，尚未启动研究。改换问题时，可以更换对象类型、输入目标和数据，再根据需要提交。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保存草稿与 Start research 的作用不同。</a:t>
            </a:r>
          </a:p>
          <a:p>
            <a:r>
              <a:t>- 截图中后台仍是保存案例，表单本身没有生成新结果。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候选库决定本次比较谁，证据集合决定标准形成可以使用哪些材料。当前选择器展示 3,177 个化合物的候选库，以及包含 164 个来源和 3,157 条记录的保存集合，截止时间为 2026-10-15。</a:t>
            </a:r>
          </a:p>
          <a:p/>
          <a:p>
            <a:r>
              <a:t>本案例用于标准生成的子集为 3,021 条记录。集合名称与简介可以通过显示设置编辑；科学记录、来源及截止时间保持原值。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来源数量与记录数量分别计数。</a:t>
            </a:r>
          </a:p>
          <a:p>
            <a:r>
              <a:t>- 画面为当前界面的数据选择表单。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当前界面默认将已完成研究折叠为状态条，点击 Workflow &amp; run details 可以展开整个工作流。本页展示八个阶段已经完成的保存案例，同时显示记录中的耗时、估计费用和预算。</a:t>
            </a:r>
          </a:p>
          <a:p/>
          <a:p>
            <a:r>
              <a:t>运行中的界面按实际阶段和批次更新；这张截图用于说明现在的查看方式。用户可以从阶段记录进入标准演化和结果。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当前截图日期为 2026-10-28，案例已完成。</a:t>
            </a:r>
          </a:p>
          <a:p>
            <a:r>
              <a:t>- 局部批次进度与整个研究完成度分别解释。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标准起点是零。任务先绑定五个靶点和口服条件，共六项要求，再从证据中按四个维度提出候选标准。四个维度分别是靶点覆盖、口服性质、代谢稳定性和安全性。</a:t>
            </a:r>
          </a:p>
          <a:p/>
          <a:p>
            <a:r>
              <a:t>沿图从左到右，保存阶段的工作项数量从 6 增长到 293、504、1,192，最终达到 1,917。其中六项是任务要求，其余 1,911 项是生成的提议。这个阶段的目的在于充分展开，后面还需要处理支持程度、定义和重复问题。图中的数量是工作项数，不直接表示最终启用的标准数量。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全程计数口径：已注册标准加未注册提议。</a:t>
            </a:r>
          </a:p>
          <a:p>
            <a:r>
              <a:t>- 来源：最新 stages.json / source-cqa-history.json。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展开后的提议经过三轮处理。第一轮结束时剩 147 个工作项，第二轮剩 68 个，第三轮剩 53 个。每轮都包含检查支持、明确测量、回应质疑和合并重复。</a:t>
            </a:r>
          </a:p>
          <a:p/>
          <a:p>
            <a:r>
              <a:t>第一轮内部也能看到各阶段的记录：1,917 经过检查变为 1,373，定义提炼后为 1,337，修订处理后为 291，合并后为 147。每次变化都保存了原项、处理后的项和理由。剩下的 53 项还包含参考和待处理内容。要理解提炼到底改变了什么，需要进一步看一条具体标准。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第一轮阶段值：1917 → 1373 → 1337 → 291 → 147。</a:t>
            </a:r>
          </a:p>
          <a:p>
            <a:r>
              <a:t>- 图表按真实计数绘制；不要把折线斜率解读成处理速度。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分子量例子展示了从重复提议到可执行判断的过程。第二轮中，六条提议都围绕结构计算得到的分子量，具有相同测量性质和偏好方向，因此合并成一个项，父项和来源仍可回查。</a:t>
            </a:r>
          </a:p>
          <a:p/>
          <a:p>
            <a:r>
              <a:t>合并后审查继续进行。第三轮指出反例与适用性说明的问题，修订随后补充经验依据，明确 500 Da 这条线的解释。最终进入方案的是分子量不超过 500 Da 的阈值偏好。满足该阈值取得对应比较分；超出阈值影响这一项偏好，而不会单独导致硬淘汰。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两个都低于 500 Da 的候选不会因这条阈值进一步拉开差距。</a:t>
            </a:r>
          </a:p>
          <a:p>
            <a:r>
              <a:t>- 来源：source-facts.json 中 molecular-weight 的六个 parents 和三次历史版本。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 Criteria 页面分别展示六项准入要求、十七项评分标准、十三项解释性观察和五项待解决审查问题。五项靶点同时属于准入与评分，因此独立评价标准为十八项。</a:t>
            </a:r>
          </a:p>
          <a:p/>
          <a:p>
            <a:r>
              <a:t>展开历史后可以看到 0、6、1,917 和 53 的轨迹。最终三十一项进入逐候选评估，由十八项评价标准和十三项解释性观察组成；另有二十二项在本次评价之外，其定义、单位、替代方案或审查问题分别列出。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六项与十七项有重叠，不能直接相加。</a:t>
            </a:r>
          </a:p>
          <a:p>
            <a:r>
              <a:t>- 五项审查问题属于二十二项中的一部分。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候选评估前，系统确定标准版本、证据范围与比较方式。本案例有六项准入要求，分别是口服条件和五项靶点证据。十七项评分标准与准入共享这五项靶点，合计十八项独立标准；另外十三项观察用于解释。</a:t>
            </a:r>
          </a:p>
          <a:p/>
          <a:p>
            <a:r>
              <a:t>候选按同一框架接受评价。逐层模式在条件明确失败后可跳过后续工作；本案例没有这种明确条件失败，三十一项评估均有状态记录。全部 3,177 个候选对应 98,487 条评估记录。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观测缺失状态也属于评估记录。</a:t>
            </a:r>
          </a:p>
          <a:p>
            <a:r>
              <a:t>- 候选的三组分类见后续当前榜单。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当前候选详情把六项准入要求集中展示：一项口服条件满足，五项靶点直接观测齐全，五项靶点也参与评分。口服给药依据来自相应人类给药研究。</a:t>
            </a:r>
          </a:p>
          <a:p/>
          <a:p>
            <a:r>
              <a:t>准入回答所需条件和证据是否具备；后续评分比较数值表现。候选详情中的全部观测统计包含解释性观察，评分所用证据则在 Score breakdown 中单独列出。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原给药记录用于说明途径，不作为用药剂量建议。</a:t>
            </a:r>
          </a:p>
          <a:p>
            <a:r>
              <a:t>- 本例靶点准入要求是直接观测齐备，相应效力数值进入评分。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当前评分面板分别解释总分和证据覆盖。十七项评分标准中，五项靶点数据、五项结构计算和五项 ADMET 预测取得可用值，共十五项参加平均。</a:t>
            </a:r>
          </a:p>
          <a:p/>
          <a:p>
            <a:r>
              <a:t>直接证据覆盖的分子由五项靶点数据和五项计算值组成，分母保留全部十七项适用评分标准。人类口服 F% 和 Tmax 两项仍缺失，因此覆盖为 10/17，即 58.8%，达到本次 50% 的排名要求。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本页使用当前 Score breakdown 的实际截图。</a:t>
            </a:r>
          </a:p>
          <a:p>
            <a:r>
              <a:t>- 旧的整理与修正过程继续保留在原始研究记录中。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点击 Score 可以查看每项采用的数值、依据类型、比较分、权重和最终贡献。17 条偏好中，这次有 15 条取得可用值，权重都是一。比较分合计 11.388889，除以可用权重之和 15，得到约 0.759259。</a:t>
            </a:r>
          </a:p>
          <a:p/>
          <a:p>
            <a:r>
              <a:t>五个靶点、五项结构计算和五项预测分别贡献约 0.30370、0.21852 和 0.23704。连续偏好在合格且有值的候选中比较，等值共享平均位置。例如 BRENK 的十个候选中两个更差、八个并列，比较分为 0.6111。直接覆盖另算 10/17，预测不增加这个分子；F% 和 Tmax 两项继续缺失。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BRENK：d = [2 + (8−1)/2] / 9 = 0.611111；总分贡献为 d/15。</a:t>
            </a:r>
          </a:p>
          <a:p>
            <a:r>
              <a:t>- 完整原始精度保存在评分数据中，正文显示舍入值。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当前工作台将全部 3,177 个候选展示为三组：十个 Eligible、一千三百零五个 Evidence incomplete、一千八百六十二个 Excluded。十个合格候选中，Surufatinib 排名第一，后面是 Pazopanib 和 Axitinib。</a:t>
            </a:r>
          </a:p>
          <a:p/>
          <a:p>
            <a:r>
              <a:t>本例的 Evidence incomplete 候选已有部分准入依据，Excluded 候选在完成必需评估后没有可用准入依据。点击分组和候选，可以查看对应要求及证据。完整导出覆盖三个分组的全部候选。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画面是 2026-10-28 拍摄的当前界面。</a:t>
            </a:r>
          </a:p>
          <a:p>
            <a:r>
              <a:t>- 名次范围为十个合格候选，完整榜单和三组结果可导出。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当前证据详情将发现、原文摘录、实验条件和使用它的标准、候选放在一起。图中 34 nM 的 FGFR1 观测来自公开文献，并链接到 FGFR1 标准及 Surufatinib 的保存评估。</a:t>
            </a:r>
          </a:p>
          <a:p/>
          <a:p>
            <a:r>
              <a:t>这一观测换算为 7.4685 pChEMBL，与其余三条保存观测一起形成 7.6443 的中位数。继续打开来源可以检查原文和实验条件；同一文献的发现可以从文献卡片展开。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具体观测、汇总值和比较分分别解释。</a:t>
            </a:r>
          </a:p>
          <a:p>
            <a:r>
              <a:t>- 便携数据包提供保存摘录和记录中的条件，原始文献通过来源链接查看。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 Export all candidates 按钮下载全部 3,177 行 CSV。导出中的 selection_decision 与当前三组显示一致：十个合格、一千三百零五个证据不完整、一千八百六十二个排除。</a:t>
            </a:r>
          </a:p>
          <a:p/>
          <a:p>
            <a:r>
              <a:t>原始资格字段和来源继续保留，当前分类有独立字段。完整 JSON、标准历史与来源文件可以配合 CSV 使用，离开界面后仍可核对同一个保存结果。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本轮已实际点击导出并核对全部行数及三组计数。</a:t>
            </a:r>
          </a:p>
          <a:p>
            <a:r>
              <a:t>- 原始字段与当前显示字段分别标注。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回到完整流程，这次研究从空标准集展开，经过多轮审查和提炼，得到 18 项评价标准。Surufatinib 满足一项口服条件和五项靶点证据要求，共六项准入要求，最终在十个合格候选中排名第一。每项分数还能继续回到标准和原始观测。</a:t>
            </a:r>
          </a:p>
          <a:p/>
          <a:p>
            <a:r>
              <a:t>当前结果提供了研究优先顺序，同时留下明确的下一步问题。例如，人类实测口服 F% 和 Tmax 仍然缺失，部分参考观测也需要进一步明确解释。后续补充这些材料后，应检查它们对资格和排序的影响。最后说明如何把同样的流程用于自己的候选。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名次是当前证据与方案下的结果，不等同于临床效果结论。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当前新研究表单可以选择药物、载体或其他候选类型。CSV 导入先说明文件用途，再读取列名、检查映射和展示逐行预览。候选列表决定比较对象，测量文件提供性质、单位、条件及来源。</a:t>
            </a:r>
          </a:p>
          <a:p/>
          <a:p>
            <a:r>
              <a:t>图中的两条载体记录明确标记为合成格式示例，只展示验证后的预览，没有提交研究或产生评价结果。实际使用时替换为自己的候选和测量，再选择合适工具，沿同一流程形成标准并进行比较。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截图文件名为 synthetic-candidates.csv。</a:t>
            </a:r>
          </a:p>
          <a:p>
            <a:r>
              <a:t>- 载体与其他对象使用相应数据和领域工具，不套用药物数据库或 ADMET 路线。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这一页供需要逐项核对时使用。五个靶点采用本次汇总后的 pChEMBL；分子量按 500 Da 阈值偏好计算，RDKit logP 采用本次固定的连续偏好。每项都列出采用值、依据、比较分和对总分的贡献。</a:t>
            </a:r>
          </a:p>
          <a:p/>
          <a:p>
            <a:r>
              <a:t>F% 和 Tmax 保留为空缺，没有补零，也没有通过预测替代为直接测量。它们仍然进入直接证据覆盖的分母。完整精度保存在随附的 CSV 和 JSON 中。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各项权重均为 1；可用值项的总分贡献为比较分除以 15。</a:t>
            </a:r>
          </a:p>
          <a:p>
            <a:r>
              <a:t>- 不需要在正常汇报中逐行念出，按提问展开。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这里列出剩余的结构警示和预测项。BRENK、NIH、PAINS 是确定性结构计算，在本次记录中归为 derived；血脑屏障与 CYP 相关概率来自模型预测，贡献偏好分数但不增加直接证据覆盖。</a:t>
            </a:r>
          </a:p>
          <a:p/>
          <a:p>
            <a:r>
              <a:t>连续偏好的比较分依赖本次合格且有值的比较集合。NIH 和 PAINS 在这十个候选中都为零，因此比较分为 0.5。把这些依据和比较范围一并展示，研究者才可以判断最后的排序对哪些偏好或预测最敏感。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历史属性名称中的 Predicted 不覆盖实际 determination_basis，展示依据采用保存结果的 measured / derived / predicted。</a:t>
            </a:r>
          </a:p>
          <a:p>
            <a:r>
              <a:t>- 两页附录合计 17 项；15 项计入总分，10 项计入直接覆盖分子。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2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2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1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1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24.xml"/><Relationship Id="rId4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2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27.xml"/><Relationship Id="rId4" Type="http://schemas.openxmlformats.org/officeDocument/2006/relationships/image" Target="../media/image2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28.xml"/><Relationship Id="rId4" Type="http://schemas.openxmlformats.org/officeDocument/2006/relationships/image" Target="../media/image2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2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30.xml"/><Relationship Id="rId4" Type="http://schemas.openxmlformats.org/officeDocument/2006/relationships/image" Target="../media/image22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31.xml"/><Relationship Id="rId4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32.xml"/><Relationship Id="rId4" Type="http://schemas.openxmlformats.org/officeDocument/2006/relationships/image" Target="../media/image25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Current capture or illustration: slide-01-current.png" descr="slide-01-current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238" y="0"/>
            <a:ext cx="12185522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235440" y="6528816"/>
            <a:ext cx="2560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57B8D"/>
                </a:solidFill>
                <a:latin typeface="Microsoft YaHei"/>
              </a:rPr>
              <a:t>界面与演示更新：2026-10-28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Current capture or illustration: slide-09-current.png" descr="slide-09-current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238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Current capture or illustration: slide-11-current.png" descr="slide-11-current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238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Current capture or illustration: slide-12-current.png" descr="slide-12-current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238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Current capture or illustration: slide-15-current.png" descr="slide-15-current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238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在 Settings 设定后续研究方式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6128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当前设置：mid · 并发上限 4 · $10 预算</a:t>
            </a:r>
          </a:p>
        </p:txBody>
      </p:sp>
      <p:pic>
        <p:nvPicPr>
          <p:cNvPr id="6" name="Current capture or illustration: settings.jpg" descr="settings.jpg"/>
          <p:cNvPicPr>
            <a:picLocks noChangeAspect="1"/>
          </p:cNvPicPr>
          <p:nvPr/>
        </p:nvPicPr>
        <p:blipFill>
          <a:blip r:embed="rId4"/>
          <a:srcRect l="17000" t="44000" r="1500" b="20000"/>
          <a:stretch>
            <a:fillRect/>
          </a:stretch>
        </p:blipFill>
        <p:spPr>
          <a:xfrm>
            <a:off x="457200" y="2475679"/>
            <a:ext cx="11201400" cy="2775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当前界面截图（2026-10-28）；保存案例的原预算为 $5.5，估计费用为 $4.2101。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新建任务，写清目标、靶点与约束</a:t>
            </a:r>
          </a:p>
        </p:txBody>
      </p:sp>
      <p:pic>
        <p:nvPicPr>
          <p:cNvPr id="11" name="Current capture or illustration: new-study.jpg" descr="new-study.jpg"/>
          <p:cNvPicPr>
            <a:picLocks noChangeAspect="1"/>
          </p:cNvPicPr>
          <p:nvPr/>
        </p:nvPicPr>
        <p:blipFill>
          <a:blip r:embed="rId4"/>
          <a:srcRect l="43000" t="30000" r="1500" b="10000"/>
          <a:stretch>
            <a:fillRect/>
          </a:stretch>
        </p:blipFill>
        <p:spPr>
          <a:xfrm>
            <a:off x="885280" y="1421267"/>
            <a:ext cx="7602039" cy="46098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4173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研究目标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1874519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单一口服药物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覆盖五个靶点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29718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研究范围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342900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CSF1R、VEGFR1–3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FGFR1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46177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准入要求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507492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口服与五靶点要求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当前新建任务表单；复用设置与证据，新研究从空标准集开始。截图：2026-10-28。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选择候选库与固定证据集合</a:t>
            </a:r>
          </a:p>
        </p:txBody>
      </p:sp>
      <p:pic>
        <p:nvPicPr>
          <p:cNvPr id="11" name="Current capture or illustration: evidence-selection.jpg" descr="evidence-selection.jpg"/>
          <p:cNvPicPr>
            <a:picLocks noChangeAspect="1"/>
          </p:cNvPicPr>
          <p:nvPr/>
        </p:nvPicPr>
        <p:blipFill>
          <a:blip r:embed="rId4"/>
          <a:srcRect l="43000" t="33000" r="1500" b="2000"/>
          <a:stretch>
            <a:fillRect/>
          </a:stretch>
        </p:blipFill>
        <p:spPr>
          <a:xfrm>
            <a:off x="847549" y="1234440"/>
            <a:ext cx="7586060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087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3,177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196596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候选化合物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31089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164 / 3,157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356616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来源 / 保存事实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47091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2026-10-15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516636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输入集合截止时间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当前证据选择画面（2026-10-28）；保存集合含 3,157 条记录，本案例生成时采用 3,021 条。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展开阶段条，查看进度与运行记录</a:t>
            </a:r>
          </a:p>
        </p:txBody>
      </p:sp>
      <p:pic>
        <p:nvPicPr>
          <p:cNvPr id="8" name="Current capture or illustration: progress.jpg" descr="progress.jpg"/>
          <p:cNvPicPr>
            <a:picLocks noChangeAspect="1"/>
          </p:cNvPicPr>
          <p:nvPr/>
        </p:nvPicPr>
        <p:blipFill>
          <a:blip r:embed="rId4"/>
          <a:srcRect l="17000" t="8000" r="1500" b="69000"/>
          <a:stretch>
            <a:fillRect/>
          </a:stretch>
        </p:blipFill>
        <p:spPr>
          <a:xfrm>
            <a:off x="411480" y="2489058"/>
            <a:ext cx="11292840" cy="17884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715000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8 / 8 阶段完成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5715000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保存案例：3h 32m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571500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估计费用 $4.2101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当前界面展示已完成案例（2026-10-28）；运行中的阶段与批次按实际状态更新。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从空标准集开始，按研究维度展开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02920" y="1389888"/>
          <a:ext cx="1106424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61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6 项任务要求 + 1,911 条提议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统一口径：已注册标准与未注册提议的工作项总数。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三轮提炼，让工作项从 1,917 收敛到 53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02920" y="1371600"/>
          <a:ext cx="1106424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870448"/>
            <a:ext cx="1097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检查支持  →  明确测量  →  回应质疑  →  合并重复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三轮末端记录：147 → 68 → 53；变化理由与原提议保存在标准历史中。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53 项保留条目，按评价用途展开</a:t>
            </a:r>
          </a:p>
        </p:txBody>
      </p:sp>
      <p:pic>
        <p:nvPicPr>
          <p:cNvPr id="8" name="Current capture or illustration: criteria.jpg" descr="criteria.jpg"/>
          <p:cNvPicPr>
            <a:picLocks noChangeAspect="1"/>
          </p:cNvPicPr>
          <p:nvPr/>
        </p:nvPicPr>
        <p:blipFill>
          <a:blip r:embed="rId4"/>
          <a:srcRect l="17000" t="46500" r="1500" b="2500"/>
          <a:stretch>
            <a:fillRect/>
          </a:stretch>
        </p:blipFill>
        <p:spPr>
          <a:xfrm>
            <a:off x="865865" y="1628588"/>
            <a:ext cx="10384069" cy="36465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573328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18 项评价标准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573328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13 项解释性观察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573328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22 项本次未用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31 项进入评估 = 18 项评价标准 + 13 项解释性观察；六项准入与十七项评分共享五项。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Current capture or illustration: slide-24-current.png" descr="slide-24-current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238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Surufatinib 满足六项准入要求</a:t>
            </a:r>
          </a:p>
        </p:txBody>
      </p:sp>
      <p:pic>
        <p:nvPicPr>
          <p:cNvPr id="8" name="Current capture or illustration: score-details.jpg" descr="score-details.jpg"/>
          <p:cNvPicPr>
            <a:picLocks noChangeAspect="1"/>
          </p:cNvPicPr>
          <p:nvPr/>
        </p:nvPicPr>
        <p:blipFill>
          <a:blip r:embed="rId4"/>
          <a:srcRect l="44000" t="13000" r="1500" b="66000"/>
          <a:stretch>
            <a:fillRect/>
          </a:stretch>
        </p:blipFill>
        <p:spPr>
          <a:xfrm>
            <a:off x="1158564" y="1290736"/>
            <a:ext cx="9844392" cy="21276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3749039"/>
            <a:ext cx="1088136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口服给药有直接记录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“In both cohorts, surufatinib was administered orally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at 250 mg once daily.”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65099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一项口服条件 + 五项靶点证据；五项靶点同时用于评分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当前准入面板（2026-10-28）。给药依据：10.1080/07853890.2026.2698360，sec2.3.p1。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15 项参与评分，10 项计入直接覆盖</a:t>
            </a:r>
          </a:p>
        </p:txBody>
      </p:sp>
      <p:pic>
        <p:nvPicPr>
          <p:cNvPr id="11" name="Current capture or illustration: score-coverage.jpg" descr="score-coverage.jpg"/>
          <p:cNvPicPr>
            <a:picLocks noChangeAspect="1"/>
          </p:cNvPicPr>
          <p:nvPr/>
        </p:nvPicPr>
        <p:blipFill>
          <a:blip r:embed="rId2"/>
          <a:srcRect l="44000" t="67000" r="1500" b="10000"/>
          <a:stretch>
            <a:fillRect/>
          </a:stretch>
        </p:blipFill>
        <p:spPr>
          <a:xfrm>
            <a:off x="411480" y="1964385"/>
            <a:ext cx="11292840" cy="267319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596128"/>
            <a:ext cx="3688080" cy="292608"/>
          </a:xfrm>
          <a:prstGeom prst="rect">
            <a:avLst/>
          </a:prstGeom>
          <a:solidFill>
            <a:srgbClr val="208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80176"/>
            <a:ext cx="3688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5 项靶点数据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36720" y="5596128"/>
            <a:ext cx="3688080" cy="292608"/>
          </a:xfrm>
          <a:prstGeom prst="rect">
            <a:avLst/>
          </a:prstGeom>
          <a:solidFill>
            <a:srgbClr val="64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36720" y="5980176"/>
            <a:ext cx="3688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5 项结构计算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4799" y="5596128"/>
            <a:ext cx="3688080" cy="292608"/>
          </a:xfrm>
          <a:prstGeom prst="rect">
            <a:avLst/>
          </a:prstGeom>
          <a:solidFill>
            <a:srgbClr val="B8D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4799" y="5980176"/>
            <a:ext cx="3688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5 项预测参与评分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当前覆盖为 10/17（58.8%）；F% 与 Tmax 缺失，仍保留在覆盖分母。截图：2026-10-28。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展开 Score，逐项解释 0.7593 的来源</a:t>
            </a:r>
          </a:p>
        </p:txBody>
      </p:sp>
      <p:pic>
        <p:nvPicPr>
          <p:cNvPr id="11" name="Current capture or illustration: score-details.jpg" descr="score-details.jpg"/>
          <p:cNvPicPr>
            <a:picLocks noChangeAspect="1"/>
          </p:cNvPicPr>
          <p:nvPr/>
        </p:nvPicPr>
        <p:blipFill>
          <a:blip r:embed="rId4"/>
          <a:srcRect l="44000" t="54000" r="1500" b="15000"/>
          <a:stretch>
            <a:fillRect/>
          </a:stretch>
        </p:blipFill>
        <p:spPr>
          <a:xfrm>
            <a:off x="1087400" y="1715136"/>
            <a:ext cx="9940999" cy="317169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596128"/>
            <a:ext cx="4425696" cy="292608"/>
          </a:xfrm>
          <a:prstGeom prst="rect">
            <a:avLst/>
          </a:prstGeom>
          <a:solidFill>
            <a:srgbClr val="208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80176"/>
            <a:ext cx="442569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五靶点  0.30370</a:t>
            </a:r>
          </a:p>
        </p:txBody>
      </p:sp>
      <p:sp>
        <p:nvSpPr>
          <p:cNvPr id="6" name="Rectangle 5"/>
          <p:cNvSpPr/>
          <p:nvPr/>
        </p:nvSpPr>
        <p:spPr>
          <a:xfrm>
            <a:off x="4974336" y="5596128"/>
            <a:ext cx="3184342" cy="292608"/>
          </a:xfrm>
          <a:prstGeom prst="rect">
            <a:avLst/>
          </a:prstGeom>
          <a:solidFill>
            <a:srgbClr val="64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74336" y="5980176"/>
            <a:ext cx="318434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结构计算  0.21852</a:t>
            </a:r>
          </a:p>
        </p:txBody>
      </p:sp>
      <p:sp>
        <p:nvSpPr>
          <p:cNvPr id="8" name="Rectangle 7"/>
          <p:cNvSpPr/>
          <p:nvPr/>
        </p:nvSpPr>
        <p:spPr>
          <a:xfrm>
            <a:off x="8158678" y="5596128"/>
            <a:ext cx="3454201" cy="292608"/>
          </a:xfrm>
          <a:prstGeom prst="rect">
            <a:avLst/>
          </a:prstGeom>
          <a:solidFill>
            <a:srgbClr val="B8D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8678" y="5980176"/>
            <a:ext cx="345420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模型预测  0.23704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当前评分面板（2026-10-28）：15 项有值并等权平均；直接覆盖另算 10/17。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Surufatinib 在 10 个合格候选中排名第一</a:t>
            </a:r>
          </a:p>
        </p:txBody>
      </p:sp>
      <p:pic>
        <p:nvPicPr>
          <p:cNvPr id="5" name="Current capture or illustration: candidates.jpg" descr="candidates.jpg"/>
          <p:cNvPicPr>
            <a:picLocks noChangeAspect="1"/>
          </p:cNvPicPr>
          <p:nvPr/>
        </p:nvPicPr>
        <p:blipFill>
          <a:blip r:embed="rId4"/>
          <a:srcRect l="17000" t="24000" r="1500"/>
          <a:stretch>
            <a:fillRect/>
          </a:stretch>
        </p:blipFill>
        <p:spPr>
          <a:xfrm>
            <a:off x="1480282" y="1330677"/>
            <a:ext cx="9155235" cy="47910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当前合格榜局部（2026-10-28）：10 Eligible、1,305 Evidence incomplete、1,862 Excluded。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从 FGFR1 得分回到文献与原始观测</a:t>
            </a:r>
          </a:p>
        </p:txBody>
      </p:sp>
      <p:pic>
        <p:nvPicPr>
          <p:cNvPr id="8" name="Current capture or illustration: evidence-fgfr1.jpg" descr="evidence-fgfr1.jpg"/>
          <p:cNvPicPr>
            <a:picLocks noChangeAspect="1"/>
          </p:cNvPicPr>
          <p:nvPr/>
        </p:nvPicPr>
        <p:blipFill>
          <a:blip r:embed="rId4"/>
          <a:srcRect l="44000" t="11500" r="1500" b="58000"/>
          <a:stretch>
            <a:fillRect/>
          </a:stretch>
        </p:blipFill>
        <p:spPr>
          <a:xfrm>
            <a:off x="2707977" y="1243584"/>
            <a:ext cx="6699844" cy="2103120"/>
          </a:xfrm>
          <a:prstGeom prst="rect">
            <a:avLst/>
          </a:prstGeom>
        </p:spPr>
      </p:pic>
      <p:pic>
        <p:nvPicPr>
          <p:cNvPr id="9" name="Current capture or illustration: evidence-fgfr1.jpg" descr="evidence-fgfr1.jpg"/>
          <p:cNvPicPr>
            <a:picLocks noChangeAspect="1"/>
          </p:cNvPicPr>
          <p:nvPr/>
        </p:nvPicPr>
        <p:blipFill>
          <a:blip r:embed="rId4"/>
          <a:srcRect l="44000" t="42500" r="1500" b="33500"/>
          <a:stretch>
            <a:fillRect/>
          </a:stretch>
        </p:blipFill>
        <p:spPr>
          <a:xfrm>
            <a:off x="2170898" y="3474720"/>
            <a:ext cx="7774003" cy="1920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34 nM → 7.4685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56235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四条观测中位数 → 7.6443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当前证据关联画面（2026-10-28）；FGFR1 中位数采用四条观测，原始来源与条件可继续查看。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导出完整候选结果与对应依据</a:t>
            </a:r>
          </a:p>
        </p:txBody>
      </p:sp>
      <p:pic>
        <p:nvPicPr>
          <p:cNvPr id="8" name="Current capture or illustration: candidates.jpg" descr="candidates.jpg"/>
          <p:cNvPicPr>
            <a:picLocks noChangeAspect="1"/>
          </p:cNvPicPr>
          <p:nvPr/>
        </p:nvPicPr>
        <p:blipFill>
          <a:blip r:embed="rId4"/>
          <a:srcRect l="17000" t="20000" r="1500" b="43000"/>
          <a:stretch>
            <a:fillRect/>
          </a:stretch>
        </p:blipFill>
        <p:spPr>
          <a:xfrm>
            <a:off x="411480" y="1807590"/>
            <a:ext cx="11292840" cy="28770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486400"/>
            <a:ext cx="39776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CSV：完整 3,177 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548640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JSON：完整结果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47888" y="548640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历史：标准与来源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当前导出已核对 3,177 行，三组计数与界面一致；原始 JSON 和标准历史继续保留。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Current capture or illustration: slide-31-current.png" descr="slide-31-current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238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换成自己的候选和证据，沿用研究流程</a:t>
            </a:r>
          </a:p>
        </p:txBody>
      </p:sp>
      <p:pic>
        <p:nvPicPr>
          <p:cNvPr id="11" name="Current capture or illustration: csv-import.jpg" descr="csv-import.jpg"/>
          <p:cNvPicPr>
            <a:picLocks noChangeAspect="1"/>
          </p:cNvPicPr>
          <p:nvPr/>
        </p:nvPicPr>
        <p:blipFill>
          <a:blip r:embed="rId4"/>
          <a:srcRect l="43000" t="16000" r="1500" b="10000"/>
          <a:stretch>
            <a:fillRect/>
          </a:stretch>
        </p:blipFill>
        <p:spPr>
          <a:xfrm>
            <a:off x="1392597" y="1234439"/>
            <a:ext cx="6724564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087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候选名单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196596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定义这次比较谁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306324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测量与证据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35204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身份、性质、数值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单位、条件、来源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48006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新研究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525780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重新形成标准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再筛选与排序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 CSV 预览（2026-10-28）；两条载体记录为明确标注的合成格式示例，未启动研究。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评分明细：靶点、结构性质与缺项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920240"/>
                <a:gridCol w="1508760"/>
                <a:gridCol w="1645920"/>
                <a:gridCol w="1965960"/>
              </a:tblGrid>
              <a:tr h="452628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评分项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采用值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依据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比较分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总分贡献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CSF1R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8.301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实测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1.0000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0.06667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VEGFR1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8.85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实测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0.8889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0.05926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VEGFR2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7.68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实测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0.7778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0.05185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VEGFR3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9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实测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0.8889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0.05926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FGFR1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7.6443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实测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1.0000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0.06667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分子量 ≤ 500 Da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480.6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计算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1.0000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0.06667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logP（RDKit）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3.7832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计算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0.6667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0.04444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人类实测口服 F%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缺失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缺失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—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—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人类实测 Tmax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缺失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缺失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—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—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6080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靶点单位 pChEMBL；分子量单位 Da。每项权重 1；15 项平均，直接覆盖 10/17。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评分明细：结构警示与 ADMET 预测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920240"/>
                <a:gridCol w="1508760"/>
                <a:gridCol w="1645920"/>
                <a:gridCol w="1965960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评分项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采用值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依据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比较分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总分贡献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血脑屏障穿透概率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0.5975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预测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0.4444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0.02963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BRENK 警示计数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计算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0.6111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0.04074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CYP1A2 抑制概率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0.3827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预测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0.5556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0.03704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CYP2C19 抑制概率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0.1404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预测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0.7778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0.05185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CYP2C9 抑制概率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0.0999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预测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0.7778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0.05185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CYP2C9 底物概率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0.1821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预测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1.0000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0.06667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NIH 警示计数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计算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0.5000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0.03333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PAINS 警示计数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计算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0.5000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0.03333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6080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每项权重 1；15 项可用值进入得分平均。直接证据覆盖另算 10/17。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