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4630400" cy="975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TRIAGE criterion generation, eligibility assessment and prioritization, illustrated by the recorded oral multi-target study. a, The task objective and source findings guide proposal, critique and adjudication. Review findings return to the proposer. Source and rule checks establish the final evaluation criteria. Items not used retain a separate branch with their reasons. The recorded trajectory begins with zero generated criteria, binds six task requirements and expands to 1,917 working items. Three refinement rounds retain 147, 68 and 53 items. The final working set contains 18 enabled decision rules, 13 contextual observations and 22 items not used. The 18 unique decision rules comprise one condition rule for oral administration and 17 prioritization criteria. Five of those criteria have a second role: direct target evidence is required for admission. Together they implement six eligibility requirements, one condition requirement and five evidence requirements. Including the 13 contextual observations gives 31 assessed items. The 22 unused items comprise nine incomplete scoring definitions, five unresolved reviews and eight unfinished proposals. b, All six eligibility requirements must be satisfied: the oral condition must be met and direct evidence for each of the five targets must be available. The green branch connects the dual-purpose target criteria to both admission and scoring. The library contains 3,177 compounds, with 10 Eligible, 1,305 Evidence incomplete and 1,862 Excluded under the current selection policy. Evidence incomplete means partial support with no confirmed condition failure. Excluded covers a confirmed condition failure or a completed assessment with no admission support; all 1,862 exclusions in this study have the latter reason. Eligible candidates enter weighted prioritization. The saved 50% direct scoring-evidence coverage floor determines whether a rank is assigned; an eligible candidate below that floor remains eligible and unranked. c, Six overlapping molecular-weight proposals are consolidated into one criterion. Its 500 Da scoring bound and Surufatinib's structure-derived value of 480.6 Da jointly yield one criterion point. The task supplies the illustrated targets, route and evaluation requirements.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rect 2"/>
          <p:cNvSpPr/>
          <p:nvPr/>
        </p:nvSpPr>
        <p:spPr>
          <a:xfrm>
            <a:off x="114300" y="76200"/>
            <a:ext cx="9220200" cy="5619750"/>
          </a:xfrm>
          <a:prstGeom prst="roundRect">
            <a:avLst>
              <a:gd name="adj" fmla="val 1525"/>
            </a:avLst>
          </a:prstGeom>
          <a:solidFill>
            <a:srgbClr val="FFFFFF"/>
          </a:solidFill>
          <a:ln w="8890">
            <a:solidFill>
              <a:srgbClr val="619ABD"/>
            </a:solidFill>
          </a:ln>
          <a:effectLst/>
        </p:spPr>
        <p:txBody>
          <a:bodyPr/>
          <a:lstStyle/>
          <a:p/>
        </p:txBody>
      </p:sp>
      <p:sp>
        <p:nvSpPr>
          <p:cNvPr id="3" name="Roundrect 3"/>
          <p:cNvSpPr/>
          <p:nvPr/>
        </p:nvSpPr>
        <p:spPr>
          <a:xfrm>
            <a:off x="9439275" y="76200"/>
            <a:ext cx="5076825" cy="5619750"/>
          </a:xfrm>
          <a:prstGeom prst="roundRect">
            <a:avLst>
              <a:gd name="adj" fmla="val 1689"/>
            </a:avLst>
          </a:prstGeom>
          <a:solidFill>
            <a:srgbClr val="FFFFFF"/>
          </a:solidFill>
          <a:ln w="8890">
            <a:solidFill>
              <a:srgbClr val="73A48B"/>
            </a:solidFill>
          </a:ln>
          <a:effectLst/>
        </p:spPr>
        <p:txBody>
          <a:bodyPr/>
          <a:lstStyle/>
          <a:p/>
        </p:txBody>
      </p:sp>
      <p:sp>
        <p:nvSpPr>
          <p:cNvPr id="4" name="Roundrect 4"/>
          <p:cNvSpPr/>
          <p:nvPr/>
        </p:nvSpPr>
        <p:spPr>
          <a:xfrm>
            <a:off x="114300" y="5810250"/>
            <a:ext cx="14401800" cy="3314700"/>
          </a:xfrm>
          <a:prstGeom prst="roundRect">
            <a:avLst>
              <a:gd name="adj" fmla="val 2586"/>
            </a:avLst>
          </a:prstGeom>
          <a:solidFill>
            <a:srgbClr val="FFFFFF"/>
          </a:solidFill>
          <a:ln w="8890">
            <a:solidFill>
              <a:srgbClr val="619ABD"/>
            </a:solidFill>
          </a:ln>
          <a:effectLst/>
        </p:spPr>
        <p:txBody>
          <a:bodyPr/>
          <a:lstStyle/>
          <a:p/>
        </p:txBody>
      </p:sp>
      <p:sp>
        <p:nvSpPr>
          <p:cNvPr id="5" name="Roundrect 5"/>
          <p:cNvSpPr/>
          <p:nvPr/>
        </p:nvSpPr>
        <p:spPr>
          <a:xfrm>
            <a:off x="123825" y="85725"/>
            <a:ext cx="9201150" cy="476250"/>
          </a:xfrm>
          <a:prstGeom prst="roundRect">
            <a:avLst>
              <a:gd name="adj" fmla="val 16000"/>
            </a:avLst>
          </a:prstGeom>
          <a:solidFill>
            <a:srgbClr val="EAF3F8"/>
          </a:solidFill>
          <a:ln>
            <a:noFill/>
          </a:ln>
          <a:effectLst/>
        </p:spPr>
        <p:txBody>
          <a:bodyPr/>
          <a:lstStyle/>
          <a:p/>
        </p:txBody>
      </p:sp>
      <p:sp>
        <p:nvSpPr>
          <p:cNvPr id="6" name="Roundrect 6"/>
          <p:cNvSpPr/>
          <p:nvPr/>
        </p:nvSpPr>
        <p:spPr>
          <a:xfrm>
            <a:off x="9448800" y="85725"/>
            <a:ext cx="5057775" cy="476250"/>
          </a:xfrm>
          <a:prstGeom prst="roundRect">
            <a:avLst>
              <a:gd name="adj" fmla="val 16000"/>
            </a:avLst>
          </a:prstGeom>
          <a:solidFill>
            <a:srgbClr val="E8F3EC"/>
          </a:solidFill>
          <a:ln>
            <a:noFill/>
          </a:ln>
          <a:effectLst/>
        </p:spPr>
        <p:txBody>
          <a:bodyPr/>
          <a:lstStyle/>
          <a:p/>
        </p:txBody>
      </p:sp>
      <p:sp>
        <p:nvSpPr>
          <p:cNvPr id="7" name="Roundrect 7"/>
          <p:cNvSpPr/>
          <p:nvPr/>
        </p:nvSpPr>
        <p:spPr>
          <a:xfrm>
            <a:off x="123825" y="5819775"/>
            <a:ext cx="14382750" cy="476250"/>
          </a:xfrm>
          <a:prstGeom prst="roundRect">
            <a:avLst>
              <a:gd name="adj" fmla="val 16000"/>
            </a:avLst>
          </a:prstGeom>
          <a:solidFill>
            <a:srgbClr val="EAF3F8"/>
          </a:solidFill>
          <a:ln>
            <a:noFill/>
          </a:ln>
          <a:effectLst/>
        </p:spPr>
        <p:txBody>
          <a:bodyPr/>
          <a:lstStyle/>
          <a:p/>
        </p:txBody>
      </p:sp>
      <p:sp>
        <p:nvSpPr>
          <p:cNvPr id="8" name="Rect 8"/>
          <p:cNvSpPr/>
          <p:nvPr/>
        </p:nvSpPr>
        <p:spPr>
          <a:xfrm>
            <a:off x="123825" y="314325"/>
            <a:ext cx="9201150" cy="238125"/>
          </a:xfrm>
          <a:prstGeom prst="rect">
            <a:avLst/>
          </a:prstGeom>
          <a:solidFill>
            <a:srgbClr val="EAF3F8"/>
          </a:solidFill>
          <a:ln>
            <a:noFill/>
          </a:ln>
          <a:effectLst/>
        </p:spPr>
        <p:txBody>
          <a:bodyPr/>
          <a:lstStyle/>
          <a:p/>
        </p:txBody>
      </p:sp>
      <p:sp>
        <p:nvSpPr>
          <p:cNvPr id="9" name="Rect 9"/>
          <p:cNvSpPr/>
          <p:nvPr/>
        </p:nvSpPr>
        <p:spPr>
          <a:xfrm>
            <a:off x="9448800" y="314325"/>
            <a:ext cx="5057775" cy="238125"/>
          </a:xfrm>
          <a:prstGeom prst="rect">
            <a:avLst/>
          </a:prstGeom>
          <a:solidFill>
            <a:srgbClr val="E8F3EC"/>
          </a:solidFill>
          <a:ln>
            <a:noFill/>
          </a:ln>
          <a:effectLst/>
        </p:spPr>
        <p:txBody>
          <a:bodyPr/>
          <a:lstStyle/>
          <a:p/>
        </p:txBody>
      </p:sp>
      <p:sp>
        <p:nvSpPr>
          <p:cNvPr id="10" name="Rect 10"/>
          <p:cNvSpPr/>
          <p:nvPr/>
        </p:nvSpPr>
        <p:spPr>
          <a:xfrm>
            <a:off x="123825" y="6048375"/>
            <a:ext cx="14382750" cy="238125"/>
          </a:xfrm>
          <a:prstGeom prst="rect">
            <a:avLst/>
          </a:prstGeom>
          <a:solidFill>
            <a:srgbClr val="EAF3F8"/>
          </a:solidFill>
          <a:ln>
            <a:noFill/>
          </a:ln>
          <a:effectLst/>
        </p:spPr>
        <p:txBody>
          <a:bodyPr/>
          <a:lstStyle/>
          <a:p/>
        </p:txBody>
      </p:sp>
      <p:sp>
        <p:nvSpPr>
          <p:cNvPr id="11" name="Roundrect 11"/>
          <p:cNvSpPr/>
          <p:nvPr/>
        </p:nvSpPr>
        <p:spPr>
          <a:xfrm>
            <a:off x="295275" y="4238625"/>
            <a:ext cx="8886825" cy="1343025"/>
          </a:xfrm>
          <a:prstGeom prst="roundRect">
            <a:avLst>
              <a:gd name="adj" fmla="val 4255"/>
            </a:avLst>
          </a:prstGeom>
          <a:solidFill>
            <a:srgbClr val="FFFFFF"/>
          </a:solidFill>
          <a:ln w="8255">
            <a:solidFill>
              <a:srgbClr val="86B4D0"/>
            </a:solidFill>
          </a:ln>
          <a:effectLst/>
        </p:spPr>
        <p:txBody>
          <a:bodyPr/>
          <a:lstStyle/>
          <a:p/>
        </p:txBody>
      </p:sp>
      <p:sp>
        <p:nvSpPr>
          <p:cNvPr id="12" name="Roundrect 12"/>
          <p:cNvSpPr/>
          <p:nvPr/>
        </p:nvSpPr>
        <p:spPr>
          <a:xfrm>
            <a:off x="2019300" y="990600"/>
            <a:ext cx="1743075" cy="361950"/>
          </a:xfrm>
          <a:prstGeom prst="roundRect">
            <a:avLst>
              <a:gd name="adj" fmla="val 10526"/>
            </a:avLst>
          </a:prstGeom>
          <a:solidFill>
            <a:srgbClr val="FFF3D9"/>
          </a:solidFill>
          <a:ln w="8255">
            <a:solidFill>
              <a:srgbClr val="C89D52"/>
            </a:solidFill>
          </a:ln>
          <a:effectLst/>
        </p:spPr>
        <p:txBody>
          <a:bodyPr/>
          <a:lstStyle/>
          <a:p/>
        </p:txBody>
      </p:sp>
      <p:sp>
        <p:nvSpPr>
          <p:cNvPr id="13" name="Roundrect 13"/>
          <p:cNvSpPr/>
          <p:nvPr/>
        </p:nvSpPr>
        <p:spPr>
          <a:xfrm>
            <a:off x="2095500" y="2114550"/>
            <a:ext cx="1000125" cy="800100"/>
          </a:xfrm>
          <a:prstGeom prst="roundRect">
            <a:avLst>
              <a:gd name="adj" fmla="val 4762"/>
            </a:avLst>
          </a:prstGeom>
          <a:solidFill>
            <a:srgbClr val="EBF5FC"/>
          </a:solidFill>
          <a:ln w="8255">
            <a:solidFill>
              <a:srgbClr val="619ABD"/>
            </a:solidFill>
          </a:ln>
          <a:effectLst/>
        </p:spPr>
        <p:txBody>
          <a:bodyPr/>
          <a:lstStyle/>
          <a:p/>
        </p:txBody>
      </p:sp>
      <p:sp>
        <p:nvSpPr>
          <p:cNvPr id="14" name="Roundrect 14"/>
          <p:cNvSpPr/>
          <p:nvPr/>
        </p:nvSpPr>
        <p:spPr>
          <a:xfrm>
            <a:off x="4676775" y="2105025"/>
            <a:ext cx="923925" cy="819150"/>
          </a:xfrm>
          <a:prstGeom prst="roundRect">
            <a:avLst>
              <a:gd name="adj" fmla="val 4651"/>
            </a:avLst>
          </a:prstGeom>
          <a:solidFill>
            <a:srgbClr val="EBF5FC"/>
          </a:solidFill>
          <a:ln w="8255">
            <a:solidFill>
              <a:srgbClr val="619ABD"/>
            </a:solidFill>
          </a:ln>
          <a:effectLst/>
        </p:spPr>
        <p:txBody>
          <a:bodyPr/>
          <a:lstStyle/>
          <a:p/>
        </p:txBody>
      </p:sp>
      <p:sp>
        <p:nvSpPr>
          <p:cNvPr id="15" name="Roundrect 15"/>
          <p:cNvSpPr/>
          <p:nvPr/>
        </p:nvSpPr>
        <p:spPr>
          <a:xfrm>
            <a:off x="5848350" y="2105025"/>
            <a:ext cx="1104900" cy="819150"/>
          </a:xfrm>
          <a:prstGeom prst="roundRect">
            <a:avLst>
              <a:gd name="adj" fmla="val 4651"/>
            </a:avLst>
          </a:prstGeom>
          <a:solidFill>
            <a:srgbClr val="EBF5FC"/>
          </a:solidFill>
          <a:ln w="8255">
            <a:solidFill>
              <a:srgbClr val="619ABD"/>
            </a:solidFill>
          </a:ln>
          <a:effectLst/>
        </p:spPr>
        <p:txBody>
          <a:bodyPr/>
          <a:lstStyle/>
          <a:p/>
        </p:txBody>
      </p:sp>
      <p:sp>
        <p:nvSpPr>
          <p:cNvPr id="16" name="Roundrect 16"/>
          <p:cNvSpPr/>
          <p:nvPr/>
        </p:nvSpPr>
        <p:spPr>
          <a:xfrm>
            <a:off x="7124700" y="2105025"/>
            <a:ext cx="733425" cy="819150"/>
          </a:xfrm>
          <a:prstGeom prst="roundRect">
            <a:avLst>
              <a:gd name="adj" fmla="val 5195"/>
            </a:avLst>
          </a:prstGeom>
          <a:solidFill>
            <a:srgbClr val="F0F2F4"/>
          </a:solidFill>
          <a:ln w="8255">
            <a:solidFill>
              <a:srgbClr val="9099A1"/>
            </a:solidFill>
          </a:ln>
          <a:effectLst/>
        </p:spPr>
        <p:txBody>
          <a:bodyPr/>
          <a:lstStyle/>
          <a:p/>
        </p:txBody>
      </p:sp>
      <p:sp>
        <p:nvSpPr>
          <p:cNvPr id="17" name="Roundrect 17"/>
          <p:cNvSpPr/>
          <p:nvPr/>
        </p:nvSpPr>
        <p:spPr>
          <a:xfrm>
            <a:off x="6134100" y="3314700"/>
            <a:ext cx="1743075" cy="838200"/>
          </a:xfrm>
          <a:prstGeom prst="roundRect">
            <a:avLst>
              <a:gd name="adj" fmla="val 4545"/>
            </a:avLst>
          </a:prstGeom>
          <a:solidFill>
            <a:srgbClr val="F0F2F4"/>
          </a:solidFill>
          <a:ln w="8255">
            <a:solidFill>
              <a:srgbClr val="9099A1"/>
            </a:solidFill>
          </a:ln>
          <a:effectLst/>
        </p:spPr>
        <p:txBody>
          <a:bodyPr/>
          <a:lstStyle/>
          <a:p/>
        </p:txBody>
      </p:sp>
      <p:sp>
        <p:nvSpPr>
          <p:cNvPr id="18" name="Roundrect 18"/>
          <p:cNvSpPr/>
          <p:nvPr/>
        </p:nvSpPr>
        <p:spPr>
          <a:xfrm>
            <a:off x="8058150" y="3800475"/>
            <a:ext cx="1257300" cy="323850"/>
          </a:xfrm>
          <a:prstGeom prst="roundRect">
            <a:avLst>
              <a:gd name="adj" fmla="val 11765"/>
            </a:avLst>
          </a:prstGeom>
          <a:solidFill>
            <a:srgbClr val="EDF5FA"/>
          </a:solidFill>
          <a:ln w="8255">
            <a:solidFill>
              <a:srgbClr val="619ABD"/>
            </a:solidFill>
          </a:ln>
          <a:effectLst/>
        </p:spPr>
        <p:txBody>
          <a:bodyPr/>
          <a:lstStyle/>
          <a:p/>
        </p:txBody>
      </p:sp>
      <p:sp>
        <p:nvSpPr>
          <p:cNvPr id="19" name="Roundrect 19"/>
          <p:cNvSpPr/>
          <p:nvPr/>
        </p:nvSpPr>
        <p:spPr>
          <a:xfrm>
            <a:off x="857250" y="4610100"/>
            <a:ext cx="1266825" cy="619125"/>
          </a:xfrm>
          <a:prstGeom prst="roundRect">
            <a:avLst>
              <a:gd name="adj" fmla="val 6154"/>
            </a:avLst>
          </a:prstGeom>
          <a:solidFill>
            <a:srgbClr val="EDF5FA"/>
          </a:solidFill>
          <a:ln w="8255">
            <a:solidFill>
              <a:srgbClr val="619ABD"/>
            </a:solidFill>
          </a:ln>
          <a:effectLst/>
        </p:spPr>
        <p:txBody>
          <a:bodyPr/>
          <a:lstStyle/>
          <a:p/>
        </p:txBody>
      </p:sp>
      <p:sp>
        <p:nvSpPr>
          <p:cNvPr id="20" name="Roundrect 20"/>
          <p:cNvSpPr/>
          <p:nvPr/>
        </p:nvSpPr>
        <p:spPr>
          <a:xfrm>
            <a:off x="2600325" y="4610100"/>
            <a:ext cx="1685925" cy="619125"/>
          </a:xfrm>
          <a:prstGeom prst="roundRect">
            <a:avLst>
              <a:gd name="adj" fmla="val 6154"/>
            </a:avLst>
          </a:prstGeom>
          <a:solidFill>
            <a:srgbClr val="EDF5FA"/>
          </a:solidFill>
          <a:ln w="8255">
            <a:solidFill>
              <a:srgbClr val="619ABD"/>
            </a:solidFill>
          </a:ln>
          <a:effectLst/>
        </p:spPr>
        <p:txBody>
          <a:bodyPr/>
          <a:lstStyle/>
          <a:p/>
        </p:txBody>
      </p:sp>
      <p:sp>
        <p:nvSpPr>
          <p:cNvPr id="21" name="Roundrect 21"/>
          <p:cNvSpPr/>
          <p:nvPr/>
        </p:nvSpPr>
        <p:spPr>
          <a:xfrm>
            <a:off x="4819650" y="4610100"/>
            <a:ext cx="1647825" cy="619125"/>
          </a:xfrm>
          <a:prstGeom prst="roundRect">
            <a:avLst>
              <a:gd name="adj" fmla="val 6154"/>
            </a:avLst>
          </a:prstGeom>
          <a:solidFill>
            <a:srgbClr val="EDF5FA"/>
          </a:solidFill>
          <a:ln w="8255">
            <a:solidFill>
              <a:srgbClr val="619ABD"/>
            </a:solidFill>
          </a:ln>
          <a:effectLst/>
        </p:spPr>
        <p:txBody>
          <a:bodyPr/>
          <a:lstStyle/>
          <a:p/>
        </p:txBody>
      </p:sp>
      <p:sp>
        <p:nvSpPr>
          <p:cNvPr id="22" name="Roundrect 22"/>
          <p:cNvSpPr/>
          <p:nvPr/>
        </p:nvSpPr>
        <p:spPr>
          <a:xfrm>
            <a:off x="7105650" y="4610100"/>
            <a:ext cx="1638300" cy="619125"/>
          </a:xfrm>
          <a:prstGeom prst="roundRect">
            <a:avLst>
              <a:gd name="adj" fmla="val 6154"/>
            </a:avLst>
          </a:prstGeom>
          <a:solidFill>
            <a:srgbClr val="EDF5FA"/>
          </a:solidFill>
          <a:ln w="8255">
            <a:solidFill>
              <a:srgbClr val="619ABD"/>
            </a:solidFill>
          </a:ln>
          <a:effectLst/>
        </p:spPr>
        <p:txBody>
          <a:bodyPr/>
          <a:lstStyle/>
          <a:p/>
        </p:txBody>
      </p:sp>
      <p:sp>
        <p:nvSpPr>
          <p:cNvPr id="23" name="Roundrect 23"/>
          <p:cNvSpPr/>
          <p:nvPr/>
        </p:nvSpPr>
        <p:spPr>
          <a:xfrm>
            <a:off x="9877425" y="1762125"/>
            <a:ext cx="4276725" cy="571500"/>
          </a:xfrm>
          <a:prstGeom prst="roundRect">
            <a:avLst>
              <a:gd name="adj" fmla="val 6667"/>
            </a:avLst>
          </a:prstGeom>
          <a:solidFill>
            <a:srgbClr val="FBE9EF"/>
          </a:solidFill>
          <a:ln w="8255">
            <a:solidFill>
              <a:srgbClr val="C85A7B"/>
            </a:solidFill>
          </a:ln>
          <a:effectLst/>
        </p:spPr>
        <p:txBody>
          <a:bodyPr/>
          <a:lstStyle/>
          <a:p/>
        </p:txBody>
      </p:sp>
      <p:sp>
        <p:nvSpPr>
          <p:cNvPr id="24" name="Roundrect 24"/>
          <p:cNvSpPr/>
          <p:nvPr/>
        </p:nvSpPr>
        <p:spPr>
          <a:xfrm>
            <a:off x="9639300" y="2724150"/>
            <a:ext cx="2286000" cy="523874"/>
          </a:xfrm>
          <a:prstGeom prst="roundRect">
            <a:avLst>
              <a:gd name="adj" fmla="val 3226"/>
            </a:avLst>
          </a:prstGeom>
          <a:solidFill>
            <a:srgbClr val="FCF5E8"/>
          </a:solidFill>
          <a:ln w="8255">
            <a:solidFill>
              <a:srgbClr val="A47B32"/>
            </a:solidFill>
          </a:ln>
          <a:effectLst/>
        </p:spPr>
        <p:txBody>
          <a:bodyPr/>
          <a:lstStyle/>
          <a:p/>
        </p:txBody>
      </p:sp>
      <p:sp>
        <p:nvSpPr>
          <p:cNvPr id="226" name="Excluded outcome"/>
          <p:cNvSpPr/>
          <p:nvPr/>
        </p:nvSpPr>
        <p:spPr>
          <a:xfrm>
            <a:off x="9639300" y="3362325"/>
            <a:ext cx="2286000" cy="542925"/>
          </a:xfrm>
          <a:prstGeom prst="roundRect">
            <a:avLst>
              <a:gd name="adj" fmla="val 3226"/>
            </a:avLst>
          </a:prstGeom>
          <a:solidFill>
            <a:srgbClr val="FBEFF0"/>
          </a:solidFill>
          <a:ln w="8255">
            <a:solidFill>
              <a:srgbClr val="AE5260"/>
            </a:solidFill>
          </a:ln>
          <a:effectLst/>
        </p:spPr>
        <p:txBody>
          <a:bodyPr/>
          <a:lstStyle/>
          <a:p/>
        </p:txBody>
      </p:sp>
      <p:sp>
        <p:nvSpPr>
          <p:cNvPr id="25" name="Roundrect 25"/>
          <p:cNvSpPr/>
          <p:nvPr/>
        </p:nvSpPr>
        <p:spPr>
          <a:xfrm>
            <a:off x="12249150" y="2724150"/>
            <a:ext cx="2095500" cy="457200"/>
          </a:xfrm>
          <a:prstGeom prst="roundRect">
            <a:avLst>
              <a:gd name="adj" fmla="val 8333"/>
            </a:avLst>
          </a:prstGeom>
          <a:solidFill>
            <a:srgbClr val="E8F3EC"/>
          </a:solidFill>
          <a:ln w="8255">
            <a:solidFill>
              <a:srgbClr val="73A48B"/>
            </a:solidFill>
          </a:ln>
          <a:effectLst/>
        </p:spPr>
        <p:txBody>
          <a:bodyPr/>
          <a:lstStyle/>
          <a:p/>
        </p:txBody>
      </p:sp>
      <p:sp>
        <p:nvSpPr>
          <p:cNvPr id="26" name="Roundrect 26"/>
          <p:cNvSpPr/>
          <p:nvPr/>
        </p:nvSpPr>
        <p:spPr>
          <a:xfrm>
            <a:off x="12249150" y="3562350"/>
            <a:ext cx="2095500" cy="571500"/>
          </a:xfrm>
          <a:prstGeom prst="roundRect">
            <a:avLst>
              <a:gd name="adj" fmla="val 6667"/>
            </a:avLst>
          </a:prstGeom>
          <a:solidFill>
            <a:srgbClr val="E8F3EC"/>
          </a:solidFill>
          <a:ln w="8255">
            <a:solidFill>
              <a:srgbClr val="73A48B"/>
            </a:solidFill>
          </a:ln>
          <a:effectLst/>
        </p:spPr>
        <p:txBody>
          <a:bodyPr/>
          <a:lstStyle/>
          <a:p/>
        </p:txBody>
      </p:sp>
      <p:sp>
        <p:nvSpPr>
          <p:cNvPr id="27" name="Roundrect 27"/>
          <p:cNvSpPr/>
          <p:nvPr/>
        </p:nvSpPr>
        <p:spPr>
          <a:xfrm>
            <a:off x="12249150" y="4505325"/>
            <a:ext cx="2095500" cy="390525"/>
          </a:xfrm>
          <a:prstGeom prst="roundRect">
            <a:avLst>
              <a:gd name="adj" fmla="val 9756"/>
            </a:avLst>
          </a:prstGeom>
          <a:solidFill>
            <a:srgbClr val="EBF5FC"/>
          </a:solidFill>
          <a:ln w="8255">
            <a:solidFill>
              <a:srgbClr val="619ABD"/>
            </a:solidFill>
          </a:ln>
          <a:effectLst/>
        </p:spPr>
        <p:txBody>
          <a:bodyPr/>
          <a:lstStyle/>
          <a:p/>
        </p:txBody>
      </p:sp>
      <p:sp>
        <p:nvSpPr>
          <p:cNvPr id="28" name="Roundrect 28"/>
          <p:cNvSpPr/>
          <p:nvPr/>
        </p:nvSpPr>
        <p:spPr>
          <a:xfrm>
            <a:off x="9982200" y="4524375"/>
            <a:ext cx="1571625" cy="390525"/>
          </a:xfrm>
          <a:prstGeom prst="roundRect">
            <a:avLst>
              <a:gd name="adj" fmla="val 9756"/>
            </a:avLst>
          </a:prstGeom>
          <a:solidFill>
            <a:srgbClr val="F0F2F4"/>
          </a:solidFill>
          <a:ln w="8255">
            <a:solidFill>
              <a:srgbClr val="9099A1"/>
            </a:solidFill>
          </a:ln>
          <a:effectLst/>
        </p:spPr>
        <p:txBody>
          <a:bodyPr/>
          <a:lstStyle/>
          <a:p/>
        </p:txBody>
      </p:sp>
      <p:sp>
        <p:nvSpPr>
          <p:cNvPr id="29" name="Roundrect 29"/>
          <p:cNvSpPr/>
          <p:nvPr/>
        </p:nvSpPr>
        <p:spPr>
          <a:xfrm>
            <a:off x="12249150" y="5257800"/>
            <a:ext cx="2095500" cy="323850"/>
          </a:xfrm>
          <a:prstGeom prst="roundRect">
            <a:avLst>
              <a:gd name="adj" fmla="val 11765"/>
            </a:avLst>
          </a:prstGeom>
          <a:solidFill>
            <a:srgbClr val="EDF5FA"/>
          </a:solidFill>
          <a:ln w="8255">
            <a:solidFill>
              <a:srgbClr val="619ABD"/>
            </a:solidFill>
          </a:ln>
          <a:effectLst/>
        </p:spPr>
        <p:txBody>
          <a:bodyPr/>
          <a:lstStyle/>
          <a:p/>
        </p:txBody>
      </p:sp>
      <p:sp>
        <p:nvSpPr>
          <p:cNvPr id="30" name="Roundrect 30"/>
          <p:cNvSpPr/>
          <p:nvPr/>
        </p:nvSpPr>
        <p:spPr>
          <a:xfrm>
            <a:off x="7172325" y="7334250"/>
            <a:ext cx="1609725" cy="476250"/>
          </a:xfrm>
          <a:prstGeom prst="roundRect">
            <a:avLst>
              <a:gd name="adj" fmla="val 10000"/>
            </a:avLst>
          </a:prstGeom>
          <a:solidFill>
            <a:srgbClr val="EBF5FC"/>
          </a:solidFill>
          <a:ln w="8255">
            <a:solidFill>
              <a:srgbClr val="619ABD"/>
            </a:solidFill>
          </a:ln>
          <a:effectLst/>
        </p:spPr>
        <p:txBody>
          <a:bodyPr/>
          <a:lstStyle/>
          <a:p/>
        </p:txBody>
      </p:sp>
      <p:sp>
        <p:nvSpPr>
          <p:cNvPr id="31" name="Roundrect 31"/>
          <p:cNvSpPr/>
          <p:nvPr/>
        </p:nvSpPr>
        <p:spPr>
          <a:xfrm>
            <a:off x="11858625" y="8210550"/>
            <a:ext cx="2266950" cy="409575"/>
          </a:xfrm>
          <a:prstGeom prst="roundRect">
            <a:avLst>
              <a:gd name="adj" fmla="val 11628"/>
            </a:avLst>
          </a:prstGeom>
          <a:solidFill>
            <a:srgbClr val="E8F3EC"/>
          </a:solidFill>
          <a:ln w="8255">
            <a:solidFill>
              <a:srgbClr val="73A48B"/>
            </a:solidFill>
          </a:ln>
          <a:effectLst/>
        </p:spPr>
        <p:txBody>
          <a:bodyPr/>
          <a:lstStyle/>
          <a:p/>
        </p:txBody>
      </p:sp>
      <p:sp>
        <p:nvSpPr>
          <p:cNvPr id="32" name="Freeform 32"/>
          <p:cNvSpPr/>
          <p:nvPr/>
        </p:nvSpPr>
        <p:spPr>
          <a:xfrm>
            <a:off x="266700" y="1362075"/>
            <a:ext cx="1371600" cy="1133475"/>
          </a:xfrm>
          <a:custGeom>
            <a:avLst/>
            <a:gdLst/>
            <a:ahLst/>
            <a:cxnLst/>
            <a:rect l="l" t="t" r="r" b="b"/>
            <a:pathLst>
              <a:path w="21600" h="21600">
                <a:moveTo>
                  <a:pt x="0" y="0"/>
                </a:moveTo>
                <a:lnTo>
                  <a:pt x="19200" y="0"/>
                </a:lnTo>
                <a:lnTo>
                  <a:pt x="21600" y="2904"/>
                </a:lnTo>
                <a:lnTo>
                  <a:pt x="21600" y="21600"/>
                </a:lnTo>
                <a:lnTo>
                  <a:pt x="0" y="21600"/>
                </a:lnTo>
                <a:close/>
              </a:path>
            </a:pathLst>
          </a:custGeom>
          <a:solidFill>
            <a:srgbClr val="FAFBFC"/>
          </a:solidFill>
          <a:ln w="8255">
            <a:solidFill>
              <a:srgbClr val="619ABD"/>
            </a:solidFill>
          </a:ln>
          <a:effectLst/>
        </p:spPr>
        <p:txBody>
          <a:bodyPr/>
          <a:lstStyle/>
          <a:p/>
        </p:txBody>
      </p:sp>
      <p:sp>
        <p:nvSpPr>
          <p:cNvPr id="33" name="Freeform 33"/>
          <p:cNvSpPr/>
          <p:nvPr/>
        </p:nvSpPr>
        <p:spPr>
          <a:xfrm>
            <a:off x="266700" y="2781300"/>
            <a:ext cx="1371600" cy="857250"/>
          </a:xfrm>
          <a:custGeom>
            <a:avLst/>
            <a:gdLst/>
            <a:ahLst/>
            <a:cxnLst/>
            <a:rect l="l" t="t" r="r" b="b"/>
            <a:pathLst>
              <a:path w="21600" h="21600">
                <a:moveTo>
                  <a:pt x="0" y="0"/>
                </a:moveTo>
                <a:lnTo>
                  <a:pt x="19200" y="0"/>
                </a:lnTo>
                <a:lnTo>
                  <a:pt x="21600" y="3840"/>
                </a:lnTo>
                <a:lnTo>
                  <a:pt x="21600" y="21600"/>
                </a:lnTo>
                <a:lnTo>
                  <a:pt x="0" y="21600"/>
                </a:lnTo>
                <a:close/>
              </a:path>
            </a:pathLst>
          </a:custGeom>
          <a:solidFill>
            <a:srgbClr val="FAFBFC"/>
          </a:solidFill>
          <a:ln w="8255">
            <a:solidFill>
              <a:srgbClr val="619ABD"/>
            </a:solidFill>
          </a:ln>
          <a:effectLst/>
        </p:spPr>
        <p:txBody>
          <a:bodyPr/>
          <a:lstStyle/>
          <a:p/>
        </p:txBody>
      </p:sp>
      <p:sp>
        <p:nvSpPr>
          <p:cNvPr id="34" name="Freeform 34"/>
          <p:cNvSpPr/>
          <p:nvPr/>
        </p:nvSpPr>
        <p:spPr>
          <a:xfrm>
            <a:off x="3343275" y="1533525"/>
            <a:ext cx="1123950" cy="1981200"/>
          </a:xfrm>
          <a:custGeom>
            <a:avLst/>
            <a:gdLst/>
            <a:ahLst/>
            <a:cxnLst/>
            <a:rect l="l" t="t" r="r" b="b"/>
            <a:pathLst>
              <a:path w="21600" h="21600">
                <a:moveTo>
                  <a:pt x="0" y="0"/>
                </a:moveTo>
                <a:lnTo>
                  <a:pt x="18671" y="0"/>
                </a:lnTo>
                <a:lnTo>
                  <a:pt x="21600" y="1662"/>
                </a:lnTo>
                <a:lnTo>
                  <a:pt x="21600" y="21600"/>
                </a:lnTo>
                <a:lnTo>
                  <a:pt x="0" y="21600"/>
                </a:lnTo>
                <a:close/>
              </a:path>
            </a:pathLst>
          </a:custGeom>
          <a:solidFill>
            <a:srgbClr val="FAFBFC"/>
          </a:solidFill>
          <a:ln w="8255">
            <a:solidFill>
              <a:srgbClr val="619ABD"/>
            </a:solidFill>
          </a:ln>
          <a:effectLst/>
        </p:spPr>
        <p:txBody>
          <a:bodyPr/>
          <a:lstStyle/>
          <a:p/>
        </p:txBody>
      </p:sp>
      <p:sp>
        <p:nvSpPr>
          <p:cNvPr id="35" name="Freeform 35"/>
          <p:cNvSpPr/>
          <p:nvPr/>
        </p:nvSpPr>
        <p:spPr>
          <a:xfrm>
            <a:off x="8048625" y="1543050"/>
            <a:ext cx="1266825" cy="2047875"/>
          </a:xfrm>
          <a:custGeom>
            <a:avLst/>
            <a:gdLst/>
            <a:ahLst/>
            <a:cxnLst/>
            <a:rect l="l" t="t" r="r" b="b"/>
            <a:pathLst>
              <a:path w="21600" h="21600">
                <a:moveTo>
                  <a:pt x="0" y="0"/>
                </a:moveTo>
                <a:lnTo>
                  <a:pt x="19002" y="0"/>
                </a:lnTo>
                <a:lnTo>
                  <a:pt x="21600" y="1607"/>
                </a:lnTo>
                <a:lnTo>
                  <a:pt x="21600" y="21600"/>
                </a:lnTo>
                <a:lnTo>
                  <a:pt x="0" y="21600"/>
                </a:lnTo>
                <a:close/>
              </a:path>
            </a:pathLst>
          </a:custGeom>
          <a:solidFill>
            <a:srgbClr val="FAFBFC"/>
          </a:solidFill>
          <a:ln w="8255">
            <a:solidFill>
              <a:srgbClr val="619ABD"/>
            </a:solidFill>
          </a:ln>
          <a:effectLst/>
        </p:spPr>
        <p:txBody>
          <a:bodyPr/>
          <a:lstStyle/>
          <a:p/>
        </p:txBody>
      </p:sp>
      <p:sp>
        <p:nvSpPr>
          <p:cNvPr id="36" name="Freeform 36"/>
          <p:cNvSpPr/>
          <p:nvPr/>
        </p:nvSpPr>
        <p:spPr>
          <a:xfrm>
            <a:off x="9715500" y="742950"/>
            <a:ext cx="4638675" cy="685800"/>
          </a:xfrm>
          <a:custGeom>
            <a:avLst/>
            <a:gdLst/>
            <a:ahLst/>
            <a:cxnLst/>
            <a:rect l="l" t="t" r="r" b="b"/>
            <a:pathLst>
              <a:path w="21600" h="21600">
                <a:moveTo>
                  <a:pt x="0" y="0"/>
                </a:moveTo>
                <a:lnTo>
                  <a:pt x="20890" y="0"/>
                </a:lnTo>
                <a:lnTo>
                  <a:pt x="21600" y="4800"/>
                </a:lnTo>
                <a:lnTo>
                  <a:pt x="21600" y="21600"/>
                </a:lnTo>
                <a:lnTo>
                  <a:pt x="0" y="21600"/>
                </a:lnTo>
                <a:close/>
              </a:path>
            </a:pathLst>
          </a:custGeom>
          <a:solidFill>
            <a:srgbClr val="FAFBFC"/>
          </a:solidFill>
          <a:ln w="8255">
            <a:solidFill>
              <a:srgbClr val="619ABD"/>
            </a:solidFill>
          </a:ln>
          <a:effectLst/>
        </p:spPr>
        <p:txBody>
          <a:bodyPr/>
          <a:lstStyle/>
          <a:p/>
        </p:txBody>
      </p:sp>
      <p:sp>
        <p:nvSpPr>
          <p:cNvPr id="37" name="Freeform 37"/>
          <p:cNvSpPr/>
          <p:nvPr/>
        </p:nvSpPr>
        <p:spPr>
          <a:xfrm>
            <a:off x="552450" y="6610350"/>
            <a:ext cx="1771650" cy="1009650"/>
          </a:xfrm>
          <a:custGeom>
            <a:avLst/>
            <a:gdLst/>
            <a:ahLst/>
            <a:cxnLst/>
            <a:rect l="l" t="t" r="r" b="b"/>
            <a:pathLst>
              <a:path w="21600" h="21600">
                <a:moveTo>
                  <a:pt x="0" y="0"/>
                </a:moveTo>
                <a:lnTo>
                  <a:pt x="19510" y="0"/>
                </a:lnTo>
                <a:lnTo>
                  <a:pt x="21600" y="3668"/>
                </a:lnTo>
                <a:lnTo>
                  <a:pt x="21600" y="21600"/>
                </a:lnTo>
                <a:lnTo>
                  <a:pt x="0" y="21600"/>
                </a:lnTo>
                <a:close/>
              </a:path>
            </a:pathLst>
          </a:custGeom>
          <a:solidFill>
            <a:srgbClr val="FAFBFC"/>
          </a:solidFill>
          <a:ln w="8255">
            <a:solidFill>
              <a:srgbClr val="619ABD"/>
            </a:solidFill>
          </a:ln>
          <a:effectLst/>
        </p:spPr>
        <p:txBody>
          <a:bodyPr/>
          <a:lstStyle/>
          <a:p/>
        </p:txBody>
      </p:sp>
      <p:sp>
        <p:nvSpPr>
          <p:cNvPr id="38" name="Freeform 38"/>
          <p:cNvSpPr/>
          <p:nvPr/>
        </p:nvSpPr>
        <p:spPr>
          <a:xfrm>
            <a:off x="2495550" y="6610350"/>
            <a:ext cx="1838325" cy="1009650"/>
          </a:xfrm>
          <a:custGeom>
            <a:avLst/>
            <a:gdLst/>
            <a:ahLst/>
            <a:cxnLst/>
            <a:rect l="l" t="t" r="r" b="b"/>
            <a:pathLst>
              <a:path w="21600" h="21600">
                <a:moveTo>
                  <a:pt x="0" y="0"/>
                </a:moveTo>
                <a:lnTo>
                  <a:pt x="19585" y="0"/>
                </a:lnTo>
                <a:lnTo>
                  <a:pt x="21600" y="3668"/>
                </a:lnTo>
                <a:lnTo>
                  <a:pt x="21600" y="21600"/>
                </a:lnTo>
                <a:lnTo>
                  <a:pt x="0" y="21600"/>
                </a:lnTo>
                <a:close/>
              </a:path>
            </a:pathLst>
          </a:custGeom>
          <a:solidFill>
            <a:srgbClr val="FAFBFC"/>
          </a:solidFill>
          <a:ln w="8255">
            <a:solidFill>
              <a:srgbClr val="619ABD"/>
            </a:solidFill>
          </a:ln>
          <a:effectLst/>
        </p:spPr>
        <p:txBody>
          <a:bodyPr/>
          <a:lstStyle/>
          <a:p/>
        </p:txBody>
      </p:sp>
      <p:sp>
        <p:nvSpPr>
          <p:cNvPr id="39" name="Freeform 39"/>
          <p:cNvSpPr/>
          <p:nvPr/>
        </p:nvSpPr>
        <p:spPr>
          <a:xfrm>
            <a:off x="4514850" y="6610350"/>
            <a:ext cx="1771650" cy="1009650"/>
          </a:xfrm>
          <a:custGeom>
            <a:avLst/>
            <a:gdLst/>
            <a:ahLst/>
            <a:cxnLst/>
            <a:rect l="l" t="t" r="r" b="b"/>
            <a:pathLst>
              <a:path w="21600" h="21600">
                <a:moveTo>
                  <a:pt x="0" y="0"/>
                </a:moveTo>
                <a:lnTo>
                  <a:pt x="19510" y="0"/>
                </a:lnTo>
                <a:lnTo>
                  <a:pt x="21600" y="3668"/>
                </a:lnTo>
                <a:lnTo>
                  <a:pt x="21600" y="21600"/>
                </a:lnTo>
                <a:lnTo>
                  <a:pt x="0" y="21600"/>
                </a:lnTo>
                <a:close/>
              </a:path>
            </a:pathLst>
          </a:custGeom>
          <a:solidFill>
            <a:srgbClr val="FAFBFC"/>
          </a:solidFill>
          <a:ln w="8255">
            <a:solidFill>
              <a:srgbClr val="619ABD"/>
            </a:solidFill>
          </a:ln>
          <a:effectLst/>
        </p:spPr>
        <p:txBody>
          <a:bodyPr/>
          <a:lstStyle/>
          <a:p/>
        </p:txBody>
      </p:sp>
      <p:sp>
        <p:nvSpPr>
          <p:cNvPr id="40" name="Freeform 40"/>
          <p:cNvSpPr/>
          <p:nvPr/>
        </p:nvSpPr>
        <p:spPr>
          <a:xfrm>
            <a:off x="552450" y="7800975"/>
            <a:ext cx="1771650" cy="1009650"/>
          </a:xfrm>
          <a:custGeom>
            <a:avLst/>
            <a:gdLst/>
            <a:ahLst/>
            <a:cxnLst/>
            <a:rect l="l" t="t" r="r" b="b"/>
            <a:pathLst>
              <a:path w="21600" h="21600">
                <a:moveTo>
                  <a:pt x="0" y="0"/>
                </a:moveTo>
                <a:lnTo>
                  <a:pt x="19510" y="0"/>
                </a:lnTo>
                <a:lnTo>
                  <a:pt x="21600" y="3668"/>
                </a:lnTo>
                <a:lnTo>
                  <a:pt x="21600" y="21600"/>
                </a:lnTo>
                <a:lnTo>
                  <a:pt x="0" y="21600"/>
                </a:lnTo>
                <a:close/>
              </a:path>
            </a:pathLst>
          </a:custGeom>
          <a:solidFill>
            <a:srgbClr val="FAFBFC"/>
          </a:solidFill>
          <a:ln w="8255">
            <a:solidFill>
              <a:srgbClr val="619ABD"/>
            </a:solidFill>
          </a:ln>
          <a:effectLst/>
        </p:spPr>
        <p:txBody>
          <a:bodyPr/>
          <a:lstStyle/>
          <a:p/>
        </p:txBody>
      </p:sp>
      <p:sp>
        <p:nvSpPr>
          <p:cNvPr id="41" name="Freeform 41"/>
          <p:cNvSpPr/>
          <p:nvPr/>
        </p:nvSpPr>
        <p:spPr>
          <a:xfrm>
            <a:off x="2495550" y="7800975"/>
            <a:ext cx="1838325" cy="1009650"/>
          </a:xfrm>
          <a:custGeom>
            <a:avLst/>
            <a:gdLst/>
            <a:ahLst/>
            <a:cxnLst/>
            <a:rect l="l" t="t" r="r" b="b"/>
            <a:pathLst>
              <a:path w="21600" h="21600">
                <a:moveTo>
                  <a:pt x="0" y="0"/>
                </a:moveTo>
                <a:lnTo>
                  <a:pt x="19585" y="0"/>
                </a:lnTo>
                <a:lnTo>
                  <a:pt x="21600" y="3668"/>
                </a:lnTo>
                <a:lnTo>
                  <a:pt x="21600" y="21600"/>
                </a:lnTo>
                <a:lnTo>
                  <a:pt x="0" y="21600"/>
                </a:lnTo>
                <a:close/>
              </a:path>
            </a:pathLst>
          </a:custGeom>
          <a:solidFill>
            <a:srgbClr val="FAFBFC"/>
          </a:solidFill>
          <a:ln w="8255">
            <a:solidFill>
              <a:srgbClr val="619ABD"/>
            </a:solidFill>
          </a:ln>
          <a:effectLst/>
        </p:spPr>
        <p:txBody>
          <a:bodyPr/>
          <a:lstStyle/>
          <a:p/>
        </p:txBody>
      </p:sp>
      <p:sp>
        <p:nvSpPr>
          <p:cNvPr id="42" name="Freeform 42"/>
          <p:cNvSpPr/>
          <p:nvPr/>
        </p:nvSpPr>
        <p:spPr>
          <a:xfrm>
            <a:off x="4514850" y="7800975"/>
            <a:ext cx="1771650" cy="1009650"/>
          </a:xfrm>
          <a:custGeom>
            <a:avLst/>
            <a:gdLst/>
            <a:ahLst/>
            <a:cxnLst/>
            <a:rect l="l" t="t" r="r" b="b"/>
            <a:pathLst>
              <a:path w="21600" h="21600">
                <a:moveTo>
                  <a:pt x="0" y="0"/>
                </a:moveTo>
                <a:lnTo>
                  <a:pt x="19510" y="0"/>
                </a:lnTo>
                <a:lnTo>
                  <a:pt x="21600" y="3668"/>
                </a:lnTo>
                <a:lnTo>
                  <a:pt x="21600" y="21600"/>
                </a:lnTo>
                <a:lnTo>
                  <a:pt x="0" y="21600"/>
                </a:lnTo>
                <a:close/>
              </a:path>
            </a:pathLst>
          </a:custGeom>
          <a:solidFill>
            <a:srgbClr val="FAFBFC"/>
          </a:solidFill>
          <a:ln w="8255">
            <a:solidFill>
              <a:srgbClr val="619ABD"/>
            </a:solidFill>
          </a:ln>
          <a:effectLst/>
        </p:spPr>
        <p:txBody>
          <a:bodyPr/>
          <a:lstStyle/>
          <a:p/>
        </p:txBody>
      </p:sp>
      <p:sp>
        <p:nvSpPr>
          <p:cNvPr id="43" name="Freeform 43"/>
          <p:cNvSpPr/>
          <p:nvPr/>
        </p:nvSpPr>
        <p:spPr>
          <a:xfrm>
            <a:off x="9172575" y="6810375"/>
            <a:ext cx="2047875" cy="1171575"/>
          </a:xfrm>
          <a:custGeom>
            <a:avLst/>
            <a:gdLst/>
            <a:ahLst/>
            <a:cxnLst/>
            <a:rect l="l" t="t" r="r" b="b"/>
            <a:pathLst>
              <a:path w="21600" h="21600">
                <a:moveTo>
                  <a:pt x="0" y="0"/>
                </a:moveTo>
                <a:lnTo>
                  <a:pt x="19993" y="0"/>
                </a:lnTo>
                <a:lnTo>
                  <a:pt x="21600" y="2810"/>
                </a:lnTo>
                <a:lnTo>
                  <a:pt x="21600" y="21600"/>
                </a:lnTo>
                <a:lnTo>
                  <a:pt x="0" y="21600"/>
                </a:lnTo>
                <a:close/>
              </a:path>
            </a:pathLst>
          </a:custGeom>
          <a:solidFill>
            <a:srgbClr val="FAFBFC"/>
          </a:solidFill>
          <a:ln w="8255">
            <a:solidFill>
              <a:srgbClr val="619ABD"/>
            </a:solidFill>
          </a:ln>
          <a:effectLst/>
        </p:spPr>
        <p:txBody>
          <a:bodyPr/>
          <a:lstStyle/>
          <a:p/>
        </p:txBody>
      </p:sp>
      <p:sp>
        <p:nvSpPr>
          <p:cNvPr id="44" name="Freeform 44"/>
          <p:cNvSpPr/>
          <p:nvPr/>
        </p:nvSpPr>
        <p:spPr>
          <a:xfrm>
            <a:off x="11858625" y="6800850"/>
            <a:ext cx="2266950" cy="762000"/>
          </a:xfrm>
          <a:custGeom>
            <a:avLst/>
            <a:gdLst/>
            <a:ahLst/>
            <a:cxnLst/>
            <a:rect l="l" t="t" r="r" b="b"/>
            <a:pathLst>
              <a:path w="21600" h="21600">
                <a:moveTo>
                  <a:pt x="0" y="0"/>
                </a:moveTo>
                <a:lnTo>
                  <a:pt x="20148" y="0"/>
                </a:lnTo>
                <a:lnTo>
                  <a:pt x="21600" y="4320"/>
                </a:lnTo>
                <a:lnTo>
                  <a:pt x="21600" y="21600"/>
                </a:lnTo>
                <a:lnTo>
                  <a:pt x="0" y="21600"/>
                </a:lnTo>
                <a:close/>
              </a:path>
            </a:pathLst>
          </a:custGeom>
          <a:solidFill>
            <a:srgbClr val="FAFBFC"/>
          </a:solidFill>
          <a:ln w="8255">
            <a:solidFill>
              <a:srgbClr val="619ABD"/>
            </a:solidFill>
          </a:ln>
          <a:effectLst/>
        </p:spPr>
        <p:txBody>
          <a:bodyPr/>
          <a:lstStyle/>
          <a:p/>
        </p:txBody>
      </p:sp>
      <p:sp>
        <p:nvSpPr>
          <p:cNvPr id="45" name="Freeform 45"/>
          <p:cNvSpPr/>
          <p:nvPr/>
        </p:nvSpPr>
        <p:spPr>
          <a:xfrm>
            <a:off x="1485900" y="1362075"/>
            <a:ext cx="152400" cy="15240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46" name="Freeform 46"/>
          <p:cNvSpPr/>
          <p:nvPr/>
        </p:nvSpPr>
        <p:spPr>
          <a:xfrm>
            <a:off x="1485900" y="2781300"/>
            <a:ext cx="152400" cy="15240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47" name="Freeform 47"/>
          <p:cNvSpPr/>
          <p:nvPr/>
        </p:nvSpPr>
        <p:spPr>
          <a:xfrm>
            <a:off x="4314825" y="1533525"/>
            <a:ext cx="152400" cy="15240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48" name="Freeform 48"/>
          <p:cNvSpPr/>
          <p:nvPr/>
        </p:nvSpPr>
        <p:spPr>
          <a:xfrm>
            <a:off x="9163050" y="1543050"/>
            <a:ext cx="152400" cy="15240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49" name="Freeform 49"/>
          <p:cNvSpPr/>
          <p:nvPr/>
        </p:nvSpPr>
        <p:spPr>
          <a:xfrm>
            <a:off x="14201775" y="742950"/>
            <a:ext cx="152400" cy="15240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50" name="Freeform 50"/>
          <p:cNvSpPr/>
          <p:nvPr/>
        </p:nvSpPr>
        <p:spPr>
          <a:xfrm>
            <a:off x="2152650" y="6610350"/>
            <a:ext cx="171450" cy="17145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51" name="Freeform 51"/>
          <p:cNvSpPr/>
          <p:nvPr/>
        </p:nvSpPr>
        <p:spPr>
          <a:xfrm>
            <a:off x="4162425" y="6610350"/>
            <a:ext cx="171450" cy="17145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52" name="Freeform 52"/>
          <p:cNvSpPr/>
          <p:nvPr/>
        </p:nvSpPr>
        <p:spPr>
          <a:xfrm>
            <a:off x="6115050" y="6610350"/>
            <a:ext cx="171450" cy="17145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53" name="Freeform 53"/>
          <p:cNvSpPr/>
          <p:nvPr/>
        </p:nvSpPr>
        <p:spPr>
          <a:xfrm>
            <a:off x="2152650" y="7800975"/>
            <a:ext cx="171450" cy="17145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54" name="Freeform 54"/>
          <p:cNvSpPr/>
          <p:nvPr/>
        </p:nvSpPr>
        <p:spPr>
          <a:xfrm>
            <a:off x="4162425" y="7800975"/>
            <a:ext cx="171450" cy="17145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55" name="Freeform 55"/>
          <p:cNvSpPr/>
          <p:nvPr/>
        </p:nvSpPr>
        <p:spPr>
          <a:xfrm>
            <a:off x="6115050" y="7800975"/>
            <a:ext cx="171450" cy="17145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56" name="Freeform 56"/>
          <p:cNvSpPr/>
          <p:nvPr/>
        </p:nvSpPr>
        <p:spPr>
          <a:xfrm>
            <a:off x="11068050" y="6810375"/>
            <a:ext cx="152400" cy="15240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57" name="Freeform 57"/>
          <p:cNvSpPr/>
          <p:nvPr/>
        </p:nvSpPr>
        <p:spPr>
          <a:xfrm>
            <a:off x="13973175" y="6800850"/>
            <a:ext cx="152400" cy="152400"/>
          </a:xfrm>
          <a:custGeom>
            <a:avLst/>
            <a:gdLst/>
            <a:ahLst/>
            <a:cxnLst/>
            <a:rect l="l" t="t" r="r" b="b"/>
            <a:pathLst>
              <a:path w="21600" h="21600">
                <a:moveTo>
                  <a:pt x="0" y="0"/>
                </a:moveTo>
                <a:lnTo>
                  <a:pt x="0" y="21600"/>
                </a:lnTo>
                <a:lnTo>
                  <a:pt x="21600" y="21600"/>
                </a:lnTo>
                <a:close/>
              </a:path>
            </a:pathLst>
          </a:custGeom>
          <a:solidFill>
            <a:srgbClr val="E7EFF5"/>
          </a:solidFill>
          <a:ln w="6985">
            <a:solidFill>
              <a:srgbClr val="619ABD"/>
            </a:solidFill>
          </a:ln>
          <a:effectLst/>
        </p:spPr>
        <p:txBody>
          <a:bodyPr/>
          <a:lstStyle/>
          <a:p/>
        </p:txBody>
      </p:sp>
      <p:sp>
        <p:nvSpPr>
          <p:cNvPr id="58" name="Roundrect 58"/>
          <p:cNvSpPr/>
          <p:nvPr/>
        </p:nvSpPr>
        <p:spPr>
          <a:xfrm>
            <a:off x="3429000" y="2095500"/>
            <a:ext cx="952500" cy="247650"/>
          </a:xfrm>
          <a:prstGeom prst="roundRect">
            <a:avLst>
              <a:gd name="adj" fmla="val 15385"/>
            </a:avLst>
          </a:prstGeom>
          <a:solidFill>
            <a:srgbClr val="EDF1F4"/>
          </a:solidFill>
          <a:ln>
            <a:noFill/>
          </a:ln>
          <a:effectLst/>
        </p:spPr>
        <p:txBody>
          <a:bodyPr/>
          <a:lstStyle/>
          <a:p/>
        </p:txBody>
      </p:sp>
      <p:sp>
        <p:nvSpPr>
          <p:cNvPr id="59" name="Roundrect 59"/>
          <p:cNvSpPr/>
          <p:nvPr/>
        </p:nvSpPr>
        <p:spPr>
          <a:xfrm>
            <a:off x="3429000" y="2371725"/>
            <a:ext cx="952500" cy="247650"/>
          </a:xfrm>
          <a:prstGeom prst="roundRect">
            <a:avLst>
              <a:gd name="adj" fmla="val 15385"/>
            </a:avLst>
          </a:prstGeom>
          <a:solidFill>
            <a:srgbClr val="EDF1F4"/>
          </a:solidFill>
          <a:ln>
            <a:noFill/>
          </a:ln>
          <a:effectLst/>
        </p:spPr>
        <p:txBody>
          <a:bodyPr/>
          <a:lstStyle/>
          <a:p/>
        </p:txBody>
      </p:sp>
      <p:sp>
        <p:nvSpPr>
          <p:cNvPr id="60" name="Roundrect 60"/>
          <p:cNvSpPr/>
          <p:nvPr/>
        </p:nvSpPr>
        <p:spPr>
          <a:xfrm>
            <a:off x="3429000" y="2647950"/>
            <a:ext cx="952500" cy="247650"/>
          </a:xfrm>
          <a:prstGeom prst="roundRect">
            <a:avLst>
              <a:gd name="adj" fmla="val 15385"/>
            </a:avLst>
          </a:prstGeom>
          <a:solidFill>
            <a:srgbClr val="EDF1F4"/>
          </a:solidFill>
          <a:ln>
            <a:noFill/>
          </a:ln>
          <a:effectLst/>
        </p:spPr>
        <p:txBody>
          <a:bodyPr/>
          <a:lstStyle/>
          <a:p/>
        </p:txBody>
      </p:sp>
      <p:sp>
        <p:nvSpPr>
          <p:cNvPr id="61" name="Roundrect 61"/>
          <p:cNvSpPr/>
          <p:nvPr/>
        </p:nvSpPr>
        <p:spPr>
          <a:xfrm>
            <a:off x="3429000" y="2924175"/>
            <a:ext cx="952500" cy="247650"/>
          </a:xfrm>
          <a:prstGeom prst="roundRect">
            <a:avLst>
              <a:gd name="adj" fmla="val 15385"/>
            </a:avLst>
          </a:prstGeom>
          <a:solidFill>
            <a:srgbClr val="EDF1F4"/>
          </a:solidFill>
          <a:ln>
            <a:noFill/>
          </a:ln>
          <a:effectLst/>
        </p:spPr>
        <p:txBody>
          <a:bodyPr/>
          <a:lstStyle/>
          <a:p/>
        </p:txBody>
      </p:sp>
      <p:sp>
        <p:nvSpPr>
          <p:cNvPr id="62" name="Roundrect 62"/>
          <p:cNvSpPr/>
          <p:nvPr/>
        </p:nvSpPr>
        <p:spPr>
          <a:xfrm>
            <a:off x="3429000" y="3200400"/>
            <a:ext cx="952500" cy="247650"/>
          </a:xfrm>
          <a:prstGeom prst="roundRect">
            <a:avLst>
              <a:gd name="adj" fmla="val 15385"/>
            </a:avLst>
          </a:prstGeom>
          <a:solidFill>
            <a:srgbClr val="EDF1F4"/>
          </a:solidFill>
          <a:ln>
            <a:noFill/>
          </a:ln>
          <a:effectLst/>
        </p:spPr>
        <p:txBody>
          <a:bodyPr/>
          <a:lstStyle/>
          <a:p/>
        </p:txBody>
      </p:sp>
      <p:sp>
        <p:nvSpPr>
          <p:cNvPr id="63" name="Roundrect 63"/>
          <p:cNvSpPr/>
          <p:nvPr/>
        </p:nvSpPr>
        <p:spPr>
          <a:xfrm>
            <a:off x="8143875" y="1943100"/>
            <a:ext cx="1076325" cy="533400"/>
          </a:xfrm>
          <a:prstGeom prst="roundRect">
            <a:avLst>
              <a:gd name="adj" fmla="val 7143"/>
            </a:avLst>
          </a:prstGeom>
          <a:solidFill>
            <a:srgbClr val="FBE9EF"/>
          </a:solidFill>
          <a:ln>
            <a:noFill/>
          </a:ln>
          <a:effectLst/>
        </p:spPr>
        <p:txBody>
          <a:bodyPr/>
          <a:lstStyle/>
          <a:p/>
        </p:txBody>
      </p:sp>
      <p:sp>
        <p:nvSpPr>
          <p:cNvPr id="64" name="Roundrect 64"/>
          <p:cNvSpPr/>
          <p:nvPr/>
        </p:nvSpPr>
        <p:spPr>
          <a:xfrm>
            <a:off x="8143875" y="2552700"/>
            <a:ext cx="1076325" cy="438150"/>
          </a:xfrm>
          <a:prstGeom prst="roundRect">
            <a:avLst>
              <a:gd name="adj" fmla="val 8696"/>
            </a:avLst>
          </a:prstGeom>
          <a:solidFill>
            <a:srgbClr val="E8F3EC"/>
          </a:solidFill>
          <a:ln>
            <a:noFill/>
          </a:ln>
          <a:effectLst/>
        </p:spPr>
        <p:txBody>
          <a:bodyPr/>
          <a:lstStyle/>
          <a:p/>
        </p:txBody>
      </p:sp>
      <p:sp>
        <p:nvSpPr>
          <p:cNvPr id="65" name="Roundrect 65"/>
          <p:cNvSpPr/>
          <p:nvPr/>
        </p:nvSpPr>
        <p:spPr>
          <a:xfrm>
            <a:off x="8143875" y="3048000"/>
            <a:ext cx="1076325" cy="447675"/>
          </a:xfrm>
          <a:prstGeom prst="roundRect">
            <a:avLst>
              <a:gd name="adj" fmla="val 8511"/>
            </a:avLst>
          </a:prstGeom>
          <a:solidFill>
            <a:srgbClr val="E9F3FB"/>
          </a:solidFill>
          <a:ln>
            <a:noFill/>
          </a:ln>
          <a:effectLst/>
        </p:spPr>
        <p:txBody>
          <a:bodyPr/>
          <a:lstStyle/>
          <a:p/>
        </p:txBody>
      </p:sp>
      <p:sp>
        <p:nvSpPr>
          <p:cNvPr id="66" name="Roundrect 66"/>
          <p:cNvSpPr/>
          <p:nvPr/>
        </p:nvSpPr>
        <p:spPr>
          <a:xfrm>
            <a:off x="9277350" y="7439025"/>
            <a:ext cx="1838325" cy="219075"/>
          </a:xfrm>
          <a:prstGeom prst="roundRect">
            <a:avLst>
              <a:gd name="adj" fmla="val 13043"/>
            </a:avLst>
          </a:prstGeom>
          <a:solidFill>
            <a:srgbClr val="EDF1F4"/>
          </a:solidFill>
          <a:ln>
            <a:noFill/>
          </a:ln>
          <a:effectLst/>
        </p:spPr>
        <p:txBody>
          <a:bodyPr/>
          <a:lstStyle/>
          <a:p/>
        </p:txBody>
      </p:sp>
      <p:sp>
        <p:nvSpPr>
          <p:cNvPr id="67" name="Roundrect 67"/>
          <p:cNvSpPr/>
          <p:nvPr/>
        </p:nvSpPr>
        <p:spPr>
          <a:xfrm>
            <a:off x="9277350" y="7686675"/>
            <a:ext cx="1838325" cy="209550"/>
          </a:xfrm>
          <a:prstGeom prst="roundRect">
            <a:avLst>
              <a:gd name="adj" fmla="val 13636"/>
            </a:avLst>
          </a:prstGeom>
          <a:solidFill>
            <a:srgbClr val="EDF1F4"/>
          </a:solidFill>
          <a:ln>
            <a:noFill/>
          </a:ln>
          <a:effectLst/>
        </p:spPr>
        <p:txBody>
          <a:bodyPr/>
          <a:lstStyle/>
          <a:p/>
        </p:txBody>
      </p:sp>
      <p:sp>
        <p:nvSpPr>
          <p:cNvPr id="68" name="Line 68"/>
          <p:cNvSpPr/>
          <p:nvPr/>
        </p:nvSpPr>
        <p:spPr>
          <a:xfrm>
            <a:off x="1638300" y="1885950"/>
            <a:ext cx="209550" cy="0"/>
          </a:xfrm>
          <a:prstGeom prst="line">
            <a:avLst/>
          </a:prstGeom>
          <a:noFill/>
          <a:ln w="12700">
            <a:solidFill>
              <a:srgbClr val="31516B"/>
            </a:solidFill>
          </a:ln>
          <a:effectLst/>
        </p:spPr>
        <p:txBody>
          <a:bodyPr/>
          <a:lstStyle/>
          <a:p/>
        </p:txBody>
      </p:sp>
      <p:sp>
        <p:nvSpPr>
          <p:cNvPr id="69" name="Line 69"/>
          <p:cNvSpPr/>
          <p:nvPr/>
        </p:nvSpPr>
        <p:spPr>
          <a:xfrm>
            <a:off x="1847850" y="1885950"/>
            <a:ext cx="0" cy="628650"/>
          </a:xfrm>
          <a:prstGeom prst="line">
            <a:avLst/>
          </a:prstGeom>
          <a:noFill/>
          <a:ln w="12700">
            <a:solidFill>
              <a:srgbClr val="31516B"/>
            </a:solidFill>
          </a:ln>
          <a:effectLst/>
        </p:spPr>
        <p:txBody>
          <a:bodyPr/>
          <a:lstStyle/>
          <a:p/>
        </p:txBody>
      </p:sp>
      <p:sp>
        <p:nvSpPr>
          <p:cNvPr id="70" name="Line 70"/>
          <p:cNvSpPr/>
          <p:nvPr/>
        </p:nvSpPr>
        <p:spPr>
          <a:xfrm>
            <a:off x="1638300" y="3162300"/>
            <a:ext cx="209550" cy="0"/>
          </a:xfrm>
          <a:prstGeom prst="line">
            <a:avLst/>
          </a:prstGeom>
          <a:noFill/>
          <a:ln w="12700">
            <a:solidFill>
              <a:srgbClr val="31516B"/>
            </a:solidFill>
          </a:ln>
          <a:effectLst/>
        </p:spPr>
        <p:txBody>
          <a:bodyPr/>
          <a:lstStyle/>
          <a:p/>
        </p:txBody>
      </p:sp>
      <p:sp>
        <p:nvSpPr>
          <p:cNvPr id="71" name="Line 71"/>
          <p:cNvSpPr/>
          <p:nvPr/>
        </p:nvSpPr>
        <p:spPr>
          <a:xfrm flipV="1">
            <a:off x="1847850" y="2514600"/>
            <a:ext cx="0" cy="647700"/>
          </a:xfrm>
          <a:prstGeom prst="line">
            <a:avLst/>
          </a:prstGeom>
          <a:noFill/>
          <a:ln w="12700">
            <a:solidFill>
              <a:srgbClr val="31516B"/>
            </a:solidFill>
          </a:ln>
          <a:effectLst/>
        </p:spPr>
        <p:txBody>
          <a:bodyPr/>
          <a:lstStyle/>
          <a:p/>
        </p:txBody>
      </p:sp>
      <p:sp>
        <p:nvSpPr>
          <p:cNvPr id="72" name="Line 72"/>
          <p:cNvSpPr/>
          <p:nvPr/>
        </p:nvSpPr>
        <p:spPr>
          <a:xfrm>
            <a:off x="1847850" y="2514600"/>
            <a:ext cx="247650" cy="0"/>
          </a:xfrm>
          <a:prstGeom prst="line">
            <a:avLst/>
          </a:prstGeom>
          <a:noFill/>
          <a:ln w="12700">
            <a:solidFill>
              <a:srgbClr val="31516B"/>
            </a:solidFill>
          </a:ln>
          <a:effectLst/>
        </p:spPr>
        <p:txBody>
          <a:bodyPr/>
          <a:lstStyle/>
          <a:p/>
        </p:txBody>
      </p:sp>
      <p:sp>
        <p:nvSpPr>
          <p:cNvPr id="73" name="Line 73"/>
          <p:cNvSpPr/>
          <p:nvPr/>
        </p:nvSpPr>
        <p:spPr>
          <a:xfrm>
            <a:off x="2581275" y="1352550"/>
            <a:ext cx="0" cy="742950"/>
          </a:xfrm>
          <a:prstGeom prst="line">
            <a:avLst/>
          </a:prstGeom>
          <a:noFill/>
          <a:ln w="12700">
            <a:solidFill>
              <a:srgbClr val="BF8007"/>
            </a:solidFill>
          </a:ln>
          <a:effectLst/>
        </p:spPr>
        <p:txBody>
          <a:bodyPr/>
          <a:lstStyle/>
          <a:p/>
        </p:txBody>
      </p:sp>
      <p:sp>
        <p:nvSpPr>
          <p:cNvPr id="74" name="Line 74"/>
          <p:cNvSpPr/>
          <p:nvPr/>
        </p:nvSpPr>
        <p:spPr>
          <a:xfrm>
            <a:off x="3095625" y="2514600"/>
            <a:ext cx="247650" cy="0"/>
          </a:xfrm>
          <a:prstGeom prst="line">
            <a:avLst/>
          </a:prstGeom>
          <a:noFill/>
          <a:ln w="12700">
            <a:solidFill>
              <a:srgbClr val="31516B"/>
            </a:solidFill>
          </a:ln>
          <a:effectLst/>
        </p:spPr>
        <p:txBody>
          <a:bodyPr/>
          <a:lstStyle/>
          <a:p/>
        </p:txBody>
      </p:sp>
      <p:sp>
        <p:nvSpPr>
          <p:cNvPr id="75" name="Line 75"/>
          <p:cNvSpPr/>
          <p:nvPr/>
        </p:nvSpPr>
        <p:spPr>
          <a:xfrm>
            <a:off x="4467225" y="2514600"/>
            <a:ext cx="209550" cy="0"/>
          </a:xfrm>
          <a:prstGeom prst="line">
            <a:avLst/>
          </a:prstGeom>
          <a:noFill/>
          <a:ln w="12700">
            <a:solidFill>
              <a:srgbClr val="31516B"/>
            </a:solidFill>
          </a:ln>
          <a:effectLst/>
        </p:spPr>
        <p:txBody>
          <a:bodyPr/>
          <a:lstStyle/>
          <a:p/>
        </p:txBody>
      </p:sp>
      <p:sp>
        <p:nvSpPr>
          <p:cNvPr id="76" name="Line 76"/>
          <p:cNvSpPr/>
          <p:nvPr/>
        </p:nvSpPr>
        <p:spPr>
          <a:xfrm>
            <a:off x="5600700" y="2514600"/>
            <a:ext cx="247650" cy="0"/>
          </a:xfrm>
          <a:prstGeom prst="line">
            <a:avLst/>
          </a:prstGeom>
          <a:noFill/>
          <a:ln w="12700">
            <a:solidFill>
              <a:srgbClr val="31516B"/>
            </a:solidFill>
          </a:ln>
          <a:effectLst/>
        </p:spPr>
        <p:txBody>
          <a:bodyPr/>
          <a:lstStyle/>
          <a:p/>
        </p:txBody>
      </p:sp>
      <p:sp>
        <p:nvSpPr>
          <p:cNvPr id="77" name="Line 77"/>
          <p:cNvSpPr/>
          <p:nvPr/>
        </p:nvSpPr>
        <p:spPr>
          <a:xfrm>
            <a:off x="6953250" y="2514600"/>
            <a:ext cx="171450" cy="0"/>
          </a:xfrm>
          <a:prstGeom prst="line">
            <a:avLst/>
          </a:prstGeom>
          <a:noFill/>
          <a:ln w="12700">
            <a:solidFill>
              <a:srgbClr val="31516B"/>
            </a:solidFill>
          </a:ln>
          <a:effectLst/>
        </p:spPr>
        <p:txBody>
          <a:bodyPr/>
          <a:lstStyle/>
          <a:p/>
        </p:txBody>
      </p:sp>
      <p:sp>
        <p:nvSpPr>
          <p:cNvPr id="78" name="Line 78"/>
          <p:cNvSpPr/>
          <p:nvPr/>
        </p:nvSpPr>
        <p:spPr>
          <a:xfrm>
            <a:off x="7858125" y="2514600"/>
            <a:ext cx="190500" cy="0"/>
          </a:xfrm>
          <a:prstGeom prst="line">
            <a:avLst/>
          </a:prstGeom>
          <a:noFill/>
          <a:ln w="12700">
            <a:solidFill>
              <a:srgbClr val="31516B"/>
            </a:solidFill>
          </a:ln>
          <a:effectLst/>
        </p:spPr>
        <p:txBody>
          <a:bodyPr/>
          <a:lstStyle/>
          <a:p/>
        </p:txBody>
      </p:sp>
      <p:sp>
        <p:nvSpPr>
          <p:cNvPr id="79" name="Line 79"/>
          <p:cNvSpPr/>
          <p:nvPr/>
        </p:nvSpPr>
        <p:spPr>
          <a:xfrm>
            <a:off x="7486650" y="2924175"/>
            <a:ext cx="0" cy="390525"/>
          </a:xfrm>
          <a:prstGeom prst="line">
            <a:avLst/>
          </a:prstGeom>
          <a:noFill/>
          <a:ln w="12700">
            <a:solidFill>
              <a:srgbClr val="31516B"/>
            </a:solidFill>
          </a:ln>
          <a:effectLst/>
        </p:spPr>
        <p:txBody>
          <a:bodyPr/>
          <a:lstStyle/>
          <a:p/>
        </p:txBody>
      </p:sp>
      <p:sp>
        <p:nvSpPr>
          <p:cNvPr id="80" name="Line 80"/>
          <p:cNvSpPr/>
          <p:nvPr/>
        </p:nvSpPr>
        <p:spPr>
          <a:xfrm>
            <a:off x="8686800" y="3590925"/>
            <a:ext cx="0" cy="209550"/>
          </a:xfrm>
          <a:prstGeom prst="line">
            <a:avLst/>
          </a:prstGeom>
          <a:noFill/>
          <a:ln w="12700">
            <a:solidFill>
              <a:srgbClr val="1769A0"/>
            </a:solidFill>
          </a:ln>
          <a:effectLst/>
        </p:spPr>
        <p:txBody>
          <a:bodyPr/>
          <a:lstStyle/>
          <a:p/>
        </p:txBody>
      </p:sp>
      <p:sp>
        <p:nvSpPr>
          <p:cNvPr id="81" name="Line 81"/>
          <p:cNvSpPr/>
          <p:nvPr/>
        </p:nvSpPr>
        <p:spPr>
          <a:xfrm>
            <a:off x="5143500" y="2924175"/>
            <a:ext cx="0" cy="952500"/>
          </a:xfrm>
          <a:prstGeom prst="line">
            <a:avLst/>
          </a:prstGeom>
          <a:noFill/>
          <a:ln w="12700">
            <a:solidFill>
              <a:srgbClr val="BF8007"/>
            </a:solidFill>
            <a:prstDash val="dash"/>
          </a:ln>
          <a:effectLst/>
        </p:spPr>
        <p:txBody>
          <a:bodyPr/>
          <a:lstStyle/>
          <a:p/>
        </p:txBody>
      </p:sp>
      <p:sp>
        <p:nvSpPr>
          <p:cNvPr id="82" name="Line 82"/>
          <p:cNvSpPr/>
          <p:nvPr/>
        </p:nvSpPr>
        <p:spPr>
          <a:xfrm flipH="1">
            <a:off x="2581275" y="3876675"/>
            <a:ext cx="2562225" cy="0"/>
          </a:xfrm>
          <a:prstGeom prst="line">
            <a:avLst/>
          </a:prstGeom>
          <a:noFill/>
          <a:ln w="12700">
            <a:solidFill>
              <a:srgbClr val="BF8007"/>
            </a:solidFill>
            <a:prstDash val="dash"/>
          </a:ln>
          <a:effectLst/>
        </p:spPr>
        <p:txBody>
          <a:bodyPr/>
          <a:lstStyle/>
          <a:p/>
        </p:txBody>
      </p:sp>
      <p:sp>
        <p:nvSpPr>
          <p:cNvPr id="83" name="Line 83"/>
          <p:cNvSpPr/>
          <p:nvPr/>
        </p:nvSpPr>
        <p:spPr>
          <a:xfrm flipV="1">
            <a:off x="2581275" y="2943225"/>
            <a:ext cx="0" cy="933450"/>
          </a:xfrm>
          <a:prstGeom prst="line">
            <a:avLst/>
          </a:prstGeom>
          <a:noFill/>
          <a:ln w="12700">
            <a:solidFill>
              <a:srgbClr val="BF8007"/>
            </a:solidFill>
            <a:prstDash val="dash"/>
          </a:ln>
          <a:effectLst/>
        </p:spPr>
        <p:txBody>
          <a:bodyPr/>
          <a:lstStyle/>
          <a:p/>
        </p:txBody>
      </p:sp>
      <p:sp>
        <p:nvSpPr>
          <p:cNvPr id="84" name="Line 84"/>
          <p:cNvSpPr/>
          <p:nvPr/>
        </p:nvSpPr>
        <p:spPr>
          <a:xfrm>
            <a:off x="2124075" y="4924425"/>
            <a:ext cx="476250" cy="0"/>
          </a:xfrm>
          <a:prstGeom prst="line">
            <a:avLst/>
          </a:prstGeom>
          <a:noFill/>
          <a:ln w="12700">
            <a:solidFill>
              <a:srgbClr val="31516B"/>
            </a:solidFill>
          </a:ln>
          <a:effectLst/>
        </p:spPr>
        <p:txBody>
          <a:bodyPr/>
          <a:lstStyle/>
          <a:p/>
        </p:txBody>
      </p:sp>
      <p:sp>
        <p:nvSpPr>
          <p:cNvPr id="85" name="Line 85"/>
          <p:cNvSpPr/>
          <p:nvPr/>
        </p:nvSpPr>
        <p:spPr>
          <a:xfrm>
            <a:off x="4286250" y="4924425"/>
            <a:ext cx="533400" cy="0"/>
          </a:xfrm>
          <a:prstGeom prst="line">
            <a:avLst/>
          </a:prstGeom>
          <a:noFill/>
          <a:ln w="12700">
            <a:solidFill>
              <a:srgbClr val="31516B"/>
            </a:solidFill>
          </a:ln>
          <a:effectLst/>
        </p:spPr>
        <p:txBody>
          <a:bodyPr/>
          <a:lstStyle/>
          <a:p/>
        </p:txBody>
      </p:sp>
      <p:sp>
        <p:nvSpPr>
          <p:cNvPr id="86" name="Line 86"/>
          <p:cNvSpPr/>
          <p:nvPr/>
        </p:nvSpPr>
        <p:spPr>
          <a:xfrm>
            <a:off x="6467475" y="4924425"/>
            <a:ext cx="638175" cy="0"/>
          </a:xfrm>
          <a:prstGeom prst="line">
            <a:avLst/>
          </a:prstGeom>
          <a:noFill/>
          <a:ln w="12700">
            <a:solidFill>
              <a:srgbClr val="31516B"/>
            </a:solidFill>
          </a:ln>
          <a:effectLst/>
        </p:spPr>
        <p:txBody>
          <a:bodyPr/>
          <a:lstStyle/>
          <a:p/>
        </p:txBody>
      </p:sp>
      <p:sp>
        <p:nvSpPr>
          <p:cNvPr id="87" name="Line 87"/>
          <p:cNvSpPr/>
          <p:nvPr/>
        </p:nvSpPr>
        <p:spPr>
          <a:xfrm>
            <a:off x="12011025" y="1428750"/>
            <a:ext cx="0" cy="333375"/>
          </a:xfrm>
          <a:prstGeom prst="line">
            <a:avLst/>
          </a:prstGeom>
          <a:noFill/>
          <a:ln w="12700">
            <a:solidFill>
              <a:srgbClr val="31516B"/>
            </a:solidFill>
          </a:ln>
          <a:effectLst/>
        </p:spPr>
        <p:txBody>
          <a:bodyPr/>
          <a:lstStyle/>
          <a:p/>
        </p:txBody>
      </p:sp>
      <p:sp>
        <p:nvSpPr>
          <p:cNvPr id="88" name="Line 88"/>
          <p:cNvSpPr/>
          <p:nvPr/>
        </p:nvSpPr>
        <p:spPr>
          <a:xfrm>
            <a:off x="9315450" y="2238375"/>
            <a:ext cx="561975" cy="0"/>
          </a:xfrm>
          <a:prstGeom prst="line">
            <a:avLst/>
          </a:prstGeom>
          <a:noFill/>
          <a:ln w="12700">
            <a:solidFill>
              <a:srgbClr val="AD3462"/>
            </a:solidFill>
          </a:ln>
          <a:effectLst/>
        </p:spPr>
        <p:txBody>
          <a:bodyPr/>
          <a:lstStyle/>
          <a:p/>
        </p:txBody>
      </p:sp>
      <p:sp>
        <p:nvSpPr>
          <p:cNvPr id="89" name="Line 89"/>
          <p:cNvSpPr/>
          <p:nvPr/>
        </p:nvSpPr>
        <p:spPr>
          <a:xfrm>
            <a:off x="12011025" y="2333625"/>
            <a:ext cx="0" cy="142875"/>
          </a:xfrm>
          <a:prstGeom prst="line">
            <a:avLst/>
          </a:prstGeom>
          <a:noFill/>
          <a:ln w="12700">
            <a:solidFill>
              <a:srgbClr val="31516B"/>
            </a:solidFill>
          </a:ln>
          <a:effectLst/>
        </p:spPr>
        <p:txBody>
          <a:bodyPr/>
          <a:lstStyle/>
          <a:p/>
        </p:txBody>
      </p:sp>
      <p:sp>
        <p:nvSpPr>
          <p:cNvPr id="90" name="Line 90"/>
          <p:cNvSpPr/>
          <p:nvPr/>
        </p:nvSpPr>
        <p:spPr>
          <a:xfrm flipH="1">
            <a:off x="10763250" y="2476500"/>
            <a:ext cx="1247775" cy="0"/>
          </a:xfrm>
          <a:prstGeom prst="line">
            <a:avLst/>
          </a:prstGeom>
          <a:noFill/>
          <a:ln w="12700">
            <a:solidFill>
              <a:srgbClr val="31516B"/>
            </a:solidFill>
          </a:ln>
          <a:effectLst/>
        </p:spPr>
        <p:txBody>
          <a:bodyPr/>
          <a:lstStyle/>
          <a:p/>
        </p:txBody>
      </p:sp>
      <p:sp>
        <p:nvSpPr>
          <p:cNvPr id="91" name="Line 91"/>
          <p:cNvSpPr/>
          <p:nvPr/>
        </p:nvSpPr>
        <p:spPr>
          <a:xfrm>
            <a:off x="10763250" y="2476500"/>
            <a:ext cx="0" cy="247650"/>
          </a:xfrm>
          <a:prstGeom prst="line">
            <a:avLst/>
          </a:prstGeom>
          <a:noFill/>
          <a:ln w="12700">
            <a:solidFill>
              <a:srgbClr val="31516B"/>
            </a:solidFill>
          </a:ln>
          <a:effectLst/>
        </p:spPr>
        <p:txBody>
          <a:bodyPr/>
          <a:lstStyle/>
          <a:p/>
        </p:txBody>
      </p:sp>
      <p:sp>
        <p:nvSpPr>
          <p:cNvPr id="92" name="Line 92"/>
          <p:cNvSpPr/>
          <p:nvPr/>
        </p:nvSpPr>
        <p:spPr>
          <a:xfrm>
            <a:off x="12011025" y="2476500"/>
            <a:ext cx="1285875" cy="0"/>
          </a:xfrm>
          <a:prstGeom prst="line">
            <a:avLst/>
          </a:prstGeom>
          <a:noFill/>
          <a:ln w="12700">
            <a:solidFill>
              <a:srgbClr val="31516B"/>
            </a:solidFill>
          </a:ln>
          <a:effectLst/>
        </p:spPr>
        <p:txBody>
          <a:bodyPr/>
          <a:lstStyle/>
          <a:p/>
        </p:txBody>
      </p:sp>
      <p:sp>
        <p:nvSpPr>
          <p:cNvPr id="93" name="Line 93"/>
          <p:cNvSpPr/>
          <p:nvPr/>
        </p:nvSpPr>
        <p:spPr>
          <a:xfrm>
            <a:off x="13296900" y="2476500"/>
            <a:ext cx="0" cy="247650"/>
          </a:xfrm>
          <a:prstGeom prst="line">
            <a:avLst/>
          </a:prstGeom>
          <a:noFill/>
          <a:ln w="12700">
            <a:solidFill>
              <a:srgbClr val="31516B"/>
            </a:solidFill>
          </a:ln>
          <a:effectLst/>
        </p:spPr>
        <p:txBody>
          <a:bodyPr/>
          <a:lstStyle/>
          <a:p/>
        </p:txBody>
      </p:sp>
      <p:sp>
        <p:nvSpPr>
          <p:cNvPr id="94" name="Line 94"/>
          <p:cNvSpPr/>
          <p:nvPr/>
        </p:nvSpPr>
        <p:spPr>
          <a:xfrm>
            <a:off x="13296900" y="3181350"/>
            <a:ext cx="0" cy="381000"/>
          </a:xfrm>
          <a:prstGeom prst="line">
            <a:avLst/>
          </a:prstGeom>
          <a:noFill/>
          <a:ln w="12700">
            <a:solidFill>
              <a:srgbClr val="31516B"/>
            </a:solidFill>
          </a:ln>
          <a:effectLst/>
        </p:spPr>
        <p:txBody>
          <a:bodyPr/>
          <a:lstStyle/>
          <a:p/>
        </p:txBody>
      </p:sp>
      <p:sp>
        <p:nvSpPr>
          <p:cNvPr id="95" name="Line 95"/>
          <p:cNvSpPr/>
          <p:nvPr/>
        </p:nvSpPr>
        <p:spPr>
          <a:xfrm>
            <a:off x="9315450" y="2781300"/>
            <a:ext cx="190500" cy="0"/>
          </a:xfrm>
          <a:prstGeom prst="line">
            <a:avLst/>
          </a:prstGeom>
          <a:noFill/>
          <a:ln w="12700">
            <a:solidFill>
              <a:srgbClr val="267549"/>
            </a:solidFill>
          </a:ln>
          <a:effectLst/>
        </p:spPr>
        <p:txBody>
          <a:bodyPr/>
          <a:lstStyle/>
          <a:p/>
        </p:txBody>
      </p:sp>
      <p:sp>
        <p:nvSpPr>
          <p:cNvPr id="96" name="Line 96"/>
          <p:cNvSpPr/>
          <p:nvPr/>
        </p:nvSpPr>
        <p:spPr>
          <a:xfrm>
            <a:off x="9505950" y="2781300"/>
            <a:ext cx="0" cy="1466850"/>
          </a:xfrm>
          <a:prstGeom prst="line">
            <a:avLst/>
          </a:prstGeom>
          <a:noFill/>
          <a:ln w="12700">
            <a:solidFill>
              <a:srgbClr val="267549"/>
            </a:solidFill>
          </a:ln>
          <a:effectLst/>
        </p:spPr>
        <p:txBody>
          <a:bodyPr/>
          <a:lstStyle/>
          <a:p/>
        </p:txBody>
      </p:sp>
      <p:sp>
        <p:nvSpPr>
          <p:cNvPr id="97" name="Line 97"/>
          <p:cNvSpPr/>
          <p:nvPr/>
        </p:nvSpPr>
        <p:spPr>
          <a:xfrm>
            <a:off x="9505950" y="4248150"/>
            <a:ext cx="2609850" cy="0"/>
          </a:xfrm>
          <a:prstGeom prst="line">
            <a:avLst/>
          </a:prstGeom>
          <a:noFill/>
          <a:ln w="12700">
            <a:solidFill>
              <a:srgbClr val="267549"/>
            </a:solidFill>
          </a:ln>
          <a:effectLst/>
        </p:spPr>
        <p:txBody>
          <a:bodyPr/>
          <a:lstStyle/>
          <a:p/>
        </p:txBody>
      </p:sp>
      <p:sp>
        <p:nvSpPr>
          <p:cNvPr id="98" name="Line 98"/>
          <p:cNvSpPr/>
          <p:nvPr/>
        </p:nvSpPr>
        <p:spPr>
          <a:xfrm flipV="1">
            <a:off x="12115800" y="3848100"/>
            <a:ext cx="0" cy="400050"/>
          </a:xfrm>
          <a:prstGeom prst="line">
            <a:avLst/>
          </a:prstGeom>
          <a:noFill/>
          <a:ln w="12700">
            <a:solidFill>
              <a:srgbClr val="267549"/>
            </a:solidFill>
          </a:ln>
          <a:effectLst/>
        </p:spPr>
        <p:txBody>
          <a:bodyPr/>
          <a:lstStyle/>
          <a:p/>
        </p:txBody>
      </p:sp>
      <p:sp>
        <p:nvSpPr>
          <p:cNvPr id="99" name="Line 99"/>
          <p:cNvSpPr/>
          <p:nvPr/>
        </p:nvSpPr>
        <p:spPr>
          <a:xfrm>
            <a:off x="12115800" y="3848100"/>
            <a:ext cx="133350" cy="0"/>
          </a:xfrm>
          <a:prstGeom prst="line">
            <a:avLst/>
          </a:prstGeom>
          <a:noFill/>
          <a:ln w="12700">
            <a:solidFill>
              <a:srgbClr val="267549"/>
            </a:solidFill>
          </a:ln>
          <a:effectLst/>
        </p:spPr>
        <p:txBody>
          <a:bodyPr/>
          <a:lstStyle/>
          <a:p/>
        </p:txBody>
      </p:sp>
      <p:sp>
        <p:nvSpPr>
          <p:cNvPr id="100" name="Line 100"/>
          <p:cNvSpPr/>
          <p:nvPr/>
        </p:nvSpPr>
        <p:spPr>
          <a:xfrm>
            <a:off x="13296900" y="4133850"/>
            <a:ext cx="0" cy="371475"/>
          </a:xfrm>
          <a:prstGeom prst="line">
            <a:avLst/>
          </a:prstGeom>
          <a:noFill/>
          <a:ln w="12700">
            <a:solidFill>
              <a:srgbClr val="31516B"/>
            </a:solidFill>
          </a:ln>
          <a:effectLst/>
        </p:spPr>
        <p:txBody>
          <a:bodyPr/>
          <a:lstStyle/>
          <a:p/>
        </p:txBody>
      </p:sp>
      <p:sp>
        <p:nvSpPr>
          <p:cNvPr id="101" name="Line 101"/>
          <p:cNvSpPr/>
          <p:nvPr/>
        </p:nvSpPr>
        <p:spPr>
          <a:xfrm flipH="1">
            <a:off x="11553825" y="4695825"/>
            <a:ext cx="695325" cy="0"/>
          </a:xfrm>
          <a:prstGeom prst="line">
            <a:avLst/>
          </a:prstGeom>
          <a:noFill/>
          <a:ln w="12700">
            <a:solidFill>
              <a:srgbClr val="31516B"/>
            </a:solidFill>
          </a:ln>
          <a:effectLst/>
        </p:spPr>
        <p:txBody>
          <a:bodyPr/>
          <a:lstStyle/>
          <a:p/>
        </p:txBody>
      </p:sp>
      <p:sp>
        <p:nvSpPr>
          <p:cNvPr id="102" name="Line 102"/>
          <p:cNvSpPr/>
          <p:nvPr/>
        </p:nvSpPr>
        <p:spPr>
          <a:xfrm>
            <a:off x="13296900" y="4895850"/>
            <a:ext cx="0" cy="361950"/>
          </a:xfrm>
          <a:prstGeom prst="line">
            <a:avLst/>
          </a:prstGeom>
          <a:noFill/>
          <a:ln w="12700">
            <a:solidFill>
              <a:srgbClr val="31516B"/>
            </a:solidFill>
          </a:ln>
          <a:effectLst/>
        </p:spPr>
        <p:txBody>
          <a:bodyPr/>
          <a:lstStyle/>
          <a:p/>
        </p:txBody>
      </p:sp>
      <p:sp>
        <p:nvSpPr>
          <p:cNvPr id="103" name="Line 103"/>
          <p:cNvSpPr/>
          <p:nvPr/>
        </p:nvSpPr>
        <p:spPr>
          <a:xfrm flipV="1">
            <a:off x="457200" y="6419850"/>
            <a:ext cx="0" cy="285750"/>
          </a:xfrm>
          <a:prstGeom prst="line">
            <a:avLst/>
          </a:prstGeom>
          <a:noFill/>
          <a:ln w="10795">
            <a:solidFill>
              <a:srgbClr val="31516B"/>
            </a:solidFill>
          </a:ln>
          <a:effectLst/>
        </p:spPr>
        <p:txBody>
          <a:bodyPr/>
          <a:lstStyle/>
          <a:p/>
        </p:txBody>
      </p:sp>
      <p:sp>
        <p:nvSpPr>
          <p:cNvPr id="104" name="Line 104"/>
          <p:cNvSpPr/>
          <p:nvPr/>
        </p:nvSpPr>
        <p:spPr>
          <a:xfrm>
            <a:off x="457200" y="6419850"/>
            <a:ext cx="1828800" cy="0"/>
          </a:xfrm>
          <a:prstGeom prst="line">
            <a:avLst/>
          </a:prstGeom>
          <a:noFill/>
          <a:ln w="10795">
            <a:solidFill>
              <a:srgbClr val="31516B"/>
            </a:solidFill>
          </a:ln>
          <a:effectLst/>
        </p:spPr>
        <p:txBody>
          <a:bodyPr/>
          <a:lstStyle/>
          <a:p/>
        </p:txBody>
      </p:sp>
      <p:sp>
        <p:nvSpPr>
          <p:cNvPr id="105" name="Line 105"/>
          <p:cNvSpPr/>
          <p:nvPr/>
        </p:nvSpPr>
        <p:spPr>
          <a:xfrm>
            <a:off x="4524375" y="6419850"/>
            <a:ext cx="1847850" cy="0"/>
          </a:xfrm>
          <a:prstGeom prst="line">
            <a:avLst/>
          </a:prstGeom>
          <a:noFill/>
          <a:ln w="10795">
            <a:solidFill>
              <a:srgbClr val="31516B"/>
            </a:solidFill>
          </a:ln>
          <a:effectLst/>
        </p:spPr>
        <p:txBody>
          <a:bodyPr/>
          <a:lstStyle/>
          <a:p/>
        </p:txBody>
      </p:sp>
      <p:sp>
        <p:nvSpPr>
          <p:cNvPr id="106" name="Line 106"/>
          <p:cNvSpPr/>
          <p:nvPr/>
        </p:nvSpPr>
        <p:spPr>
          <a:xfrm>
            <a:off x="6372225" y="6419850"/>
            <a:ext cx="0" cy="285750"/>
          </a:xfrm>
          <a:prstGeom prst="line">
            <a:avLst/>
          </a:prstGeom>
          <a:noFill/>
          <a:ln w="10795">
            <a:solidFill>
              <a:srgbClr val="31516B"/>
            </a:solidFill>
          </a:ln>
          <a:effectLst/>
        </p:spPr>
        <p:txBody>
          <a:bodyPr/>
          <a:lstStyle/>
          <a:p/>
        </p:txBody>
      </p:sp>
      <p:sp>
        <p:nvSpPr>
          <p:cNvPr id="107" name="Line 107"/>
          <p:cNvSpPr/>
          <p:nvPr/>
        </p:nvSpPr>
        <p:spPr>
          <a:xfrm>
            <a:off x="6286500" y="6858000"/>
            <a:ext cx="495300" cy="0"/>
          </a:xfrm>
          <a:prstGeom prst="line">
            <a:avLst/>
          </a:prstGeom>
          <a:noFill/>
          <a:ln w="12700">
            <a:solidFill>
              <a:srgbClr val="31516B"/>
            </a:solidFill>
          </a:ln>
          <a:effectLst/>
        </p:spPr>
        <p:txBody>
          <a:bodyPr/>
          <a:lstStyle/>
          <a:p/>
        </p:txBody>
      </p:sp>
      <p:sp>
        <p:nvSpPr>
          <p:cNvPr id="108" name="Line 108"/>
          <p:cNvSpPr/>
          <p:nvPr/>
        </p:nvSpPr>
        <p:spPr>
          <a:xfrm>
            <a:off x="6781800" y="6858000"/>
            <a:ext cx="0" cy="628650"/>
          </a:xfrm>
          <a:prstGeom prst="line">
            <a:avLst/>
          </a:prstGeom>
          <a:noFill/>
          <a:ln w="12700">
            <a:solidFill>
              <a:srgbClr val="31516B"/>
            </a:solidFill>
          </a:ln>
          <a:effectLst/>
        </p:spPr>
        <p:txBody>
          <a:bodyPr/>
          <a:lstStyle/>
          <a:p/>
        </p:txBody>
      </p:sp>
      <p:sp>
        <p:nvSpPr>
          <p:cNvPr id="109" name="Line 109"/>
          <p:cNvSpPr/>
          <p:nvPr/>
        </p:nvSpPr>
        <p:spPr>
          <a:xfrm>
            <a:off x="6781800" y="7486650"/>
            <a:ext cx="390525" cy="0"/>
          </a:xfrm>
          <a:prstGeom prst="line">
            <a:avLst/>
          </a:prstGeom>
          <a:noFill/>
          <a:ln w="12700">
            <a:solidFill>
              <a:srgbClr val="31516B"/>
            </a:solidFill>
          </a:ln>
          <a:effectLst/>
        </p:spPr>
        <p:txBody>
          <a:bodyPr/>
          <a:lstStyle/>
          <a:p/>
        </p:txBody>
      </p:sp>
      <p:sp>
        <p:nvSpPr>
          <p:cNvPr id="110" name="Line 110"/>
          <p:cNvSpPr/>
          <p:nvPr/>
        </p:nvSpPr>
        <p:spPr>
          <a:xfrm>
            <a:off x="6286500" y="8105775"/>
            <a:ext cx="495300" cy="0"/>
          </a:xfrm>
          <a:prstGeom prst="line">
            <a:avLst/>
          </a:prstGeom>
          <a:noFill/>
          <a:ln w="12700">
            <a:solidFill>
              <a:srgbClr val="31516B"/>
            </a:solidFill>
          </a:ln>
          <a:effectLst/>
        </p:spPr>
        <p:txBody>
          <a:bodyPr/>
          <a:lstStyle/>
          <a:p/>
        </p:txBody>
      </p:sp>
      <p:sp>
        <p:nvSpPr>
          <p:cNvPr id="111" name="Line 111"/>
          <p:cNvSpPr/>
          <p:nvPr/>
        </p:nvSpPr>
        <p:spPr>
          <a:xfrm flipV="1">
            <a:off x="6781800" y="7696200"/>
            <a:ext cx="0" cy="409575"/>
          </a:xfrm>
          <a:prstGeom prst="line">
            <a:avLst/>
          </a:prstGeom>
          <a:noFill/>
          <a:ln w="12700">
            <a:solidFill>
              <a:srgbClr val="31516B"/>
            </a:solidFill>
          </a:ln>
          <a:effectLst/>
        </p:spPr>
        <p:txBody>
          <a:bodyPr/>
          <a:lstStyle/>
          <a:p/>
        </p:txBody>
      </p:sp>
      <p:sp>
        <p:nvSpPr>
          <p:cNvPr id="112" name="Line 112"/>
          <p:cNvSpPr/>
          <p:nvPr/>
        </p:nvSpPr>
        <p:spPr>
          <a:xfrm>
            <a:off x="6781800" y="7696200"/>
            <a:ext cx="390525" cy="0"/>
          </a:xfrm>
          <a:prstGeom prst="line">
            <a:avLst/>
          </a:prstGeom>
          <a:noFill/>
          <a:ln w="12700">
            <a:solidFill>
              <a:srgbClr val="31516B"/>
            </a:solidFill>
          </a:ln>
          <a:effectLst/>
        </p:spPr>
        <p:txBody>
          <a:bodyPr/>
          <a:lstStyle/>
          <a:p/>
        </p:txBody>
      </p:sp>
      <p:sp>
        <p:nvSpPr>
          <p:cNvPr id="113" name="Line 113"/>
          <p:cNvSpPr/>
          <p:nvPr/>
        </p:nvSpPr>
        <p:spPr>
          <a:xfrm>
            <a:off x="8782050" y="7562850"/>
            <a:ext cx="390525" cy="0"/>
          </a:xfrm>
          <a:prstGeom prst="line">
            <a:avLst/>
          </a:prstGeom>
          <a:noFill/>
          <a:ln w="12700">
            <a:solidFill>
              <a:srgbClr val="31516B"/>
            </a:solidFill>
          </a:ln>
          <a:effectLst/>
        </p:spPr>
        <p:txBody>
          <a:bodyPr/>
          <a:lstStyle/>
          <a:p/>
        </p:txBody>
      </p:sp>
      <p:sp>
        <p:nvSpPr>
          <p:cNvPr id="114" name="Line 114"/>
          <p:cNvSpPr/>
          <p:nvPr/>
        </p:nvSpPr>
        <p:spPr>
          <a:xfrm>
            <a:off x="11220450" y="7858125"/>
            <a:ext cx="323850" cy="0"/>
          </a:xfrm>
          <a:prstGeom prst="line">
            <a:avLst/>
          </a:prstGeom>
          <a:noFill/>
          <a:ln w="12700">
            <a:solidFill>
              <a:srgbClr val="31516B"/>
            </a:solidFill>
          </a:ln>
          <a:effectLst/>
        </p:spPr>
        <p:txBody>
          <a:bodyPr/>
          <a:lstStyle/>
          <a:p/>
        </p:txBody>
      </p:sp>
      <p:sp>
        <p:nvSpPr>
          <p:cNvPr id="115" name="Line 115"/>
          <p:cNvSpPr/>
          <p:nvPr/>
        </p:nvSpPr>
        <p:spPr>
          <a:xfrm>
            <a:off x="11544300" y="7858125"/>
            <a:ext cx="0" cy="552450"/>
          </a:xfrm>
          <a:prstGeom prst="line">
            <a:avLst/>
          </a:prstGeom>
          <a:noFill/>
          <a:ln w="12700">
            <a:solidFill>
              <a:srgbClr val="31516B"/>
            </a:solidFill>
          </a:ln>
          <a:effectLst/>
        </p:spPr>
        <p:txBody>
          <a:bodyPr/>
          <a:lstStyle/>
          <a:p/>
        </p:txBody>
      </p:sp>
      <p:sp>
        <p:nvSpPr>
          <p:cNvPr id="116" name="Line 116"/>
          <p:cNvSpPr/>
          <p:nvPr/>
        </p:nvSpPr>
        <p:spPr>
          <a:xfrm>
            <a:off x="11544300" y="8410575"/>
            <a:ext cx="314325" cy="0"/>
          </a:xfrm>
          <a:prstGeom prst="line">
            <a:avLst/>
          </a:prstGeom>
          <a:noFill/>
          <a:ln w="12700">
            <a:solidFill>
              <a:srgbClr val="31516B"/>
            </a:solidFill>
          </a:ln>
          <a:effectLst/>
        </p:spPr>
        <p:txBody>
          <a:bodyPr/>
          <a:lstStyle/>
          <a:p/>
        </p:txBody>
      </p:sp>
      <p:sp>
        <p:nvSpPr>
          <p:cNvPr id="117" name="Line 117"/>
          <p:cNvSpPr/>
          <p:nvPr/>
        </p:nvSpPr>
        <p:spPr>
          <a:xfrm>
            <a:off x="12992100" y="7562850"/>
            <a:ext cx="0" cy="647700"/>
          </a:xfrm>
          <a:prstGeom prst="line">
            <a:avLst/>
          </a:prstGeom>
          <a:noFill/>
          <a:ln w="12700">
            <a:solidFill>
              <a:srgbClr val="31516B"/>
            </a:solidFill>
          </a:ln>
          <a:effectLst/>
        </p:spPr>
        <p:txBody>
          <a:bodyPr/>
          <a:lstStyle/>
          <a:p/>
        </p:txBody>
      </p:sp>
      <p:sp>
        <p:nvSpPr>
          <p:cNvPr id="118" name="Line 118"/>
          <p:cNvSpPr/>
          <p:nvPr/>
        </p:nvSpPr>
        <p:spPr>
          <a:xfrm>
            <a:off x="228600" y="9353550"/>
            <a:ext cx="609600" cy="0"/>
          </a:xfrm>
          <a:prstGeom prst="line">
            <a:avLst/>
          </a:prstGeom>
          <a:noFill/>
          <a:ln w="12700">
            <a:solidFill>
              <a:srgbClr val="31516B"/>
            </a:solidFill>
          </a:ln>
          <a:effectLst/>
        </p:spPr>
        <p:txBody>
          <a:bodyPr/>
          <a:lstStyle/>
          <a:p/>
        </p:txBody>
      </p:sp>
      <p:sp>
        <p:nvSpPr>
          <p:cNvPr id="119" name="Line 119"/>
          <p:cNvSpPr/>
          <p:nvPr/>
        </p:nvSpPr>
        <p:spPr>
          <a:xfrm>
            <a:off x="2971800" y="9353550"/>
            <a:ext cx="762000" cy="0"/>
          </a:xfrm>
          <a:prstGeom prst="line">
            <a:avLst/>
          </a:prstGeom>
          <a:noFill/>
          <a:ln w="12700">
            <a:solidFill>
              <a:srgbClr val="BF8007"/>
            </a:solidFill>
            <a:prstDash val="dash"/>
          </a:ln>
          <a:effectLst/>
        </p:spPr>
        <p:txBody>
          <a:bodyPr/>
          <a:lstStyle/>
          <a:p/>
        </p:txBody>
      </p:sp>
      <p:sp>
        <p:nvSpPr>
          <p:cNvPr id="120" name="Freeform 120"/>
          <p:cNvSpPr/>
          <p:nvPr/>
        </p:nvSpPr>
        <p:spPr>
          <a:xfrm>
            <a:off x="2000250" y="2470785"/>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21" name="Freeform 121"/>
          <p:cNvSpPr/>
          <p:nvPr/>
        </p:nvSpPr>
        <p:spPr>
          <a:xfrm>
            <a:off x="2537460" y="2000250"/>
            <a:ext cx="87630" cy="95250"/>
          </a:xfrm>
          <a:custGeom>
            <a:avLst/>
            <a:gdLst/>
            <a:ahLst/>
            <a:cxnLst/>
            <a:rect l="l" t="t" r="r" b="b"/>
            <a:pathLst>
              <a:path w="21600" h="21600">
                <a:moveTo>
                  <a:pt x="10800" y="21600"/>
                </a:moveTo>
                <a:lnTo>
                  <a:pt x="0" y="0"/>
                </a:lnTo>
                <a:lnTo>
                  <a:pt x="21600" y="0"/>
                </a:lnTo>
                <a:close/>
              </a:path>
            </a:pathLst>
          </a:custGeom>
          <a:solidFill>
            <a:srgbClr val="BF8007"/>
          </a:solidFill>
          <a:ln>
            <a:noFill/>
          </a:ln>
          <a:effectLst/>
        </p:spPr>
        <p:txBody>
          <a:bodyPr/>
          <a:lstStyle/>
          <a:p/>
        </p:txBody>
      </p:sp>
      <p:sp>
        <p:nvSpPr>
          <p:cNvPr id="122" name="Freeform 122"/>
          <p:cNvSpPr/>
          <p:nvPr/>
        </p:nvSpPr>
        <p:spPr>
          <a:xfrm>
            <a:off x="3248025" y="2470785"/>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23" name="Freeform 123"/>
          <p:cNvSpPr/>
          <p:nvPr/>
        </p:nvSpPr>
        <p:spPr>
          <a:xfrm>
            <a:off x="4581525" y="2470785"/>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24" name="Freeform 124"/>
          <p:cNvSpPr/>
          <p:nvPr/>
        </p:nvSpPr>
        <p:spPr>
          <a:xfrm>
            <a:off x="5753100" y="2470785"/>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25" name="Freeform 125"/>
          <p:cNvSpPr/>
          <p:nvPr/>
        </p:nvSpPr>
        <p:spPr>
          <a:xfrm>
            <a:off x="7029450" y="2470785"/>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26" name="Freeform 126"/>
          <p:cNvSpPr/>
          <p:nvPr/>
        </p:nvSpPr>
        <p:spPr>
          <a:xfrm>
            <a:off x="7953375" y="2470785"/>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27" name="Freeform 127"/>
          <p:cNvSpPr/>
          <p:nvPr/>
        </p:nvSpPr>
        <p:spPr>
          <a:xfrm>
            <a:off x="7442835" y="3219450"/>
            <a:ext cx="87630" cy="95250"/>
          </a:xfrm>
          <a:custGeom>
            <a:avLst/>
            <a:gdLst/>
            <a:ahLst/>
            <a:cxnLst/>
            <a:rect l="l" t="t" r="r" b="b"/>
            <a:pathLst>
              <a:path w="21600" h="21600">
                <a:moveTo>
                  <a:pt x="10800" y="21600"/>
                </a:moveTo>
                <a:lnTo>
                  <a:pt x="0" y="0"/>
                </a:lnTo>
                <a:lnTo>
                  <a:pt x="21600" y="0"/>
                </a:lnTo>
                <a:close/>
              </a:path>
            </a:pathLst>
          </a:custGeom>
          <a:solidFill>
            <a:srgbClr val="31516B"/>
          </a:solidFill>
          <a:ln>
            <a:noFill/>
          </a:ln>
          <a:effectLst/>
        </p:spPr>
        <p:txBody>
          <a:bodyPr/>
          <a:lstStyle/>
          <a:p/>
        </p:txBody>
      </p:sp>
      <p:sp>
        <p:nvSpPr>
          <p:cNvPr id="128" name="Freeform 128"/>
          <p:cNvSpPr/>
          <p:nvPr/>
        </p:nvSpPr>
        <p:spPr>
          <a:xfrm>
            <a:off x="8642985" y="3705225"/>
            <a:ext cx="87630" cy="95250"/>
          </a:xfrm>
          <a:custGeom>
            <a:avLst/>
            <a:gdLst/>
            <a:ahLst/>
            <a:cxnLst/>
            <a:rect l="l" t="t" r="r" b="b"/>
            <a:pathLst>
              <a:path w="21600" h="21600">
                <a:moveTo>
                  <a:pt x="10800" y="21600"/>
                </a:moveTo>
                <a:lnTo>
                  <a:pt x="0" y="0"/>
                </a:lnTo>
                <a:lnTo>
                  <a:pt x="21600" y="0"/>
                </a:lnTo>
                <a:close/>
              </a:path>
            </a:pathLst>
          </a:custGeom>
          <a:solidFill>
            <a:srgbClr val="1769A0"/>
          </a:solidFill>
          <a:ln>
            <a:noFill/>
          </a:ln>
          <a:effectLst/>
        </p:spPr>
        <p:txBody>
          <a:bodyPr/>
          <a:lstStyle/>
          <a:p/>
        </p:txBody>
      </p:sp>
      <p:sp>
        <p:nvSpPr>
          <p:cNvPr id="129" name="Freeform 129"/>
          <p:cNvSpPr/>
          <p:nvPr/>
        </p:nvSpPr>
        <p:spPr>
          <a:xfrm>
            <a:off x="2537460" y="2943225"/>
            <a:ext cx="87630" cy="95250"/>
          </a:xfrm>
          <a:custGeom>
            <a:avLst/>
            <a:gdLst/>
            <a:ahLst/>
            <a:cxnLst/>
            <a:rect l="l" t="t" r="r" b="b"/>
            <a:pathLst>
              <a:path w="21600" h="21600">
                <a:moveTo>
                  <a:pt x="10800" y="0"/>
                </a:moveTo>
                <a:lnTo>
                  <a:pt x="21600" y="21600"/>
                </a:lnTo>
                <a:lnTo>
                  <a:pt x="0" y="21600"/>
                </a:lnTo>
                <a:close/>
              </a:path>
            </a:pathLst>
          </a:custGeom>
          <a:solidFill>
            <a:srgbClr val="BF8007"/>
          </a:solidFill>
          <a:ln>
            <a:noFill/>
          </a:ln>
          <a:effectLst/>
        </p:spPr>
        <p:txBody>
          <a:bodyPr/>
          <a:lstStyle/>
          <a:p/>
        </p:txBody>
      </p:sp>
      <p:sp>
        <p:nvSpPr>
          <p:cNvPr id="130" name="Freeform 130"/>
          <p:cNvSpPr/>
          <p:nvPr/>
        </p:nvSpPr>
        <p:spPr>
          <a:xfrm>
            <a:off x="2505075" y="4880610"/>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31" name="Freeform 131"/>
          <p:cNvSpPr/>
          <p:nvPr/>
        </p:nvSpPr>
        <p:spPr>
          <a:xfrm>
            <a:off x="4724400" y="4880610"/>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32" name="Freeform 132"/>
          <p:cNvSpPr/>
          <p:nvPr/>
        </p:nvSpPr>
        <p:spPr>
          <a:xfrm>
            <a:off x="7010400" y="4880610"/>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33" name="Freeform 133"/>
          <p:cNvSpPr/>
          <p:nvPr/>
        </p:nvSpPr>
        <p:spPr>
          <a:xfrm>
            <a:off x="11967210" y="1666875"/>
            <a:ext cx="87630" cy="95250"/>
          </a:xfrm>
          <a:custGeom>
            <a:avLst/>
            <a:gdLst/>
            <a:ahLst/>
            <a:cxnLst/>
            <a:rect l="l" t="t" r="r" b="b"/>
            <a:pathLst>
              <a:path w="21600" h="21600">
                <a:moveTo>
                  <a:pt x="10800" y="21600"/>
                </a:moveTo>
                <a:lnTo>
                  <a:pt x="0" y="0"/>
                </a:lnTo>
                <a:lnTo>
                  <a:pt x="21600" y="0"/>
                </a:lnTo>
                <a:close/>
              </a:path>
            </a:pathLst>
          </a:custGeom>
          <a:solidFill>
            <a:srgbClr val="31516B"/>
          </a:solidFill>
          <a:ln>
            <a:noFill/>
          </a:ln>
          <a:effectLst/>
        </p:spPr>
        <p:txBody>
          <a:bodyPr/>
          <a:lstStyle/>
          <a:p/>
        </p:txBody>
      </p:sp>
      <p:sp>
        <p:nvSpPr>
          <p:cNvPr id="134" name="Freeform 134"/>
          <p:cNvSpPr/>
          <p:nvPr/>
        </p:nvSpPr>
        <p:spPr>
          <a:xfrm>
            <a:off x="9782175" y="2194560"/>
            <a:ext cx="95250" cy="87630"/>
          </a:xfrm>
          <a:custGeom>
            <a:avLst/>
            <a:gdLst/>
            <a:ahLst/>
            <a:cxnLst/>
            <a:rect l="l" t="t" r="r" b="b"/>
            <a:pathLst>
              <a:path w="21600" h="21600">
                <a:moveTo>
                  <a:pt x="21600" y="10800"/>
                </a:moveTo>
                <a:lnTo>
                  <a:pt x="0" y="21600"/>
                </a:lnTo>
                <a:lnTo>
                  <a:pt x="0" y="0"/>
                </a:lnTo>
                <a:close/>
              </a:path>
            </a:pathLst>
          </a:custGeom>
          <a:solidFill>
            <a:srgbClr val="AD3462"/>
          </a:solidFill>
          <a:ln>
            <a:noFill/>
          </a:ln>
          <a:effectLst/>
        </p:spPr>
        <p:txBody>
          <a:bodyPr/>
          <a:lstStyle/>
          <a:p/>
        </p:txBody>
      </p:sp>
      <p:sp>
        <p:nvSpPr>
          <p:cNvPr id="135" name="Freeform 135"/>
          <p:cNvSpPr/>
          <p:nvPr/>
        </p:nvSpPr>
        <p:spPr>
          <a:xfrm>
            <a:off x="10719435" y="2628900"/>
            <a:ext cx="87630" cy="95250"/>
          </a:xfrm>
          <a:custGeom>
            <a:avLst/>
            <a:gdLst/>
            <a:ahLst/>
            <a:cxnLst/>
            <a:rect l="l" t="t" r="r" b="b"/>
            <a:pathLst>
              <a:path w="21600" h="21600">
                <a:moveTo>
                  <a:pt x="10800" y="21600"/>
                </a:moveTo>
                <a:lnTo>
                  <a:pt x="0" y="0"/>
                </a:lnTo>
                <a:lnTo>
                  <a:pt x="21600" y="0"/>
                </a:lnTo>
                <a:close/>
              </a:path>
            </a:pathLst>
          </a:custGeom>
          <a:solidFill>
            <a:srgbClr val="31516B"/>
          </a:solidFill>
          <a:ln>
            <a:noFill/>
          </a:ln>
          <a:effectLst/>
        </p:spPr>
        <p:txBody>
          <a:bodyPr/>
          <a:lstStyle/>
          <a:p/>
        </p:txBody>
      </p:sp>
      <p:sp>
        <p:nvSpPr>
          <p:cNvPr id="136" name="Freeform 136"/>
          <p:cNvSpPr/>
          <p:nvPr/>
        </p:nvSpPr>
        <p:spPr>
          <a:xfrm>
            <a:off x="13253085" y="2628900"/>
            <a:ext cx="87630" cy="95250"/>
          </a:xfrm>
          <a:custGeom>
            <a:avLst/>
            <a:gdLst/>
            <a:ahLst/>
            <a:cxnLst/>
            <a:rect l="l" t="t" r="r" b="b"/>
            <a:pathLst>
              <a:path w="21600" h="21600">
                <a:moveTo>
                  <a:pt x="10800" y="21600"/>
                </a:moveTo>
                <a:lnTo>
                  <a:pt x="0" y="0"/>
                </a:lnTo>
                <a:lnTo>
                  <a:pt x="21600" y="0"/>
                </a:lnTo>
                <a:close/>
              </a:path>
            </a:pathLst>
          </a:custGeom>
          <a:solidFill>
            <a:srgbClr val="31516B"/>
          </a:solidFill>
          <a:ln>
            <a:noFill/>
          </a:ln>
          <a:effectLst/>
        </p:spPr>
        <p:txBody>
          <a:bodyPr/>
          <a:lstStyle/>
          <a:p/>
        </p:txBody>
      </p:sp>
      <p:sp>
        <p:nvSpPr>
          <p:cNvPr id="137" name="Freeform 137"/>
          <p:cNvSpPr/>
          <p:nvPr/>
        </p:nvSpPr>
        <p:spPr>
          <a:xfrm>
            <a:off x="13253085" y="3467100"/>
            <a:ext cx="87630" cy="95250"/>
          </a:xfrm>
          <a:custGeom>
            <a:avLst/>
            <a:gdLst/>
            <a:ahLst/>
            <a:cxnLst/>
            <a:rect l="l" t="t" r="r" b="b"/>
            <a:pathLst>
              <a:path w="21600" h="21600">
                <a:moveTo>
                  <a:pt x="10800" y="21600"/>
                </a:moveTo>
                <a:lnTo>
                  <a:pt x="0" y="0"/>
                </a:lnTo>
                <a:lnTo>
                  <a:pt x="21600" y="0"/>
                </a:lnTo>
                <a:close/>
              </a:path>
            </a:pathLst>
          </a:custGeom>
          <a:solidFill>
            <a:srgbClr val="31516B"/>
          </a:solidFill>
          <a:ln>
            <a:noFill/>
          </a:ln>
          <a:effectLst/>
        </p:spPr>
        <p:txBody>
          <a:bodyPr/>
          <a:lstStyle/>
          <a:p/>
        </p:txBody>
      </p:sp>
      <p:sp>
        <p:nvSpPr>
          <p:cNvPr id="138" name="Freeform 138"/>
          <p:cNvSpPr/>
          <p:nvPr/>
        </p:nvSpPr>
        <p:spPr>
          <a:xfrm>
            <a:off x="12153900" y="3804285"/>
            <a:ext cx="95250" cy="87630"/>
          </a:xfrm>
          <a:custGeom>
            <a:avLst/>
            <a:gdLst/>
            <a:ahLst/>
            <a:cxnLst/>
            <a:rect l="l" t="t" r="r" b="b"/>
            <a:pathLst>
              <a:path w="21600" h="21600">
                <a:moveTo>
                  <a:pt x="21600" y="10800"/>
                </a:moveTo>
                <a:lnTo>
                  <a:pt x="0" y="21600"/>
                </a:lnTo>
                <a:lnTo>
                  <a:pt x="0" y="0"/>
                </a:lnTo>
                <a:close/>
              </a:path>
            </a:pathLst>
          </a:custGeom>
          <a:solidFill>
            <a:srgbClr val="267549"/>
          </a:solidFill>
          <a:ln>
            <a:noFill/>
          </a:ln>
          <a:effectLst/>
        </p:spPr>
        <p:txBody>
          <a:bodyPr/>
          <a:lstStyle/>
          <a:p/>
        </p:txBody>
      </p:sp>
      <p:sp>
        <p:nvSpPr>
          <p:cNvPr id="139" name="Freeform 139"/>
          <p:cNvSpPr/>
          <p:nvPr/>
        </p:nvSpPr>
        <p:spPr>
          <a:xfrm>
            <a:off x="13253085" y="4410075"/>
            <a:ext cx="87630" cy="95250"/>
          </a:xfrm>
          <a:custGeom>
            <a:avLst/>
            <a:gdLst/>
            <a:ahLst/>
            <a:cxnLst/>
            <a:rect l="l" t="t" r="r" b="b"/>
            <a:pathLst>
              <a:path w="21600" h="21600">
                <a:moveTo>
                  <a:pt x="10800" y="21600"/>
                </a:moveTo>
                <a:lnTo>
                  <a:pt x="0" y="0"/>
                </a:lnTo>
                <a:lnTo>
                  <a:pt x="21600" y="0"/>
                </a:lnTo>
                <a:close/>
              </a:path>
            </a:pathLst>
          </a:custGeom>
          <a:solidFill>
            <a:srgbClr val="31516B"/>
          </a:solidFill>
          <a:ln>
            <a:noFill/>
          </a:ln>
          <a:effectLst/>
        </p:spPr>
        <p:txBody>
          <a:bodyPr/>
          <a:lstStyle/>
          <a:p/>
        </p:txBody>
      </p:sp>
      <p:sp>
        <p:nvSpPr>
          <p:cNvPr id="140" name="Freeform 140"/>
          <p:cNvSpPr/>
          <p:nvPr/>
        </p:nvSpPr>
        <p:spPr>
          <a:xfrm>
            <a:off x="11553825" y="4652010"/>
            <a:ext cx="95250" cy="87630"/>
          </a:xfrm>
          <a:custGeom>
            <a:avLst/>
            <a:gdLst/>
            <a:ahLst/>
            <a:cxnLst/>
            <a:rect l="l" t="t" r="r" b="b"/>
            <a:pathLst>
              <a:path w="21600" h="21600">
                <a:moveTo>
                  <a:pt x="0" y="10800"/>
                </a:moveTo>
                <a:lnTo>
                  <a:pt x="21600" y="0"/>
                </a:lnTo>
                <a:lnTo>
                  <a:pt x="21600" y="21600"/>
                </a:lnTo>
                <a:close/>
              </a:path>
            </a:pathLst>
          </a:custGeom>
          <a:solidFill>
            <a:srgbClr val="31516B"/>
          </a:solidFill>
          <a:ln>
            <a:noFill/>
          </a:ln>
          <a:effectLst/>
        </p:spPr>
        <p:txBody>
          <a:bodyPr/>
          <a:lstStyle/>
          <a:p/>
        </p:txBody>
      </p:sp>
      <p:sp>
        <p:nvSpPr>
          <p:cNvPr id="141" name="Freeform 141"/>
          <p:cNvSpPr/>
          <p:nvPr/>
        </p:nvSpPr>
        <p:spPr>
          <a:xfrm>
            <a:off x="13253085" y="5162550"/>
            <a:ext cx="87630" cy="95250"/>
          </a:xfrm>
          <a:custGeom>
            <a:avLst/>
            <a:gdLst/>
            <a:ahLst/>
            <a:cxnLst/>
            <a:rect l="l" t="t" r="r" b="b"/>
            <a:pathLst>
              <a:path w="21600" h="21600">
                <a:moveTo>
                  <a:pt x="10800" y="21600"/>
                </a:moveTo>
                <a:lnTo>
                  <a:pt x="0" y="0"/>
                </a:lnTo>
                <a:lnTo>
                  <a:pt x="21600" y="0"/>
                </a:lnTo>
                <a:close/>
              </a:path>
            </a:pathLst>
          </a:custGeom>
          <a:solidFill>
            <a:srgbClr val="31516B"/>
          </a:solidFill>
          <a:ln>
            <a:noFill/>
          </a:ln>
          <a:effectLst/>
        </p:spPr>
        <p:txBody>
          <a:bodyPr/>
          <a:lstStyle/>
          <a:p/>
        </p:txBody>
      </p:sp>
      <p:sp>
        <p:nvSpPr>
          <p:cNvPr id="142" name="Freeform 142"/>
          <p:cNvSpPr/>
          <p:nvPr/>
        </p:nvSpPr>
        <p:spPr>
          <a:xfrm>
            <a:off x="7077075" y="7442835"/>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43" name="Freeform 143"/>
          <p:cNvSpPr/>
          <p:nvPr/>
        </p:nvSpPr>
        <p:spPr>
          <a:xfrm>
            <a:off x="7077075" y="7652385"/>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44" name="Freeform 144"/>
          <p:cNvSpPr/>
          <p:nvPr/>
        </p:nvSpPr>
        <p:spPr>
          <a:xfrm>
            <a:off x="9077325" y="7519035"/>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45" name="Freeform 145"/>
          <p:cNvSpPr/>
          <p:nvPr/>
        </p:nvSpPr>
        <p:spPr>
          <a:xfrm>
            <a:off x="11763375" y="8366760"/>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46" name="Freeform 146"/>
          <p:cNvSpPr/>
          <p:nvPr/>
        </p:nvSpPr>
        <p:spPr>
          <a:xfrm>
            <a:off x="12948285" y="8115300"/>
            <a:ext cx="87630" cy="95250"/>
          </a:xfrm>
          <a:custGeom>
            <a:avLst/>
            <a:gdLst/>
            <a:ahLst/>
            <a:cxnLst/>
            <a:rect l="l" t="t" r="r" b="b"/>
            <a:pathLst>
              <a:path w="21600" h="21600">
                <a:moveTo>
                  <a:pt x="10800" y="21600"/>
                </a:moveTo>
                <a:lnTo>
                  <a:pt x="0" y="0"/>
                </a:lnTo>
                <a:lnTo>
                  <a:pt x="21600" y="0"/>
                </a:lnTo>
                <a:close/>
              </a:path>
            </a:pathLst>
          </a:custGeom>
          <a:solidFill>
            <a:srgbClr val="31516B"/>
          </a:solidFill>
          <a:ln>
            <a:noFill/>
          </a:ln>
          <a:effectLst/>
        </p:spPr>
        <p:txBody>
          <a:bodyPr/>
          <a:lstStyle/>
          <a:p/>
        </p:txBody>
      </p:sp>
      <p:sp>
        <p:nvSpPr>
          <p:cNvPr id="147" name="Freeform 147"/>
          <p:cNvSpPr/>
          <p:nvPr/>
        </p:nvSpPr>
        <p:spPr>
          <a:xfrm>
            <a:off x="742950" y="9309735"/>
            <a:ext cx="95250" cy="87630"/>
          </a:xfrm>
          <a:custGeom>
            <a:avLst/>
            <a:gdLst/>
            <a:ahLst/>
            <a:cxnLst/>
            <a:rect l="l" t="t" r="r" b="b"/>
            <a:pathLst>
              <a:path w="21600" h="21600">
                <a:moveTo>
                  <a:pt x="21600" y="10800"/>
                </a:moveTo>
                <a:lnTo>
                  <a:pt x="0" y="21600"/>
                </a:lnTo>
                <a:lnTo>
                  <a:pt x="0" y="0"/>
                </a:lnTo>
                <a:close/>
              </a:path>
            </a:pathLst>
          </a:custGeom>
          <a:solidFill>
            <a:srgbClr val="31516B"/>
          </a:solidFill>
          <a:ln>
            <a:noFill/>
          </a:ln>
          <a:effectLst/>
        </p:spPr>
        <p:txBody>
          <a:bodyPr/>
          <a:lstStyle/>
          <a:p/>
        </p:txBody>
      </p:sp>
      <p:sp>
        <p:nvSpPr>
          <p:cNvPr id="148" name="Freeform 148"/>
          <p:cNvSpPr/>
          <p:nvPr/>
        </p:nvSpPr>
        <p:spPr>
          <a:xfrm>
            <a:off x="3638550" y="9309735"/>
            <a:ext cx="95250" cy="87630"/>
          </a:xfrm>
          <a:custGeom>
            <a:avLst/>
            <a:gdLst/>
            <a:ahLst/>
            <a:cxnLst/>
            <a:rect l="l" t="t" r="r" b="b"/>
            <a:pathLst>
              <a:path w="21600" h="21600">
                <a:moveTo>
                  <a:pt x="21600" y="10800"/>
                </a:moveTo>
                <a:lnTo>
                  <a:pt x="0" y="21600"/>
                </a:lnTo>
                <a:lnTo>
                  <a:pt x="0" y="0"/>
                </a:lnTo>
                <a:close/>
              </a:path>
            </a:pathLst>
          </a:custGeom>
          <a:solidFill>
            <a:srgbClr val="BF8007"/>
          </a:solidFill>
          <a:ln>
            <a:noFill/>
          </a:ln>
          <a:effectLst/>
        </p:spPr>
        <p:txBody>
          <a:bodyPr/>
          <a:lstStyle/>
          <a:p/>
        </p:txBody>
      </p:sp>
      <p:sp>
        <p:nvSpPr>
          <p:cNvPr id="149" name="TextBox 149"/>
          <p:cNvSpPr txBox="1"/>
          <p:nvPr/>
        </p:nvSpPr>
        <p:spPr>
          <a:xfrm>
            <a:off x="247650" y="142875"/>
            <a:ext cx="8953500" cy="371475"/>
          </a:xfrm>
          <a:prstGeom prst="rect">
            <a:avLst/>
          </a:prstGeom>
          <a:noFill/>
          <a:ln>
            <a:noFill/>
          </a:ln>
          <a:effectLst/>
        </p:spPr>
        <p:txBody>
          <a:bodyPr wrap="none" anchor="ctr" lIns="0" tIns="0" rIns="0" bIns="0">
            <a:noAutofit/>
          </a:bodyPr>
          <a:lstStyle/>
          <a:p>
            <a:pPr algn="l"/>
            <a:r>
              <a:rPr lang="zh-CN" sz="2550" b="1">
                <a:solidFill>
                  <a:srgbClr val="17212B"/>
                </a:solidFill>
                <a:latin typeface="Arial Narrow"/>
                <a:ea typeface="Arial Narrow"/>
                <a:cs typeface="Arial Narrow"/>
              </a:rPr>
              <a:t>(a) Criterion generation</a:t>
            </a:r>
            <a:endParaRPr lang="zh-CN" sz="2550"/>
          </a:p>
        </p:txBody>
      </p:sp>
      <p:sp>
        <p:nvSpPr>
          <p:cNvPr id="150" name="TextBox 150"/>
          <p:cNvSpPr txBox="1"/>
          <p:nvPr/>
        </p:nvSpPr>
        <p:spPr>
          <a:xfrm>
            <a:off x="9572625" y="142875"/>
            <a:ext cx="4810125" cy="371475"/>
          </a:xfrm>
          <a:prstGeom prst="rect">
            <a:avLst/>
          </a:prstGeom>
          <a:noFill/>
          <a:ln>
            <a:noFill/>
          </a:ln>
          <a:effectLst/>
        </p:spPr>
        <p:txBody>
          <a:bodyPr wrap="none" anchor="ctr" lIns="0" tIns="0" rIns="0" bIns="0">
            <a:noAutofit/>
          </a:bodyPr>
          <a:lstStyle/>
          <a:p>
            <a:pPr algn="l"/>
            <a:r>
              <a:rPr lang="zh-CN" sz="2550" b="1">
                <a:solidFill>
                  <a:srgbClr val="17212B"/>
                </a:solidFill>
                <a:latin typeface="Arial Narrow"/>
                <a:ea typeface="Arial Narrow"/>
                <a:cs typeface="Arial Narrow"/>
              </a:rPr>
              <a:t>(b) Eligibility and prioritization</a:t>
            </a:r>
            <a:endParaRPr lang="zh-CN" sz="2550"/>
          </a:p>
        </p:txBody>
      </p:sp>
      <p:sp>
        <p:nvSpPr>
          <p:cNvPr id="151" name="TextBox 151"/>
          <p:cNvSpPr txBox="1"/>
          <p:nvPr/>
        </p:nvSpPr>
        <p:spPr>
          <a:xfrm>
            <a:off x="247650" y="5876925"/>
            <a:ext cx="14135100" cy="371475"/>
          </a:xfrm>
          <a:prstGeom prst="rect">
            <a:avLst/>
          </a:prstGeom>
          <a:noFill/>
          <a:ln>
            <a:noFill/>
          </a:ln>
          <a:effectLst/>
        </p:spPr>
        <p:txBody>
          <a:bodyPr wrap="none" anchor="ctr" lIns="0" tIns="0" rIns="0" bIns="0">
            <a:noAutofit/>
          </a:bodyPr>
          <a:lstStyle/>
          <a:p>
            <a:pPr algn="l"/>
            <a:r>
              <a:rPr lang="zh-CN" sz="2550" b="1">
                <a:solidFill>
                  <a:srgbClr val="17212B"/>
                </a:solidFill>
                <a:latin typeface="Arial Narrow"/>
                <a:ea typeface="Arial Narrow"/>
                <a:cs typeface="Arial Narrow"/>
              </a:rPr>
              <a:t>(c) Recorded example: molecular weight</a:t>
            </a:r>
            <a:endParaRPr lang="zh-CN" sz="2550"/>
          </a:p>
        </p:txBody>
      </p:sp>
      <p:sp>
        <p:nvSpPr>
          <p:cNvPr id="152" name="TextBox 152"/>
          <p:cNvSpPr txBox="1"/>
          <p:nvPr/>
        </p:nvSpPr>
        <p:spPr>
          <a:xfrm>
            <a:off x="285750" y="1066800"/>
            <a:ext cx="1333500" cy="219075"/>
          </a:xfrm>
          <a:prstGeom prst="rect">
            <a:avLst/>
          </a:prstGeom>
          <a:noFill/>
          <a:ln>
            <a:noFill/>
          </a:ln>
          <a:effectLst/>
        </p:spPr>
        <p:txBody>
          <a:bodyPr wrap="none" anchor="ctr" lIns="0" tIns="0" rIns="0" bIns="0">
            <a:noAutofit/>
          </a:bodyPr>
          <a:lstStyle/>
          <a:p>
            <a:pPr algn="l"/>
            <a:r>
              <a:rPr lang="zh-CN" sz="1075">
                <a:solidFill>
                  <a:srgbClr val="68737D"/>
                </a:solidFill>
                <a:latin typeface="Arial Narrow"/>
                <a:ea typeface="Arial Narrow"/>
                <a:cs typeface="Arial Narrow"/>
              </a:rPr>
              <a:t>Recorded task example</a:t>
            </a:r>
          </a:p>
        </p:txBody>
      </p:sp>
      <p:sp>
        <p:nvSpPr>
          <p:cNvPr id="153" name="TextBox 153"/>
          <p:cNvSpPr txBox="1"/>
          <p:nvPr/>
        </p:nvSpPr>
        <p:spPr>
          <a:xfrm>
            <a:off x="381000" y="1466850"/>
            <a:ext cx="1114425" cy="238125"/>
          </a:xfrm>
          <a:prstGeom prst="rect">
            <a:avLst/>
          </a:prstGeom>
          <a:noFill/>
          <a:ln>
            <a:noFill/>
          </a:ln>
          <a:effectLst/>
        </p:spPr>
        <p:txBody>
          <a:bodyPr wrap="none" anchor="ctr" lIns="0" tIns="0" rIns="0" bIns="0">
            <a:noAutofit/>
          </a:bodyPr>
          <a:lstStyle/>
          <a:p>
            <a:pPr algn="l"/>
            <a:r>
              <a:rPr lang="zh-CN" sz="1375" b="1">
                <a:solidFill>
                  <a:srgbClr val="17212B"/>
                </a:solidFill>
                <a:latin typeface="Arial Narrow"/>
                <a:ea typeface="Arial Narrow"/>
                <a:cs typeface="Arial Narrow"/>
              </a:rPr>
              <a:t>Research goal</a:t>
            </a:r>
            <a:endParaRPr lang="zh-CN" sz="1375"/>
          </a:p>
        </p:txBody>
      </p:sp>
      <p:sp>
        <p:nvSpPr>
          <p:cNvPr id="154" name="TextBox 154"/>
          <p:cNvSpPr txBox="1"/>
          <p:nvPr/>
        </p:nvSpPr>
        <p:spPr>
          <a:xfrm>
            <a:off x="381000" y="1790700"/>
            <a:ext cx="1162050" cy="590550"/>
          </a:xfrm>
          <a:prstGeom prst="rect">
            <a:avLst/>
          </a:prstGeom>
          <a:noFill/>
          <a:ln>
            <a:noFill/>
          </a:ln>
          <a:effectLst/>
        </p:spPr>
        <p:txBody>
          <a:bodyPr wrap="none" anchor="ctr" lIns="0" tIns="0" rIns="0" bIns="0">
            <a:noAutofit/>
          </a:bodyPr>
          <a:lstStyle/>
          <a:p>
            <a:pPr algn="l"/>
            <a:r>
              <a:rPr lang="zh-CN" sz="1075">
                <a:solidFill>
                  <a:srgbClr val="17212B"/>
                </a:solidFill>
                <a:latin typeface="Arial Narrow"/>
                <a:ea typeface="Arial Narrow"/>
                <a:cs typeface="Arial Narrow"/>
              </a:rPr>
              <a:t>CSF1R, FGFR1</a:t>
            </a:r>
            <a:endParaRPr lang="zh-CN" sz="1075"/>
          </a:p>
          <a:p>
            <a:pPr algn="l"/>
            <a:r>
              <a:rPr lang="zh-CN" sz="1075">
                <a:solidFill>
                  <a:srgbClr val="17212B"/>
                </a:solidFill>
                <a:latin typeface="Arial Narrow"/>
                <a:ea typeface="Arial Narrow"/>
                <a:cs typeface="Arial Narrow"/>
              </a:rPr>
              <a:t>VEGFR1/2/3</a:t>
            </a:r>
            <a:endParaRPr lang="zh-CN" sz="1075"/>
          </a:p>
          <a:p>
            <a:pPr algn="l"/>
            <a:r>
              <a:rPr lang="zh-CN" sz="1075">
                <a:solidFill>
                  <a:srgbClr val="17212B"/>
                </a:solidFill>
                <a:latin typeface="Arial Narrow"/>
                <a:ea typeface="Arial Narrow"/>
                <a:cs typeface="Arial Narrow"/>
              </a:rPr>
              <a:t>Oral administration</a:t>
            </a:r>
            <a:endParaRPr lang="zh-CN" sz="1075"/>
          </a:p>
        </p:txBody>
      </p:sp>
      <p:sp>
        <p:nvSpPr>
          <p:cNvPr id="155" name="TextBox 155"/>
          <p:cNvSpPr txBox="1"/>
          <p:nvPr/>
        </p:nvSpPr>
        <p:spPr>
          <a:xfrm>
            <a:off x="381000" y="2876550"/>
            <a:ext cx="1143000" cy="238125"/>
          </a:xfrm>
          <a:prstGeom prst="rect">
            <a:avLst/>
          </a:prstGeom>
          <a:noFill/>
          <a:ln>
            <a:noFill/>
          </a:ln>
          <a:effectLst/>
        </p:spPr>
        <p:txBody>
          <a:bodyPr wrap="none" anchor="ctr" lIns="0" tIns="0" rIns="0" bIns="0">
            <a:noAutofit/>
          </a:bodyPr>
          <a:lstStyle/>
          <a:p>
            <a:pPr algn="l"/>
            <a:r>
              <a:rPr lang="zh-CN" sz="1375" b="1">
                <a:solidFill>
                  <a:srgbClr val="17212B"/>
                </a:solidFill>
                <a:latin typeface="Arial Narrow"/>
                <a:ea typeface="Arial Narrow"/>
                <a:cs typeface="Arial Narrow"/>
              </a:rPr>
              <a:t>Source findings</a:t>
            </a:r>
            <a:endParaRPr lang="zh-CN" sz="1375"/>
          </a:p>
        </p:txBody>
      </p:sp>
      <p:sp>
        <p:nvSpPr>
          <p:cNvPr id="156" name="TextBox 156"/>
          <p:cNvSpPr txBox="1"/>
          <p:nvPr/>
        </p:nvSpPr>
        <p:spPr>
          <a:xfrm>
            <a:off x="381000" y="3171825"/>
            <a:ext cx="1143000" cy="390525"/>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Conditions, units</a:t>
            </a:r>
            <a:endParaRPr lang="zh-CN" sz="1300"/>
          </a:p>
          <a:p>
            <a:pPr algn="l"/>
            <a:r>
              <a:rPr lang="zh-CN" sz="1300">
                <a:solidFill>
                  <a:srgbClr val="17212B"/>
                </a:solidFill>
                <a:latin typeface="Arial Narrow"/>
                <a:ea typeface="Arial Narrow"/>
                <a:cs typeface="Arial Narrow"/>
              </a:rPr>
              <a:t>and sources</a:t>
            </a:r>
            <a:endParaRPr lang="zh-CN" sz="1300"/>
          </a:p>
        </p:txBody>
      </p:sp>
      <p:sp>
        <p:nvSpPr>
          <p:cNvPr id="157" name="TextBox 157"/>
          <p:cNvSpPr txBox="1"/>
          <p:nvPr/>
        </p:nvSpPr>
        <p:spPr>
          <a:xfrm>
            <a:off x="2114550" y="1038225"/>
            <a:ext cx="1552575" cy="266700"/>
          </a:xfrm>
          <a:prstGeom prst="rect">
            <a:avLst/>
          </a:prstGeom>
          <a:noFill/>
          <a:ln>
            <a:noFill/>
          </a:ln>
          <a:effectLst/>
        </p:spPr>
        <p:txBody>
          <a:bodyPr wrap="none" anchor="ctr" lIns="0" tIns="0" rIns="0" bIns="0">
            <a:noAutofit/>
          </a:bodyPr>
          <a:lstStyle/>
          <a:p>
            <a:pPr algn="ctr"/>
            <a:r>
              <a:rPr lang="zh-CN" sz="1300">
                <a:solidFill>
                  <a:srgbClr val="17212B"/>
                </a:solidFill>
                <a:latin typeface="Arial Narrow"/>
                <a:ea typeface="Arial Narrow"/>
                <a:cs typeface="Arial Narrow"/>
              </a:rPr>
              <a:t>Start with 0 criteria</a:t>
            </a:r>
            <a:endParaRPr lang="zh-CN" sz="1300"/>
          </a:p>
        </p:txBody>
      </p:sp>
      <p:sp>
        <p:nvSpPr>
          <p:cNvPr id="158" name="TextBox 158"/>
          <p:cNvSpPr txBox="1"/>
          <p:nvPr/>
        </p:nvSpPr>
        <p:spPr>
          <a:xfrm>
            <a:off x="2162175" y="2238375"/>
            <a:ext cx="866775" cy="238125"/>
          </a:xfrm>
          <a:prstGeom prst="rect">
            <a:avLst/>
          </a:prstGeom>
          <a:noFill/>
          <a:ln>
            <a:noFill/>
          </a:ln>
          <a:effectLst/>
        </p:spPr>
        <p:txBody>
          <a:bodyPr wrap="none" anchor="ctr" lIns="0" tIns="0" rIns="0" bIns="0">
            <a:noAutofit/>
          </a:bodyPr>
          <a:lstStyle/>
          <a:p>
            <a:pPr algn="ctr"/>
            <a:r>
              <a:rPr lang="zh-CN" sz="1500" b="1">
                <a:solidFill>
                  <a:srgbClr val="17212B"/>
                </a:solidFill>
                <a:latin typeface="Arial Narrow"/>
                <a:ea typeface="Arial Narrow"/>
                <a:cs typeface="Arial Narrow"/>
              </a:rPr>
              <a:t>Proposer</a:t>
            </a:r>
            <a:endParaRPr lang="zh-CN" sz="1500"/>
          </a:p>
        </p:txBody>
      </p:sp>
      <p:sp>
        <p:nvSpPr>
          <p:cNvPr id="159" name="TextBox 159"/>
          <p:cNvSpPr txBox="1"/>
          <p:nvPr/>
        </p:nvSpPr>
        <p:spPr>
          <a:xfrm>
            <a:off x="2162175" y="2505075"/>
            <a:ext cx="866775" cy="352425"/>
          </a:xfrm>
          <a:prstGeom prst="rect">
            <a:avLst/>
          </a:prstGeom>
          <a:noFill/>
          <a:ln>
            <a:noFill/>
          </a:ln>
          <a:effectLst/>
        </p:spPr>
        <p:txBody>
          <a:bodyPr wrap="none" anchor="ctr" lIns="0" tIns="0" rIns="0" bIns="0">
            <a:noAutofit/>
          </a:bodyPr>
          <a:lstStyle/>
          <a:p>
            <a:pPr algn="ctr"/>
            <a:r>
              <a:rPr lang="zh-CN" sz="1100">
                <a:solidFill>
                  <a:srgbClr val="17212B"/>
                </a:solidFill>
                <a:latin typeface="Arial Narrow"/>
                <a:ea typeface="Arial Narrow"/>
                <a:cs typeface="Arial Narrow"/>
              </a:rPr>
              <a:t>Propose and</a:t>
            </a:r>
            <a:endParaRPr lang="zh-CN" sz="1100"/>
          </a:p>
          <a:p>
            <a:pPr algn="ctr"/>
            <a:r>
              <a:rPr lang="zh-CN" sz="1100">
                <a:solidFill>
                  <a:srgbClr val="17212B"/>
                </a:solidFill>
                <a:latin typeface="Arial Narrow"/>
                <a:ea typeface="Arial Narrow"/>
                <a:cs typeface="Arial Narrow"/>
              </a:rPr>
              <a:t>revise</a:t>
            </a:r>
            <a:endParaRPr lang="zh-CN" sz="1100"/>
          </a:p>
        </p:txBody>
      </p:sp>
      <p:sp>
        <p:nvSpPr>
          <p:cNvPr id="160" name="TextBox 160"/>
          <p:cNvSpPr txBox="1"/>
          <p:nvPr/>
        </p:nvSpPr>
        <p:spPr>
          <a:xfrm>
            <a:off x="3448050" y="1609725"/>
            <a:ext cx="857250" cy="409575"/>
          </a:xfrm>
          <a:prstGeom prst="rect">
            <a:avLst/>
          </a:prstGeom>
          <a:noFill/>
          <a:ln>
            <a:noFill/>
          </a:ln>
          <a:effectLst/>
        </p:spPr>
        <p:txBody>
          <a:bodyPr wrap="none" anchor="ctr" lIns="0" tIns="0" rIns="0" bIns="0">
            <a:noAutofit/>
          </a:bodyPr>
          <a:lstStyle/>
          <a:p>
            <a:pPr algn="l"/>
            <a:r>
              <a:rPr lang="zh-CN" sz="1375" b="1">
                <a:solidFill>
                  <a:srgbClr val="17212B"/>
                </a:solidFill>
                <a:latin typeface="Arial Narrow"/>
                <a:ea typeface="Arial Narrow"/>
                <a:cs typeface="Arial Narrow"/>
              </a:rPr>
              <a:t>Criterion</a:t>
            </a:r>
            <a:endParaRPr lang="zh-CN" sz="1375"/>
          </a:p>
          <a:p>
            <a:pPr algn="l"/>
            <a:r>
              <a:rPr lang="zh-CN" sz="1375" b="1">
                <a:solidFill>
                  <a:srgbClr val="17212B"/>
                </a:solidFill>
                <a:latin typeface="Arial Narrow"/>
                <a:ea typeface="Arial Narrow"/>
                <a:cs typeface="Arial Narrow"/>
              </a:rPr>
              <a:t>proposals</a:t>
            </a:r>
            <a:endParaRPr lang="zh-CN" sz="1375"/>
          </a:p>
        </p:txBody>
      </p:sp>
      <p:sp>
        <p:nvSpPr>
          <p:cNvPr id="161" name="TextBox 161"/>
          <p:cNvSpPr txBox="1"/>
          <p:nvPr/>
        </p:nvSpPr>
        <p:spPr>
          <a:xfrm>
            <a:off x="3486150" y="2105025"/>
            <a:ext cx="857250" cy="228600"/>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Measure</a:t>
            </a:r>
            <a:endParaRPr lang="zh-CN" sz="1300"/>
          </a:p>
        </p:txBody>
      </p:sp>
      <p:sp>
        <p:nvSpPr>
          <p:cNvPr id="162" name="TextBox 162"/>
          <p:cNvSpPr txBox="1"/>
          <p:nvPr/>
        </p:nvSpPr>
        <p:spPr>
          <a:xfrm>
            <a:off x="3486150" y="2381250"/>
            <a:ext cx="857250" cy="228600"/>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Unit</a:t>
            </a:r>
            <a:endParaRPr lang="zh-CN" sz="1300"/>
          </a:p>
        </p:txBody>
      </p:sp>
      <p:sp>
        <p:nvSpPr>
          <p:cNvPr id="163" name="TextBox 163"/>
          <p:cNvSpPr txBox="1"/>
          <p:nvPr/>
        </p:nvSpPr>
        <p:spPr>
          <a:xfrm>
            <a:off x="3486150" y="2657475"/>
            <a:ext cx="857250" cy="228600"/>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Scope</a:t>
            </a:r>
            <a:endParaRPr lang="zh-CN" sz="1300"/>
          </a:p>
        </p:txBody>
      </p:sp>
      <p:sp>
        <p:nvSpPr>
          <p:cNvPr id="164" name="TextBox 164"/>
          <p:cNvSpPr txBox="1"/>
          <p:nvPr/>
        </p:nvSpPr>
        <p:spPr>
          <a:xfrm>
            <a:off x="3486150" y="2933700"/>
            <a:ext cx="857250" cy="228600"/>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Source</a:t>
            </a:r>
            <a:endParaRPr lang="zh-CN" sz="1300"/>
          </a:p>
        </p:txBody>
      </p:sp>
      <p:sp>
        <p:nvSpPr>
          <p:cNvPr id="165" name="TextBox 165"/>
          <p:cNvSpPr txBox="1"/>
          <p:nvPr/>
        </p:nvSpPr>
        <p:spPr>
          <a:xfrm>
            <a:off x="3486150" y="3209925"/>
            <a:ext cx="857250" cy="228600"/>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Decision role</a:t>
            </a:r>
            <a:endParaRPr lang="zh-CN" sz="1300"/>
          </a:p>
        </p:txBody>
      </p:sp>
      <p:sp>
        <p:nvSpPr>
          <p:cNvPr id="166" name="TextBox 166"/>
          <p:cNvSpPr txBox="1"/>
          <p:nvPr/>
        </p:nvSpPr>
        <p:spPr>
          <a:xfrm>
            <a:off x="4752975" y="2238375"/>
            <a:ext cx="771525" cy="238125"/>
          </a:xfrm>
          <a:prstGeom prst="rect">
            <a:avLst/>
          </a:prstGeom>
          <a:noFill/>
          <a:ln>
            <a:noFill/>
          </a:ln>
          <a:effectLst/>
        </p:spPr>
        <p:txBody>
          <a:bodyPr wrap="none" anchor="ctr" lIns="0" tIns="0" rIns="0" bIns="0">
            <a:noAutofit/>
          </a:bodyPr>
          <a:lstStyle/>
          <a:p>
            <a:pPr algn="ctr"/>
            <a:r>
              <a:rPr lang="zh-CN" sz="1500" b="1">
                <a:solidFill>
                  <a:srgbClr val="17212B"/>
                </a:solidFill>
                <a:latin typeface="Arial Narrow"/>
                <a:ea typeface="Arial Narrow"/>
                <a:cs typeface="Arial Narrow"/>
              </a:rPr>
              <a:t>Critic</a:t>
            </a:r>
            <a:endParaRPr lang="zh-CN" sz="1500"/>
          </a:p>
        </p:txBody>
      </p:sp>
      <p:sp>
        <p:nvSpPr>
          <p:cNvPr id="167" name="TextBox 167"/>
          <p:cNvSpPr txBox="1"/>
          <p:nvPr/>
        </p:nvSpPr>
        <p:spPr>
          <a:xfrm>
            <a:off x="4752975" y="2524125"/>
            <a:ext cx="771525" cy="333375"/>
          </a:xfrm>
          <a:prstGeom prst="rect">
            <a:avLst/>
          </a:prstGeom>
          <a:noFill/>
          <a:ln>
            <a:noFill/>
          </a:ln>
          <a:effectLst/>
        </p:spPr>
        <p:txBody>
          <a:bodyPr wrap="none" anchor="ctr" lIns="0" tIns="0" rIns="0" bIns="0">
            <a:noAutofit/>
          </a:bodyPr>
          <a:lstStyle/>
          <a:p>
            <a:pPr algn="ctr"/>
            <a:r>
              <a:rPr lang="zh-CN" sz="1100">
                <a:solidFill>
                  <a:srgbClr val="17212B"/>
                </a:solidFill>
                <a:latin typeface="Arial Narrow"/>
                <a:ea typeface="Arial Narrow"/>
                <a:cs typeface="Arial Narrow"/>
              </a:rPr>
              <a:t>Check support</a:t>
            </a:r>
            <a:endParaRPr lang="zh-CN" sz="1100"/>
          </a:p>
          <a:p>
            <a:pPr algn="ctr"/>
            <a:r>
              <a:rPr lang="zh-CN" sz="1100">
                <a:solidFill>
                  <a:srgbClr val="17212B"/>
                </a:solidFill>
                <a:latin typeface="Arial Narrow"/>
                <a:ea typeface="Arial Narrow"/>
                <a:cs typeface="Arial Narrow"/>
              </a:rPr>
              <a:t>and relevance</a:t>
            </a:r>
            <a:endParaRPr lang="zh-CN" sz="1100"/>
          </a:p>
        </p:txBody>
      </p:sp>
      <p:sp>
        <p:nvSpPr>
          <p:cNvPr id="168" name="TextBox 168"/>
          <p:cNvSpPr txBox="1"/>
          <p:nvPr/>
        </p:nvSpPr>
        <p:spPr>
          <a:xfrm>
            <a:off x="5915025" y="2238375"/>
            <a:ext cx="971550" cy="238125"/>
          </a:xfrm>
          <a:prstGeom prst="rect">
            <a:avLst/>
          </a:prstGeom>
          <a:noFill/>
          <a:ln>
            <a:noFill/>
          </a:ln>
          <a:effectLst/>
        </p:spPr>
        <p:txBody>
          <a:bodyPr wrap="none" anchor="ctr" lIns="0" tIns="0" rIns="0" bIns="0">
            <a:noAutofit/>
          </a:bodyPr>
          <a:lstStyle/>
          <a:p>
            <a:pPr algn="ctr"/>
            <a:r>
              <a:rPr lang="zh-CN" sz="1500" b="1">
                <a:solidFill>
                  <a:srgbClr val="17212B"/>
                </a:solidFill>
                <a:latin typeface="Arial Narrow"/>
                <a:ea typeface="Arial Narrow"/>
                <a:cs typeface="Arial Narrow"/>
              </a:rPr>
              <a:t>Adjudicator</a:t>
            </a:r>
            <a:endParaRPr lang="zh-CN" sz="1500"/>
          </a:p>
        </p:txBody>
      </p:sp>
      <p:sp>
        <p:nvSpPr>
          <p:cNvPr id="169" name="TextBox 169"/>
          <p:cNvSpPr txBox="1"/>
          <p:nvPr/>
        </p:nvSpPr>
        <p:spPr>
          <a:xfrm>
            <a:off x="5915025" y="2524125"/>
            <a:ext cx="971550" cy="333375"/>
          </a:xfrm>
          <a:prstGeom prst="rect">
            <a:avLst/>
          </a:prstGeom>
          <a:noFill/>
          <a:ln>
            <a:noFill/>
          </a:ln>
          <a:effectLst/>
        </p:spPr>
        <p:txBody>
          <a:bodyPr wrap="none" anchor="ctr" lIns="0" tIns="0" rIns="0" bIns="0">
            <a:noAutofit/>
          </a:bodyPr>
          <a:lstStyle/>
          <a:p>
            <a:pPr algn="ctr"/>
            <a:r>
              <a:rPr lang="zh-CN" sz="1100">
                <a:solidFill>
                  <a:srgbClr val="17212B"/>
                </a:solidFill>
                <a:latin typeface="Arial Narrow"/>
                <a:ea typeface="Arial Narrow"/>
                <a:cs typeface="Arial Narrow"/>
              </a:rPr>
              <a:t>Merge or keep</a:t>
            </a:r>
            <a:endParaRPr lang="zh-CN" sz="1100"/>
          </a:p>
          <a:p>
            <a:pPr algn="ctr"/>
            <a:r>
              <a:rPr lang="zh-CN" sz="1100">
                <a:solidFill>
                  <a:srgbClr val="17212B"/>
                </a:solidFill>
                <a:latin typeface="Arial Narrow"/>
                <a:ea typeface="Arial Narrow"/>
                <a:cs typeface="Arial Narrow"/>
              </a:rPr>
              <a:t>distinct</a:t>
            </a:r>
            <a:endParaRPr lang="zh-CN" sz="1100"/>
          </a:p>
        </p:txBody>
      </p:sp>
      <p:sp>
        <p:nvSpPr>
          <p:cNvPr id="170" name="TextBox 170"/>
          <p:cNvSpPr txBox="1"/>
          <p:nvPr/>
        </p:nvSpPr>
        <p:spPr>
          <a:xfrm>
            <a:off x="7172325" y="2333625"/>
            <a:ext cx="638175" cy="371475"/>
          </a:xfrm>
          <a:prstGeom prst="rect">
            <a:avLst/>
          </a:prstGeom>
          <a:noFill/>
          <a:ln>
            <a:noFill/>
          </a:ln>
          <a:effectLst/>
        </p:spPr>
        <p:txBody>
          <a:bodyPr wrap="none" anchor="ctr" lIns="0" tIns="0" rIns="0" bIns="0">
            <a:noAutofit/>
          </a:bodyPr>
          <a:lstStyle/>
          <a:p>
            <a:pPr algn="ctr"/>
            <a:r>
              <a:rPr lang="zh-CN" sz="1075" b="1">
                <a:solidFill>
                  <a:srgbClr val="17212B"/>
                </a:solidFill>
                <a:latin typeface="Arial Narrow"/>
                <a:ea typeface="Arial Narrow"/>
                <a:cs typeface="Arial Narrow"/>
              </a:rPr>
              <a:t>Source and</a:t>
            </a:r>
            <a:endParaRPr lang="zh-CN" sz="1075"/>
          </a:p>
          <a:p>
            <a:pPr algn="ctr"/>
            <a:r>
              <a:rPr lang="zh-CN" sz="1075" b="1">
                <a:solidFill>
                  <a:srgbClr val="17212B"/>
                </a:solidFill>
                <a:latin typeface="Arial Narrow"/>
                <a:ea typeface="Arial Narrow"/>
                <a:cs typeface="Arial Narrow"/>
              </a:rPr>
              <a:t>rule checks</a:t>
            </a:r>
            <a:endParaRPr lang="zh-CN" sz="1075"/>
          </a:p>
        </p:txBody>
      </p:sp>
      <p:sp>
        <p:nvSpPr>
          <p:cNvPr id="171" name="TextBox 171"/>
          <p:cNvSpPr txBox="1"/>
          <p:nvPr/>
        </p:nvSpPr>
        <p:spPr>
          <a:xfrm>
            <a:off x="6210300" y="3352800"/>
            <a:ext cx="1590675" cy="238125"/>
          </a:xfrm>
          <a:prstGeom prst="rect">
            <a:avLst/>
          </a:prstGeom>
          <a:noFill/>
          <a:ln>
            <a:noFill/>
          </a:ln>
          <a:effectLst/>
        </p:spPr>
        <p:txBody>
          <a:bodyPr wrap="none" anchor="ctr" lIns="0" tIns="0" rIns="0" bIns="0">
            <a:noAutofit/>
          </a:bodyPr>
          <a:lstStyle/>
          <a:p>
            <a:pPr algn="ctr"/>
            <a:r>
              <a:rPr lang="zh-CN" sz="1375" b="1">
                <a:solidFill>
                  <a:srgbClr val="17212B"/>
                </a:solidFill>
                <a:latin typeface="Arial Narrow"/>
                <a:ea typeface="Arial Narrow"/>
                <a:cs typeface="Arial Narrow"/>
              </a:rPr>
              <a:t>Not used (22)</a:t>
            </a:r>
          </a:p>
        </p:txBody>
      </p:sp>
      <p:sp>
        <p:nvSpPr>
          <p:cNvPr id="172" name="TextBox 172"/>
          <p:cNvSpPr txBox="1"/>
          <p:nvPr/>
        </p:nvSpPr>
        <p:spPr>
          <a:xfrm>
            <a:off x="6229350" y="3619500"/>
            <a:ext cx="1552575" cy="504825"/>
          </a:xfrm>
          <a:prstGeom prst="rect">
            <a:avLst/>
          </a:prstGeom>
          <a:noFill/>
          <a:ln>
            <a:noFill/>
          </a:ln>
          <a:effectLst/>
        </p:spPr>
        <p:txBody>
          <a:bodyPr wrap="none" anchor="ctr" lIns="0" tIns="0" rIns="0" bIns="0">
            <a:noAutofit/>
          </a:bodyPr>
          <a:lstStyle/>
          <a:p>
            <a:pPr algn="l"/>
            <a:r>
              <a:rPr lang="zh-CN" sz="1075">
                <a:solidFill>
                  <a:srgbClr val="17212B"/>
                </a:solidFill>
                <a:latin typeface="Arial Narrow"/>
                <a:ea typeface="Arial Narrow"/>
                <a:cs typeface="Arial Narrow"/>
              </a:rPr>
              <a:t>9 incomplete scoring rules</a:t>
            </a:r>
            <a:endParaRPr lang="zh-CN" sz="1075"/>
          </a:p>
          <a:p>
            <a:pPr algn="l"/>
            <a:r>
              <a:rPr lang="zh-CN" sz="1075">
                <a:solidFill>
                  <a:srgbClr val="17212B"/>
                </a:solidFill>
                <a:latin typeface="Arial Narrow"/>
                <a:ea typeface="Arial Narrow"/>
                <a:cs typeface="Arial Narrow"/>
              </a:rPr>
              <a:t>5 unresolved reviews</a:t>
            </a:r>
            <a:endParaRPr lang="zh-CN" sz="1075"/>
          </a:p>
          <a:p>
            <a:pPr algn="l"/>
            <a:r>
              <a:rPr lang="zh-CN" sz="1075">
                <a:solidFill>
                  <a:srgbClr val="17212B"/>
                </a:solidFill>
                <a:latin typeface="Arial Narrow"/>
                <a:ea typeface="Arial Narrow"/>
                <a:cs typeface="Arial Narrow"/>
              </a:rPr>
              <a:t>8 unfinalized proposals</a:t>
            </a:r>
            <a:endParaRPr lang="zh-CN" sz="1075"/>
          </a:p>
        </p:txBody>
      </p:sp>
      <p:sp>
        <p:nvSpPr>
          <p:cNvPr id="173" name="TextBox 173"/>
          <p:cNvSpPr txBox="1"/>
          <p:nvPr/>
        </p:nvSpPr>
        <p:spPr>
          <a:xfrm>
            <a:off x="8153400" y="1619250"/>
            <a:ext cx="1057275" cy="238125"/>
          </a:xfrm>
          <a:prstGeom prst="rect">
            <a:avLst/>
          </a:prstGeom>
          <a:noFill/>
          <a:ln>
            <a:noFill/>
          </a:ln>
          <a:effectLst/>
        </p:spPr>
        <p:txBody>
          <a:bodyPr wrap="none" anchor="ctr" lIns="0" tIns="0" rIns="0" bIns="0">
            <a:noAutofit/>
          </a:bodyPr>
          <a:lstStyle/>
          <a:p>
            <a:pPr algn="l"/>
            <a:r>
              <a:rPr lang="zh-CN" sz="1375" b="1">
                <a:solidFill>
                  <a:srgbClr val="17212B"/>
                </a:solidFill>
                <a:latin typeface="Arial Narrow"/>
                <a:ea typeface="Arial Narrow"/>
                <a:cs typeface="Arial Narrow"/>
              </a:rPr>
              <a:t>Final criteria</a:t>
            </a:r>
            <a:endParaRPr lang="zh-CN" sz="1375"/>
          </a:p>
        </p:txBody>
      </p:sp>
      <p:sp>
        <p:nvSpPr>
          <p:cNvPr id="174" name="TextBox 174"/>
          <p:cNvSpPr txBox="1"/>
          <p:nvPr/>
        </p:nvSpPr>
        <p:spPr>
          <a:xfrm>
            <a:off x="8172450" y="2000250"/>
            <a:ext cx="1028700" cy="419100"/>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Condition</a:t>
            </a:r>
          </a:p>
          <a:p>
            <a:pPr algn="l"/>
            <a:r>
              <a:rPr lang="zh-CN" sz="1300">
                <a:solidFill>
                  <a:srgbClr val="17212B"/>
                </a:solidFill>
                <a:latin typeface="Arial Narrow"/>
                <a:ea typeface="Arial Narrow"/>
                <a:cs typeface="Arial Narrow"/>
              </a:rPr>
              <a:t>requirement (1)</a:t>
            </a:r>
          </a:p>
        </p:txBody>
      </p:sp>
      <p:sp>
        <p:nvSpPr>
          <p:cNvPr id="175" name="TextBox 175"/>
          <p:cNvSpPr txBox="1"/>
          <p:nvPr/>
        </p:nvSpPr>
        <p:spPr>
          <a:xfrm>
            <a:off x="8229600" y="2571750"/>
            <a:ext cx="933450" cy="390525"/>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Prioritization</a:t>
            </a:r>
            <a:endParaRPr lang="zh-CN" sz="1300"/>
          </a:p>
          <a:p>
            <a:pPr algn="l"/>
            <a:r>
              <a:rPr lang="zh-CN" sz="1300">
                <a:solidFill>
                  <a:srgbClr val="17212B"/>
                </a:solidFill>
                <a:latin typeface="Arial Narrow"/>
                <a:ea typeface="Arial Narrow"/>
                <a:cs typeface="Arial Narrow"/>
              </a:rPr>
              <a:t>criteria (17)</a:t>
            </a:r>
            <a:endParaRPr lang="zh-CN" sz="1300"/>
          </a:p>
        </p:txBody>
      </p:sp>
      <p:sp>
        <p:nvSpPr>
          <p:cNvPr id="176" name="TextBox 176"/>
          <p:cNvSpPr txBox="1"/>
          <p:nvPr/>
        </p:nvSpPr>
        <p:spPr>
          <a:xfrm>
            <a:off x="8153400" y="3057525"/>
            <a:ext cx="1066800" cy="409575"/>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Contextual</a:t>
            </a:r>
            <a:endParaRPr lang="zh-CN" sz="1300"/>
          </a:p>
          <a:p>
            <a:pPr algn="l"/>
            <a:r>
              <a:rPr lang="zh-CN" sz="1300">
                <a:solidFill>
                  <a:srgbClr val="17212B"/>
                </a:solidFill>
                <a:latin typeface="Arial Narrow"/>
                <a:ea typeface="Arial Narrow"/>
                <a:cs typeface="Arial Narrow"/>
              </a:rPr>
              <a:t>observations (13)</a:t>
            </a:r>
            <a:endParaRPr lang="zh-CN" sz="1300"/>
          </a:p>
        </p:txBody>
      </p:sp>
      <p:sp>
        <p:nvSpPr>
          <p:cNvPr id="177" name="TextBox 177"/>
          <p:cNvSpPr txBox="1"/>
          <p:nvPr/>
        </p:nvSpPr>
        <p:spPr>
          <a:xfrm>
            <a:off x="5381625" y="1733550"/>
            <a:ext cx="762000" cy="333375"/>
          </a:xfrm>
          <a:prstGeom prst="rect">
            <a:avLst/>
          </a:prstGeom>
          <a:noFill/>
          <a:ln>
            <a:noFill/>
          </a:ln>
          <a:effectLst/>
        </p:spPr>
        <p:txBody>
          <a:bodyPr wrap="none" anchor="ctr" lIns="0" tIns="0" rIns="0" bIns="0">
            <a:noAutofit/>
          </a:bodyPr>
          <a:lstStyle/>
          <a:p>
            <a:pPr algn="ctr"/>
            <a:r>
              <a:rPr lang="zh-CN" sz="1075">
                <a:solidFill>
                  <a:srgbClr val="17212B"/>
                </a:solidFill>
                <a:latin typeface="Arial Narrow"/>
                <a:ea typeface="Arial Narrow"/>
                <a:cs typeface="Arial Narrow"/>
              </a:rPr>
              <a:t>Reviewed</a:t>
            </a:r>
            <a:endParaRPr lang="zh-CN" sz="1075"/>
          </a:p>
          <a:p>
            <a:pPr algn="ctr"/>
            <a:r>
              <a:rPr lang="zh-CN" sz="1075">
                <a:solidFill>
                  <a:srgbClr val="17212B"/>
                </a:solidFill>
                <a:latin typeface="Arial Narrow"/>
                <a:ea typeface="Arial Narrow"/>
                <a:cs typeface="Arial Narrow"/>
              </a:rPr>
              <a:t>proposals</a:t>
            </a:r>
            <a:endParaRPr lang="zh-CN" sz="1075"/>
          </a:p>
        </p:txBody>
      </p:sp>
      <p:sp>
        <p:nvSpPr>
          <p:cNvPr id="178" name="TextBox 178"/>
          <p:cNvSpPr txBox="1"/>
          <p:nvPr/>
        </p:nvSpPr>
        <p:spPr>
          <a:xfrm>
            <a:off x="8096250" y="3829050"/>
            <a:ext cx="1181100" cy="257175"/>
          </a:xfrm>
          <a:prstGeom prst="rect">
            <a:avLst/>
          </a:prstGeom>
          <a:noFill/>
          <a:ln>
            <a:noFill/>
          </a:ln>
          <a:effectLst/>
        </p:spPr>
        <p:txBody>
          <a:bodyPr wrap="none" anchor="ctr" lIns="0" tIns="0" rIns="0" bIns="0">
            <a:noAutofit/>
          </a:bodyPr>
          <a:lstStyle/>
          <a:p>
            <a:pPr algn="ctr"/>
            <a:r>
              <a:rPr lang="zh-CN" sz="1075">
                <a:solidFill>
                  <a:srgbClr val="17212B"/>
                </a:solidFill>
                <a:latin typeface="Arial Narrow"/>
                <a:ea typeface="Arial Narrow"/>
                <a:cs typeface="Arial Narrow"/>
              </a:rPr>
              <a:t>Interpretation only</a:t>
            </a:r>
            <a:endParaRPr lang="zh-CN" sz="1075"/>
          </a:p>
        </p:txBody>
      </p:sp>
      <p:sp>
        <p:nvSpPr>
          <p:cNvPr id="179" name="TextBox 179"/>
          <p:cNvSpPr txBox="1"/>
          <p:nvPr/>
        </p:nvSpPr>
        <p:spPr>
          <a:xfrm>
            <a:off x="3162300" y="3924300"/>
            <a:ext cx="1666875" cy="247650"/>
          </a:xfrm>
          <a:prstGeom prst="rect">
            <a:avLst/>
          </a:prstGeom>
          <a:noFill/>
          <a:ln>
            <a:noFill/>
          </a:ln>
          <a:effectLst/>
        </p:spPr>
        <p:txBody>
          <a:bodyPr wrap="none" anchor="ctr" lIns="0" tIns="0" rIns="0" bIns="0">
            <a:noAutofit/>
          </a:bodyPr>
          <a:lstStyle/>
          <a:p>
            <a:pPr algn="l"/>
            <a:r>
              <a:rPr lang="zh-CN" sz="1300">
                <a:solidFill>
                  <a:srgbClr val="BF8007"/>
                </a:solidFill>
                <a:latin typeface="Arial Narrow"/>
                <a:ea typeface="Arial Narrow"/>
                <a:cs typeface="Arial Narrow"/>
              </a:rPr>
              <a:t>Review findings</a:t>
            </a:r>
            <a:endParaRPr lang="zh-CN" sz="1300"/>
          </a:p>
        </p:txBody>
      </p:sp>
      <p:sp>
        <p:nvSpPr>
          <p:cNvPr id="180" name="TextBox 180"/>
          <p:cNvSpPr txBox="1"/>
          <p:nvPr/>
        </p:nvSpPr>
        <p:spPr>
          <a:xfrm>
            <a:off x="428625" y="4276725"/>
            <a:ext cx="7620000" cy="276225"/>
          </a:xfrm>
          <a:prstGeom prst="rect">
            <a:avLst/>
          </a:prstGeom>
          <a:noFill/>
          <a:ln>
            <a:noFill/>
          </a:ln>
          <a:effectLst/>
        </p:spPr>
        <p:txBody>
          <a:bodyPr wrap="none" anchor="ctr" lIns="0" tIns="0" rIns="0" bIns="0">
            <a:noAutofit/>
          </a:bodyPr>
          <a:lstStyle/>
          <a:p>
            <a:pPr algn="l"/>
            <a:r>
              <a:rPr lang="zh-CN" sz="1700" b="1">
                <a:solidFill>
                  <a:srgbClr val="17212B"/>
                </a:solidFill>
                <a:latin typeface="Arial Narrow"/>
                <a:ea typeface="Arial Narrow"/>
                <a:cs typeface="Arial Narrow"/>
              </a:rPr>
              <a:t>Recorded study: expansion and refinement</a:t>
            </a:r>
            <a:endParaRPr lang="zh-CN" sz="1700"/>
          </a:p>
        </p:txBody>
      </p:sp>
      <p:sp>
        <p:nvSpPr>
          <p:cNvPr id="181" name="TextBox 181"/>
          <p:cNvSpPr txBox="1"/>
          <p:nvPr/>
        </p:nvSpPr>
        <p:spPr>
          <a:xfrm>
            <a:off x="914400" y="4638675"/>
            <a:ext cx="1152525" cy="285750"/>
          </a:xfrm>
          <a:prstGeom prst="rect">
            <a:avLst/>
          </a:prstGeom>
          <a:noFill/>
          <a:ln>
            <a:noFill/>
          </a:ln>
          <a:effectLst/>
        </p:spPr>
        <p:txBody>
          <a:bodyPr wrap="none" anchor="ctr" lIns="0" tIns="0" rIns="0" bIns="0">
            <a:noAutofit/>
          </a:bodyPr>
          <a:lstStyle/>
          <a:p>
            <a:pPr algn="ctr"/>
            <a:r>
              <a:rPr lang="zh-CN" sz="2000" b="1">
                <a:solidFill>
                  <a:srgbClr val="17212B"/>
                </a:solidFill>
                <a:latin typeface="Arial Narrow"/>
                <a:ea typeface="Arial Narrow"/>
                <a:cs typeface="Arial Narrow"/>
              </a:rPr>
              <a:t>0</a:t>
            </a:r>
            <a:endParaRPr lang="zh-CN" sz="2000"/>
          </a:p>
        </p:txBody>
      </p:sp>
      <p:sp>
        <p:nvSpPr>
          <p:cNvPr id="182" name="TextBox 182"/>
          <p:cNvSpPr txBox="1"/>
          <p:nvPr/>
        </p:nvSpPr>
        <p:spPr>
          <a:xfrm>
            <a:off x="923925" y="4953000"/>
            <a:ext cx="1133475" cy="228600"/>
          </a:xfrm>
          <a:prstGeom prst="rect">
            <a:avLst/>
          </a:prstGeom>
          <a:noFill/>
          <a:ln>
            <a:noFill/>
          </a:ln>
          <a:effectLst/>
        </p:spPr>
        <p:txBody>
          <a:bodyPr wrap="none" anchor="ctr" lIns="0" tIns="0" rIns="0" bIns="0">
            <a:noAutofit/>
          </a:bodyPr>
          <a:lstStyle/>
          <a:p>
            <a:pPr algn="ctr"/>
            <a:r>
              <a:rPr lang="zh-CN" sz="1300">
                <a:solidFill>
                  <a:srgbClr val="17212B"/>
                </a:solidFill>
                <a:latin typeface="Arial Narrow"/>
                <a:ea typeface="Arial Narrow"/>
                <a:cs typeface="Arial Narrow"/>
              </a:rPr>
              <a:t>Start</a:t>
            </a:r>
            <a:endParaRPr lang="zh-CN" sz="1300"/>
          </a:p>
        </p:txBody>
      </p:sp>
      <p:sp>
        <p:nvSpPr>
          <p:cNvPr id="183" name="TextBox 183"/>
          <p:cNvSpPr txBox="1"/>
          <p:nvPr/>
        </p:nvSpPr>
        <p:spPr>
          <a:xfrm>
            <a:off x="2657475" y="4638675"/>
            <a:ext cx="1571625" cy="285750"/>
          </a:xfrm>
          <a:prstGeom prst="rect">
            <a:avLst/>
          </a:prstGeom>
          <a:noFill/>
          <a:ln>
            <a:noFill/>
          </a:ln>
          <a:effectLst/>
        </p:spPr>
        <p:txBody>
          <a:bodyPr wrap="none" anchor="ctr" lIns="0" tIns="0" rIns="0" bIns="0">
            <a:noAutofit/>
          </a:bodyPr>
          <a:lstStyle/>
          <a:p>
            <a:pPr algn="ctr"/>
            <a:r>
              <a:rPr lang="zh-CN" sz="2000" b="1">
                <a:solidFill>
                  <a:srgbClr val="17212B"/>
                </a:solidFill>
                <a:latin typeface="Arial Narrow"/>
                <a:ea typeface="Arial Narrow"/>
                <a:cs typeface="Arial Narrow"/>
              </a:rPr>
              <a:t>6</a:t>
            </a:r>
            <a:endParaRPr lang="zh-CN" sz="2000"/>
          </a:p>
        </p:txBody>
      </p:sp>
      <p:sp>
        <p:nvSpPr>
          <p:cNvPr id="184" name="TextBox 184"/>
          <p:cNvSpPr txBox="1"/>
          <p:nvPr/>
        </p:nvSpPr>
        <p:spPr>
          <a:xfrm>
            <a:off x="2667000" y="4953000"/>
            <a:ext cx="1552575" cy="228600"/>
          </a:xfrm>
          <a:prstGeom prst="rect">
            <a:avLst/>
          </a:prstGeom>
          <a:noFill/>
          <a:ln>
            <a:noFill/>
          </a:ln>
          <a:effectLst/>
        </p:spPr>
        <p:txBody>
          <a:bodyPr wrap="none" anchor="ctr" lIns="0" tIns="0" rIns="0" bIns="0">
            <a:noAutofit/>
          </a:bodyPr>
          <a:lstStyle/>
          <a:p>
            <a:pPr algn="ctr"/>
            <a:r>
              <a:rPr lang="zh-CN" sz="1300">
                <a:solidFill>
                  <a:srgbClr val="17212B"/>
                </a:solidFill>
                <a:latin typeface="Arial Narrow"/>
                <a:ea typeface="Arial Narrow"/>
                <a:cs typeface="Arial Narrow"/>
              </a:rPr>
              <a:t>Task requirements</a:t>
            </a:r>
            <a:endParaRPr lang="zh-CN" sz="1300"/>
          </a:p>
        </p:txBody>
      </p:sp>
      <p:sp>
        <p:nvSpPr>
          <p:cNvPr id="185" name="TextBox 185"/>
          <p:cNvSpPr txBox="1"/>
          <p:nvPr/>
        </p:nvSpPr>
        <p:spPr>
          <a:xfrm>
            <a:off x="4876800" y="4638675"/>
            <a:ext cx="1533525" cy="285750"/>
          </a:xfrm>
          <a:prstGeom prst="rect">
            <a:avLst/>
          </a:prstGeom>
          <a:noFill/>
          <a:ln>
            <a:noFill/>
          </a:ln>
          <a:effectLst/>
        </p:spPr>
        <p:txBody>
          <a:bodyPr wrap="none" anchor="ctr" lIns="0" tIns="0" rIns="0" bIns="0">
            <a:noAutofit/>
          </a:bodyPr>
          <a:lstStyle/>
          <a:p>
            <a:pPr algn="ctr"/>
            <a:r>
              <a:rPr lang="zh-CN" sz="2000" b="1">
                <a:solidFill>
                  <a:srgbClr val="17212B"/>
                </a:solidFill>
                <a:latin typeface="Arial Narrow"/>
                <a:ea typeface="Arial Narrow"/>
                <a:cs typeface="Arial Narrow"/>
              </a:rPr>
              <a:t>1,917</a:t>
            </a:r>
            <a:endParaRPr lang="zh-CN" sz="2000"/>
          </a:p>
        </p:txBody>
      </p:sp>
      <p:sp>
        <p:nvSpPr>
          <p:cNvPr id="186" name="TextBox 186"/>
          <p:cNvSpPr txBox="1"/>
          <p:nvPr/>
        </p:nvSpPr>
        <p:spPr>
          <a:xfrm>
            <a:off x="4886325" y="4953000"/>
            <a:ext cx="1514475" cy="228600"/>
          </a:xfrm>
          <a:prstGeom prst="rect">
            <a:avLst/>
          </a:prstGeom>
          <a:noFill/>
          <a:ln>
            <a:noFill/>
          </a:ln>
          <a:effectLst/>
        </p:spPr>
        <p:txBody>
          <a:bodyPr wrap="none" anchor="ctr" lIns="0" tIns="0" rIns="0" bIns="0">
            <a:noAutofit/>
          </a:bodyPr>
          <a:lstStyle/>
          <a:p>
            <a:pPr algn="ctr"/>
            <a:r>
              <a:rPr lang="zh-CN" sz="1300">
                <a:solidFill>
                  <a:srgbClr val="17212B"/>
                </a:solidFill>
                <a:latin typeface="Arial Narrow"/>
                <a:ea typeface="Arial Narrow"/>
                <a:cs typeface="Arial Narrow"/>
              </a:rPr>
              <a:t>Expanded</a:t>
            </a:r>
            <a:endParaRPr lang="zh-CN" sz="1300"/>
          </a:p>
        </p:txBody>
      </p:sp>
      <p:sp>
        <p:nvSpPr>
          <p:cNvPr id="187" name="TextBox 187"/>
          <p:cNvSpPr txBox="1"/>
          <p:nvPr/>
        </p:nvSpPr>
        <p:spPr>
          <a:xfrm>
            <a:off x="7162800" y="4638675"/>
            <a:ext cx="1524000" cy="285750"/>
          </a:xfrm>
          <a:prstGeom prst="rect">
            <a:avLst/>
          </a:prstGeom>
          <a:noFill/>
          <a:ln>
            <a:noFill/>
          </a:ln>
          <a:effectLst/>
        </p:spPr>
        <p:txBody>
          <a:bodyPr wrap="none" anchor="ctr" lIns="0" tIns="0" rIns="0" bIns="0">
            <a:noAutofit/>
          </a:bodyPr>
          <a:lstStyle/>
          <a:p>
            <a:pPr algn="ctr"/>
            <a:r>
              <a:rPr lang="zh-CN" sz="2000" b="1">
                <a:solidFill>
                  <a:srgbClr val="17212B"/>
                </a:solidFill>
                <a:latin typeface="Arial Narrow"/>
                <a:ea typeface="Arial Narrow"/>
                <a:cs typeface="Arial Narrow"/>
              </a:rPr>
              <a:t>53</a:t>
            </a:r>
            <a:endParaRPr lang="zh-CN" sz="2000"/>
          </a:p>
        </p:txBody>
      </p:sp>
      <p:sp>
        <p:nvSpPr>
          <p:cNvPr id="188" name="TextBox 188"/>
          <p:cNvSpPr txBox="1"/>
          <p:nvPr/>
        </p:nvSpPr>
        <p:spPr>
          <a:xfrm>
            <a:off x="7172325" y="4953000"/>
            <a:ext cx="1504950" cy="228600"/>
          </a:xfrm>
          <a:prstGeom prst="rect">
            <a:avLst/>
          </a:prstGeom>
          <a:noFill/>
          <a:ln>
            <a:noFill/>
          </a:ln>
          <a:effectLst/>
        </p:spPr>
        <p:txBody>
          <a:bodyPr wrap="none" anchor="ctr" lIns="0" tIns="0" rIns="0" bIns="0">
            <a:noAutofit/>
          </a:bodyPr>
          <a:lstStyle/>
          <a:p>
            <a:pPr algn="ctr"/>
            <a:r>
              <a:rPr lang="zh-CN" sz="1125">
                <a:solidFill>
                  <a:srgbClr val="17212B"/>
                </a:solidFill>
                <a:latin typeface="Arial Narrow"/>
                <a:ea typeface="Arial Narrow"/>
                <a:cs typeface="Arial Narrow"/>
              </a:rPr>
              <a:t>3 rounds: 147 → 68 → 53</a:t>
            </a:r>
          </a:p>
        </p:txBody>
      </p:sp>
      <p:sp>
        <p:nvSpPr>
          <p:cNvPr id="189" name="TextBox 189"/>
          <p:cNvSpPr txBox="1"/>
          <p:nvPr/>
        </p:nvSpPr>
        <p:spPr>
          <a:xfrm>
            <a:off x="1047750" y="5286375"/>
            <a:ext cx="7667625" cy="247650"/>
          </a:xfrm>
          <a:prstGeom prst="rect">
            <a:avLst/>
          </a:prstGeom>
          <a:noFill/>
          <a:ln>
            <a:noFill/>
          </a:ln>
          <a:effectLst/>
        </p:spPr>
        <p:txBody>
          <a:bodyPr wrap="none" anchor="ctr" lIns="0" tIns="0" rIns="0" bIns="0">
            <a:noAutofit/>
          </a:bodyPr>
          <a:lstStyle/>
          <a:p>
            <a:pPr algn="ctr"/>
            <a:r>
              <a:rPr lang="zh-CN" sz="1300">
                <a:solidFill>
                  <a:srgbClr val="17212B"/>
                </a:solidFill>
                <a:latin typeface="Arial Narrow"/>
                <a:ea typeface="Arial Narrow"/>
                <a:cs typeface="Arial Narrow"/>
              </a:rPr>
              <a:t>53 = 18 enabled decision rules + 13 contextual observations + 22 items not used</a:t>
            </a:r>
          </a:p>
        </p:txBody>
      </p:sp>
      <p:sp>
        <p:nvSpPr>
          <p:cNvPr id="190" name="TextBox 190"/>
          <p:cNvSpPr txBox="1"/>
          <p:nvPr/>
        </p:nvSpPr>
        <p:spPr>
          <a:xfrm>
            <a:off x="9848850" y="800100"/>
            <a:ext cx="4371975" cy="266700"/>
          </a:xfrm>
          <a:prstGeom prst="rect">
            <a:avLst/>
          </a:prstGeom>
          <a:noFill/>
          <a:ln>
            <a:noFill/>
          </a:ln>
          <a:effectLst/>
        </p:spPr>
        <p:txBody>
          <a:bodyPr wrap="none" anchor="ctr" lIns="0" tIns="0" rIns="0" bIns="0">
            <a:noAutofit/>
          </a:bodyPr>
          <a:lstStyle/>
          <a:p>
            <a:pPr algn="l"/>
            <a:r>
              <a:rPr lang="zh-CN" sz="1375" b="1">
                <a:solidFill>
                  <a:srgbClr val="17212B"/>
                </a:solidFill>
                <a:latin typeface="Arial Narrow"/>
                <a:ea typeface="Arial Narrow"/>
                <a:cs typeface="Arial Narrow"/>
              </a:rPr>
              <a:t>Library: 3,177 compounds</a:t>
            </a:r>
            <a:endParaRPr lang="zh-CN" sz="1375"/>
          </a:p>
        </p:txBody>
      </p:sp>
      <p:sp>
        <p:nvSpPr>
          <p:cNvPr id="191" name="TextBox 191"/>
          <p:cNvSpPr txBox="1"/>
          <p:nvPr/>
        </p:nvSpPr>
        <p:spPr>
          <a:xfrm>
            <a:off x="9848850" y="1114425"/>
            <a:ext cx="4371975" cy="247650"/>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Observations: value, unit, conditions and source</a:t>
            </a:r>
            <a:endParaRPr lang="zh-CN" sz="1300"/>
          </a:p>
        </p:txBody>
      </p:sp>
      <p:sp>
        <p:nvSpPr>
          <p:cNvPr id="192" name="TextBox 192"/>
          <p:cNvSpPr txBox="1"/>
          <p:nvPr/>
        </p:nvSpPr>
        <p:spPr>
          <a:xfrm>
            <a:off x="10001250" y="1790700"/>
            <a:ext cx="4029075" cy="257175"/>
          </a:xfrm>
          <a:prstGeom prst="rect">
            <a:avLst/>
          </a:prstGeom>
          <a:noFill/>
          <a:ln>
            <a:noFill/>
          </a:ln>
          <a:effectLst/>
        </p:spPr>
        <p:txBody>
          <a:bodyPr wrap="none" anchor="ctr" lIns="0" tIns="0" rIns="0" bIns="0">
            <a:noAutofit/>
          </a:bodyPr>
          <a:lstStyle/>
          <a:p>
            <a:pPr algn="ctr"/>
            <a:r>
              <a:rPr lang="zh-CN" sz="1500" b="1">
                <a:solidFill>
                  <a:srgbClr val="17212B"/>
                </a:solidFill>
                <a:latin typeface="Arial Narrow"/>
                <a:ea typeface="Arial Narrow"/>
                <a:cs typeface="Arial Narrow"/>
              </a:rPr>
              <a:t>Eligibility requirements (6)</a:t>
            </a:r>
          </a:p>
        </p:txBody>
      </p:sp>
      <p:sp>
        <p:nvSpPr>
          <p:cNvPr id="193" name="TextBox 193"/>
          <p:cNvSpPr txBox="1"/>
          <p:nvPr/>
        </p:nvSpPr>
        <p:spPr>
          <a:xfrm>
            <a:off x="10001250" y="2076450"/>
            <a:ext cx="4029075" cy="219075"/>
          </a:xfrm>
          <a:prstGeom prst="rect">
            <a:avLst/>
          </a:prstGeom>
          <a:noFill/>
          <a:ln>
            <a:noFill/>
          </a:ln>
          <a:effectLst/>
        </p:spPr>
        <p:txBody>
          <a:bodyPr wrap="none" anchor="ctr" lIns="0" tIns="0" rIns="0" bIns="0">
            <a:noAutofit/>
          </a:bodyPr>
          <a:lstStyle/>
          <a:p>
            <a:pPr algn="ctr"/>
            <a:r>
              <a:rPr lang="zh-CN" sz="1075">
                <a:solidFill>
                  <a:srgbClr val="17212B"/>
                </a:solidFill>
                <a:latin typeface="Arial Narrow"/>
                <a:ea typeface="Arial Narrow"/>
                <a:cs typeface="Arial Narrow"/>
              </a:rPr>
              <a:t>All required: 1 oral condition + 5 target-evidence requirements</a:t>
            </a:r>
          </a:p>
        </p:txBody>
      </p:sp>
      <p:sp>
        <p:nvSpPr>
          <p:cNvPr id="194" name="TextBox 194"/>
          <p:cNvSpPr txBox="1"/>
          <p:nvPr/>
        </p:nvSpPr>
        <p:spPr>
          <a:xfrm>
            <a:off x="9753600" y="2762250"/>
            <a:ext cx="2057400" cy="257175"/>
          </a:xfrm>
          <a:prstGeom prst="rect">
            <a:avLst/>
          </a:prstGeom>
          <a:noFill/>
          <a:ln>
            <a:noFill/>
          </a:ln>
          <a:effectLst/>
        </p:spPr>
        <p:txBody>
          <a:bodyPr wrap="none" anchor="ctr" lIns="0" tIns="0" rIns="0" bIns="0">
            <a:noAutofit/>
          </a:bodyPr>
          <a:lstStyle/>
          <a:p>
            <a:pPr algn="ctr"/>
            <a:r>
              <a:rPr lang="zh-CN" sz="1275" b="1">
                <a:solidFill>
                  <a:srgbClr val="956C29"/>
                </a:solidFill>
                <a:latin typeface="Arial Narrow"/>
                <a:ea typeface="Arial Narrow"/>
                <a:cs typeface="Arial Narrow"/>
              </a:rPr>
              <a:t>Evidence incomplete (1,305)</a:t>
            </a:r>
          </a:p>
        </p:txBody>
      </p:sp>
      <p:sp>
        <p:nvSpPr>
          <p:cNvPr id="195" name="TextBox 195"/>
          <p:cNvSpPr txBox="1"/>
          <p:nvPr/>
        </p:nvSpPr>
        <p:spPr>
          <a:xfrm>
            <a:off x="9753600" y="3019425"/>
            <a:ext cx="2057400" cy="200025"/>
          </a:xfrm>
          <a:prstGeom prst="rect">
            <a:avLst/>
          </a:prstGeom>
          <a:noFill/>
          <a:ln>
            <a:noFill/>
          </a:ln>
          <a:effectLst/>
        </p:spPr>
        <p:txBody>
          <a:bodyPr wrap="none" anchor="ctr" lIns="0" tIns="0" rIns="0" bIns="0">
            <a:noAutofit/>
          </a:bodyPr>
          <a:lstStyle/>
          <a:p>
            <a:pPr algn="ctr"/>
            <a:r>
              <a:rPr lang="zh-CN" sz="1050">
                <a:solidFill>
                  <a:srgbClr val="63717C"/>
                </a:solidFill>
                <a:latin typeface="Arial Narrow"/>
                <a:ea typeface="Arial Narrow"/>
                <a:cs typeface="Arial Narrow"/>
              </a:rPr>
              <a:t>Partial support; no condition failed</a:t>
            </a:r>
          </a:p>
        </p:txBody>
      </p:sp>
      <p:sp>
        <p:nvSpPr>
          <p:cNvPr id="196" name="TextBox 196"/>
          <p:cNvSpPr txBox="1"/>
          <p:nvPr/>
        </p:nvSpPr>
        <p:spPr>
          <a:xfrm>
            <a:off x="9753600" y="3390900"/>
            <a:ext cx="2057400" cy="257175"/>
          </a:xfrm>
          <a:prstGeom prst="rect">
            <a:avLst/>
          </a:prstGeom>
          <a:noFill/>
          <a:ln>
            <a:noFill/>
          </a:ln>
          <a:effectLst/>
        </p:spPr>
        <p:txBody>
          <a:bodyPr wrap="none" anchor="ctr" lIns="0" tIns="0" rIns="0" bIns="0">
            <a:noAutofit/>
          </a:bodyPr>
          <a:lstStyle/>
          <a:p>
            <a:pPr algn="ctr"/>
            <a:r>
              <a:rPr lang="zh-CN" sz="1375" b="1">
                <a:solidFill>
                  <a:srgbClr val="AE5260"/>
                </a:solidFill>
                <a:latin typeface="Arial Narrow"/>
                <a:ea typeface="Arial Narrow"/>
                <a:cs typeface="Arial Narrow"/>
              </a:rPr>
              <a:t>Excluded (1,862)</a:t>
            </a:r>
          </a:p>
        </p:txBody>
      </p:sp>
      <p:sp>
        <p:nvSpPr>
          <p:cNvPr id="197" name="TextBox 197"/>
          <p:cNvSpPr txBox="1"/>
          <p:nvPr/>
        </p:nvSpPr>
        <p:spPr>
          <a:xfrm>
            <a:off x="12353925" y="2819400"/>
            <a:ext cx="1885950" cy="276225"/>
          </a:xfrm>
          <a:prstGeom prst="rect">
            <a:avLst/>
          </a:prstGeom>
          <a:noFill/>
          <a:ln>
            <a:noFill/>
          </a:ln>
          <a:effectLst/>
        </p:spPr>
        <p:txBody>
          <a:bodyPr wrap="none" anchor="ctr" lIns="0" tIns="0" rIns="0" bIns="0">
            <a:noAutofit/>
          </a:bodyPr>
          <a:lstStyle/>
          <a:p>
            <a:pPr algn="ctr"/>
            <a:r>
              <a:rPr lang="zh-CN" sz="1375" b="1">
                <a:solidFill>
                  <a:srgbClr val="17212B"/>
                </a:solidFill>
                <a:latin typeface="Arial Narrow"/>
                <a:ea typeface="Arial Narrow"/>
                <a:cs typeface="Arial Narrow"/>
              </a:rPr>
              <a:t>Eligible (10)</a:t>
            </a:r>
            <a:endParaRPr lang="zh-CN" sz="1375"/>
          </a:p>
        </p:txBody>
      </p:sp>
      <p:sp>
        <p:nvSpPr>
          <p:cNvPr id="198" name="TextBox 198"/>
          <p:cNvSpPr txBox="1"/>
          <p:nvPr/>
        </p:nvSpPr>
        <p:spPr>
          <a:xfrm>
            <a:off x="12344400" y="3609975"/>
            <a:ext cx="1905000" cy="257175"/>
          </a:xfrm>
          <a:prstGeom prst="rect">
            <a:avLst/>
          </a:prstGeom>
          <a:noFill/>
          <a:ln>
            <a:noFill/>
          </a:ln>
          <a:effectLst/>
        </p:spPr>
        <p:txBody>
          <a:bodyPr wrap="none" anchor="ctr" lIns="0" tIns="0" rIns="0" bIns="0">
            <a:noAutofit/>
          </a:bodyPr>
          <a:lstStyle/>
          <a:p>
            <a:pPr algn="ctr"/>
            <a:r>
              <a:rPr lang="zh-CN" sz="1375" b="1">
                <a:solidFill>
                  <a:srgbClr val="17212B"/>
                </a:solidFill>
                <a:latin typeface="Arial Narrow"/>
                <a:ea typeface="Arial Narrow"/>
                <a:cs typeface="Arial Narrow"/>
              </a:rPr>
              <a:t>Weighted prioritization</a:t>
            </a:r>
            <a:endParaRPr lang="zh-CN" sz="1375"/>
          </a:p>
        </p:txBody>
      </p:sp>
      <p:sp>
        <p:nvSpPr>
          <p:cNvPr id="199" name="TextBox 199"/>
          <p:cNvSpPr txBox="1"/>
          <p:nvPr/>
        </p:nvSpPr>
        <p:spPr>
          <a:xfrm>
            <a:off x="12363450" y="3876675"/>
            <a:ext cx="1866900" cy="219075"/>
          </a:xfrm>
          <a:prstGeom prst="rect">
            <a:avLst/>
          </a:prstGeom>
          <a:noFill/>
          <a:ln>
            <a:noFill/>
          </a:ln>
          <a:effectLst/>
        </p:spPr>
        <p:txBody>
          <a:bodyPr wrap="none" anchor="ctr" lIns="0" tIns="0" rIns="0" bIns="0">
            <a:noAutofit/>
          </a:bodyPr>
          <a:lstStyle/>
          <a:p>
            <a:pPr algn="ctr"/>
            <a:r>
              <a:rPr lang="zh-CN" sz="1075">
                <a:solidFill>
                  <a:srgbClr val="17212B"/>
                </a:solidFill>
                <a:latin typeface="Arial Narrow"/>
                <a:ea typeface="Arial Narrow"/>
                <a:cs typeface="Arial Narrow"/>
              </a:rPr>
              <a:t>Eligible cohort only</a:t>
            </a:r>
            <a:endParaRPr lang="zh-CN" sz="1075"/>
          </a:p>
        </p:txBody>
      </p:sp>
      <p:sp>
        <p:nvSpPr>
          <p:cNvPr id="200" name="TextBox 200"/>
          <p:cNvSpPr txBox="1"/>
          <p:nvPr/>
        </p:nvSpPr>
        <p:spPr>
          <a:xfrm>
            <a:off x="9658350" y="3981450"/>
            <a:ext cx="2343150" cy="238125"/>
          </a:xfrm>
          <a:prstGeom prst="rect">
            <a:avLst/>
          </a:prstGeom>
          <a:noFill/>
          <a:ln>
            <a:noFill/>
          </a:ln>
          <a:effectLst/>
        </p:spPr>
        <p:txBody>
          <a:bodyPr wrap="none" anchor="ctr" lIns="0" tIns="0" rIns="0" bIns="0">
            <a:noAutofit/>
          </a:bodyPr>
          <a:lstStyle/>
          <a:p>
            <a:pPr algn="l"/>
            <a:r>
              <a:rPr lang="zh-CN" sz="1050">
                <a:solidFill>
                  <a:srgbClr val="267549"/>
                </a:solidFill>
                <a:latin typeface="Arial Narrow"/>
                <a:ea typeface="Arial Narrow"/>
                <a:cs typeface="Arial Narrow"/>
              </a:rPr>
              <a:t>17 scored; 5 also required for admission</a:t>
            </a:r>
          </a:p>
        </p:txBody>
      </p:sp>
      <p:sp>
        <p:nvSpPr>
          <p:cNvPr id="201" name="TextBox 201"/>
          <p:cNvSpPr txBox="1"/>
          <p:nvPr/>
        </p:nvSpPr>
        <p:spPr>
          <a:xfrm>
            <a:off x="12334875" y="4562475"/>
            <a:ext cx="1924050" cy="266700"/>
          </a:xfrm>
          <a:prstGeom prst="rect">
            <a:avLst/>
          </a:prstGeom>
          <a:noFill/>
          <a:ln>
            <a:noFill/>
          </a:ln>
          <a:effectLst/>
        </p:spPr>
        <p:txBody>
          <a:bodyPr wrap="none" anchor="ctr" lIns="0" tIns="0" rIns="0" bIns="0">
            <a:noAutofit/>
          </a:bodyPr>
          <a:lstStyle/>
          <a:p>
            <a:pPr algn="ctr"/>
            <a:r>
              <a:rPr lang="zh-CN" sz="1375" b="1">
                <a:solidFill>
                  <a:srgbClr val="17212B"/>
                </a:solidFill>
                <a:latin typeface="Arial Narrow"/>
                <a:ea typeface="Arial Narrow"/>
                <a:cs typeface="Arial Narrow"/>
              </a:rPr>
              <a:t>Direct-evidence coverage</a:t>
            </a:r>
            <a:endParaRPr lang="zh-CN" sz="1375"/>
          </a:p>
        </p:txBody>
      </p:sp>
      <p:sp>
        <p:nvSpPr>
          <p:cNvPr id="202" name="TextBox 202"/>
          <p:cNvSpPr txBox="1"/>
          <p:nvPr/>
        </p:nvSpPr>
        <p:spPr>
          <a:xfrm>
            <a:off x="10067925" y="4572000"/>
            <a:ext cx="1400175" cy="276225"/>
          </a:xfrm>
          <a:prstGeom prst="rect">
            <a:avLst/>
          </a:prstGeom>
          <a:noFill/>
          <a:ln>
            <a:noFill/>
          </a:ln>
          <a:effectLst/>
        </p:spPr>
        <p:txBody>
          <a:bodyPr wrap="none" anchor="ctr" lIns="0" tIns="0" rIns="0" bIns="0">
            <a:noAutofit/>
          </a:bodyPr>
          <a:lstStyle/>
          <a:p>
            <a:pPr algn="ctr"/>
            <a:r>
              <a:rPr lang="zh-CN" sz="1375" b="1">
                <a:solidFill>
                  <a:srgbClr val="17212B"/>
                </a:solidFill>
                <a:latin typeface="Arial Narrow"/>
                <a:ea typeface="Arial Narrow"/>
                <a:cs typeface="Arial Narrow"/>
              </a:rPr>
              <a:t>No rank assigned</a:t>
            </a:r>
            <a:endParaRPr lang="zh-CN" sz="1375"/>
          </a:p>
        </p:txBody>
      </p:sp>
      <p:sp>
        <p:nvSpPr>
          <p:cNvPr id="203" name="TextBox 203"/>
          <p:cNvSpPr txBox="1"/>
          <p:nvPr/>
        </p:nvSpPr>
        <p:spPr>
          <a:xfrm>
            <a:off x="11601450" y="4410075"/>
            <a:ext cx="590550" cy="219075"/>
          </a:xfrm>
          <a:prstGeom prst="rect">
            <a:avLst/>
          </a:prstGeom>
          <a:noFill/>
          <a:ln>
            <a:noFill/>
          </a:ln>
          <a:effectLst/>
        </p:spPr>
        <p:txBody>
          <a:bodyPr wrap="none" anchor="ctr" lIns="0" tIns="0" rIns="0" bIns="0">
            <a:noAutofit/>
          </a:bodyPr>
          <a:lstStyle/>
          <a:p>
            <a:pPr algn="ctr"/>
            <a:r>
              <a:rPr lang="zh-CN" sz="1075">
                <a:solidFill>
                  <a:srgbClr val="17212B"/>
                </a:solidFill>
                <a:latin typeface="Arial Narrow"/>
                <a:ea typeface="Arial Narrow"/>
                <a:cs typeface="Arial Narrow"/>
              </a:rPr>
              <a:t>&lt; 50%</a:t>
            </a:r>
            <a:endParaRPr lang="zh-CN" sz="1075"/>
          </a:p>
        </p:txBody>
      </p:sp>
      <p:sp>
        <p:nvSpPr>
          <p:cNvPr id="204" name="TextBox 204"/>
          <p:cNvSpPr txBox="1"/>
          <p:nvPr/>
        </p:nvSpPr>
        <p:spPr>
          <a:xfrm>
            <a:off x="13439775" y="4972050"/>
            <a:ext cx="762000" cy="219075"/>
          </a:xfrm>
          <a:prstGeom prst="rect">
            <a:avLst/>
          </a:prstGeom>
          <a:noFill/>
          <a:ln>
            <a:noFill/>
          </a:ln>
          <a:effectLst/>
        </p:spPr>
        <p:txBody>
          <a:bodyPr wrap="none" anchor="ctr" lIns="0" tIns="0" rIns="0" bIns="0">
            <a:noAutofit/>
          </a:bodyPr>
          <a:lstStyle/>
          <a:p>
            <a:pPr algn="l"/>
            <a:r>
              <a:rPr lang="zh-CN" sz="1075">
                <a:solidFill>
                  <a:srgbClr val="17212B"/>
                </a:solidFill>
                <a:latin typeface="Arial Narrow"/>
                <a:ea typeface="Arial Narrow"/>
                <a:cs typeface="Arial Narrow"/>
              </a:rPr>
              <a:t>≥ 50%</a:t>
            </a:r>
          </a:p>
        </p:txBody>
      </p:sp>
      <p:sp>
        <p:nvSpPr>
          <p:cNvPr id="205" name="TextBox 205"/>
          <p:cNvSpPr txBox="1"/>
          <p:nvPr/>
        </p:nvSpPr>
        <p:spPr>
          <a:xfrm>
            <a:off x="12334875" y="5286375"/>
            <a:ext cx="1924050" cy="257175"/>
          </a:xfrm>
          <a:prstGeom prst="rect">
            <a:avLst/>
          </a:prstGeom>
          <a:noFill/>
          <a:ln>
            <a:noFill/>
          </a:ln>
          <a:effectLst/>
        </p:spPr>
        <p:txBody>
          <a:bodyPr wrap="none" anchor="ctr" lIns="0" tIns="0" rIns="0" bIns="0">
            <a:noAutofit/>
          </a:bodyPr>
          <a:lstStyle/>
          <a:p>
            <a:pPr algn="ctr"/>
            <a:r>
              <a:rPr lang="zh-CN" sz="1375" b="1">
                <a:solidFill>
                  <a:srgbClr val="17212B"/>
                </a:solidFill>
                <a:latin typeface="Arial Narrow"/>
                <a:ea typeface="Arial Narrow"/>
                <a:cs typeface="Arial Narrow"/>
              </a:rPr>
              <a:t>Ranked results (10)</a:t>
            </a:r>
            <a:endParaRPr lang="zh-CN" sz="1375"/>
          </a:p>
        </p:txBody>
      </p:sp>
      <p:sp>
        <p:nvSpPr>
          <p:cNvPr id="206" name="TextBox 206"/>
          <p:cNvSpPr txBox="1"/>
          <p:nvPr/>
        </p:nvSpPr>
        <p:spPr>
          <a:xfrm>
            <a:off x="9686925" y="5153025"/>
            <a:ext cx="2333625" cy="447675"/>
          </a:xfrm>
          <a:prstGeom prst="rect">
            <a:avLst/>
          </a:prstGeom>
          <a:noFill/>
          <a:ln>
            <a:noFill/>
          </a:ln>
          <a:effectLst/>
        </p:spPr>
        <p:txBody>
          <a:bodyPr wrap="none" anchor="ctr" lIns="0" tIns="0" rIns="0" bIns="0">
            <a:noAutofit/>
          </a:bodyPr>
          <a:lstStyle/>
          <a:p>
            <a:pPr algn="l"/>
            <a:r>
              <a:rPr lang="zh-CN" sz="1300">
                <a:solidFill>
                  <a:srgbClr val="1769A0"/>
                </a:solidFill>
                <a:latin typeface="Arial Narrow"/>
                <a:ea typeface="Arial Narrow"/>
                <a:cs typeface="Arial Narrow"/>
              </a:rPr>
              <a:t>Surufatinib: rank 1</a:t>
            </a:r>
            <a:endParaRPr lang="zh-CN" sz="1300"/>
          </a:p>
          <a:p>
            <a:pPr algn="l"/>
            <a:r>
              <a:rPr lang="zh-CN" sz="1300">
                <a:solidFill>
                  <a:srgbClr val="1769A0"/>
                </a:solidFill>
                <a:latin typeface="Arial Narrow"/>
                <a:ea typeface="Arial Narrow"/>
                <a:cs typeface="Arial Narrow"/>
              </a:rPr>
              <a:t>Direct coverage: 10/17 (58.8%)</a:t>
            </a:r>
            <a:endParaRPr lang="zh-CN" sz="1300"/>
          </a:p>
        </p:txBody>
      </p:sp>
      <p:sp>
        <p:nvSpPr>
          <p:cNvPr id="207" name="TextBox 207"/>
          <p:cNvSpPr txBox="1"/>
          <p:nvPr/>
        </p:nvSpPr>
        <p:spPr>
          <a:xfrm>
            <a:off x="2390775" y="6296025"/>
            <a:ext cx="2114550" cy="266700"/>
          </a:xfrm>
          <a:prstGeom prst="rect">
            <a:avLst/>
          </a:prstGeom>
          <a:noFill/>
          <a:ln>
            <a:noFill/>
          </a:ln>
          <a:effectLst/>
        </p:spPr>
        <p:txBody>
          <a:bodyPr wrap="none" anchor="ctr" lIns="0" tIns="0" rIns="0" bIns="0">
            <a:noAutofit/>
          </a:bodyPr>
          <a:lstStyle/>
          <a:p>
            <a:pPr algn="l"/>
            <a:r>
              <a:rPr lang="zh-CN" sz="1700" b="1">
                <a:solidFill>
                  <a:srgbClr val="17212B"/>
                </a:solidFill>
                <a:latin typeface="Arial Narrow"/>
                <a:ea typeface="Arial Narrow"/>
                <a:cs typeface="Arial Narrow"/>
              </a:rPr>
              <a:t>6 overlapping proposals</a:t>
            </a:r>
            <a:endParaRPr lang="zh-CN" sz="1700"/>
          </a:p>
        </p:txBody>
      </p:sp>
      <p:sp>
        <p:nvSpPr>
          <p:cNvPr id="208" name="TextBox 208"/>
          <p:cNvSpPr txBox="1"/>
          <p:nvPr/>
        </p:nvSpPr>
        <p:spPr>
          <a:xfrm>
            <a:off x="771525" y="6838950"/>
            <a:ext cx="1333500" cy="533400"/>
          </a:xfrm>
          <a:prstGeom prst="rect">
            <a:avLst/>
          </a:prstGeom>
          <a:noFill/>
          <a:ln>
            <a:noFill/>
          </a:ln>
          <a:effectLst/>
        </p:spPr>
        <p:txBody>
          <a:bodyPr wrap="none" anchor="ctr" lIns="0" tIns="0" rIns="0" bIns="0">
            <a:noAutofit/>
          </a:bodyPr>
          <a:lstStyle/>
          <a:p>
            <a:pPr algn="l"/>
            <a:r>
              <a:rPr lang="zh-CN" sz="1650">
                <a:solidFill>
                  <a:srgbClr val="17212B"/>
                </a:solidFill>
                <a:latin typeface="Arial Narrow"/>
                <a:ea typeface="Arial Narrow"/>
                <a:cs typeface="Arial Narrow"/>
              </a:rPr>
              <a:t>Molecular</a:t>
            </a:r>
            <a:endParaRPr lang="zh-CN" sz="1650"/>
          </a:p>
          <a:p>
            <a:pPr algn="l"/>
            <a:r>
              <a:rPr lang="zh-CN" sz="1650">
                <a:solidFill>
                  <a:srgbClr val="17212B"/>
                </a:solidFill>
                <a:latin typeface="Arial Narrow"/>
                <a:ea typeface="Arial Narrow"/>
                <a:cs typeface="Arial Narrow"/>
              </a:rPr>
              <a:t>weight</a:t>
            </a:r>
            <a:endParaRPr lang="zh-CN" sz="1650"/>
          </a:p>
        </p:txBody>
      </p:sp>
      <p:sp>
        <p:nvSpPr>
          <p:cNvPr id="209" name="TextBox 209"/>
          <p:cNvSpPr txBox="1"/>
          <p:nvPr/>
        </p:nvSpPr>
        <p:spPr>
          <a:xfrm>
            <a:off x="2714625" y="6838950"/>
            <a:ext cx="1400175" cy="533400"/>
          </a:xfrm>
          <a:prstGeom prst="rect">
            <a:avLst/>
          </a:prstGeom>
          <a:noFill/>
          <a:ln>
            <a:noFill/>
          </a:ln>
          <a:effectLst/>
        </p:spPr>
        <p:txBody>
          <a:bodyPr wrap="none" anchor="ctr" lIns="0" tIns="0" rIns="0" bIns="0">
            <a:noAutofit/>
          </a:bodyPr>
          <a:lstStyle/>
          <a:p>
            <a:pPr algn="l"/>
            <a:r>
              <a:rPr lang="zh-CN" sz="1650">
                <a:solidFill>
                  <a:srgbClr val="17212B"/>
                </a:solidFill>
                <a:latin typeface="Arial Narrow"/>
                <a:ea typeface="Arial Narrow"/>
                <a:cs typeface="Arial Narrow"/>
              </a:rPr>
              <a:t>Molecular</a:t>
            </a:r>
            <a:endParaRPr lang="zh-CN" sz="1650"/>
          </a:p>
          <a:p>
            <a:pPr algn="l"/>
            <a:r>
              <a:rPr lang="zh-CN" sz="1650">
                <a:solidFill>
                  <a:srgbClr val="17212B"/>
                </a:solidFill>
                <a:latin typeface="Arial Narrow"/>
                <a:ea typeface="Arial Narrow"/>
                <a:cs typeface="Arial Narrow"/>
              </a:rPr>
              <a:t>weight</a:t>
            </a:r>
            <a:endParaRPr lang="zh-CN" sz="1650"/>
          </a:p>
        </p:txBody>
      </p:sp>
      <p:sp>
        <p:nvSpPr>
          <p:cNvPr id="210" name="TextBox 210"/>
          <p:cNvSpPr txBox="1"/>
          <p:nvPr/>
        </p:nvSpPr>
        <p:spPr>
          <a:xfrm>
            <a:off x="4733925" y="6838950"/>
            <a:ext cx="1333500" cy="533400"/>
          </a:xfrm>
          <a:prstGeom prst="rect">
            <a:avLst/>
          </a:prstGeom>
          <a:noFill/>
          <a:ln>
            <a:noFill/>
          </a:ln>
          <a:effectLst/>
        </p:spPr>
        <p:txBody>
          <a:bodyPr wrap="none" anchor="ctr" lIns="0" tIns="0" rIns="0" bIns="0">
            <a:noAutofit/>
          </a:bodyPr>
          <a:lstStyle/>
          <a:p>
            <a:pPr algn="l"/>
            <a:r>
              <a:rPr lang="zh-CN" sz="1650">
                <a:solidFill>
                  <a:srgbClr val="17212B"/>
                </a:solidFill>
                <a:latin typeface="Arial Narrow"/>
                <a:ea typeface="Arial Narrow"/>
                <a:cs typeface="Arial Narrow"/>
              </a:rPr>
              <a:t>Molecular</a:t>
            </a:r>
            <a:endParaRPr lang="zh-CN" sz="1650"/>
          </a:p>
          <a:p>
            <a:pPr algn="l"/>
            <a:r>
              <a:rPr lang="zh-CN" sz="1650">
                <a:solidFill>
                  <a:srgbClr val="17212B"/>
                </a:solidFill>
                <a:latin typeface="Arial Narrow"/>
                <a:ea typeface="Arial Narrow"/>
                <a:cs typeface="Arial Narrow"/>
              </a:rPr>
              <a:t>weight</a:t>
            </a:r>
            <a:endParaRPr lang="zh-CN" sz="1650"/>
          </a:p>
        </p:txBody>
      </p:sp>
      <p:sp>
        <p:nvSpPr>
          <p:cNvPr id="211" name="TextBox 211"/>
          <p:cNvSpPr txBox="1"/>
          <p:nvPr/>
        </p:nvSpPr>
        <p:spPr>
          <a:xfrm>
            <a:off x="771525" y="8029575"/>
            <a:ext cx="1333500" cy="533400"/>
          </a:xfrm>
          <a:prstGeom prst="rect">
            <a:avLst/>
          </a:prstGeom>
          <a:noFill/>
          <a:ln>
            <a:noFill/>
          </a:ln>
          <a:effectLst/>
        </p:spPr>
        <p:txBody>
          <a:bodyPr wrap="none" anchor="ctr" lIns="0" tIns="0" rIns="0" bIns="0">
            <a:noAutofit/>
          </a:bodyPr>
          <a:lstStyle/>
          <a:p>
            <a:pPr algn="l"/>
            <a:r>
              <a:rPr lang="zh-CN" sz="1650">
                <a:solidFill>
                  <a:srgbClr val="17212B"/>
                </a:solidFill>
                <a:latin typeface="Arial Narrow"/>
                <a:ea typeface="Arial Narrow"/>
                <a:cs typeface="Arial Narrow"/>
              </a:rPr>
              <a:t>Molecular</a:t>
            </a:r>
            <a:endParaRPr lang="zh-CN" sz="1650"/>
          </a:p>
          <a:p>
            <a:pPr algn="l"/>
            <a:r>
              <a:rPr lang="zh-CN" sz="1650">
                <a:solidFill>
                  <a:srgbClr val="17212B"/>
                </a:solidFill>
                <a:latin typeface="Arial Narrow"/>
                <a:ea typeface="Arial Narrow"/>
                <a:cs typeface="Arial Narrow"/>
              </a:rPr>
              <a:t>weight</a:t>
            </a:r>
            <a:endParaRPr lang="zh-CN" sz="1650"/>
          </a:p>
        </p:txBody>
      </p:sp>
      <p:sp>
        <p:nvSpPr>
          <p:cNvPr id="212" name="TextBox 212"/>
          <p:cNvSpPr txBox="1"/>
          <p:nvPr/>
        </p:nvSpPr>
        <p:spPr>
          <a:xfrm>
            <a:off x="2714625" y="8029575"/>
            <a:ext cx="1400175" cy="533400"/>
          </a:xfrm>
          <a:prstGeom prst="rect">
            <a:avLst/>
          </a:prstGeom>
          <a:noFill/>
          <a:ln>
            <a:noFill/>
          </a:ln>
          <a:effectLst/>
        </p:spPr>
        <p:txBody>
          <a:bodyPr wrap="none" anchor="ctr" lIns="0" tIns="0" rIns="0" bIns="0">
            <a:noAutofit/>
          </a:bodyPr>
          <a:lstStyle/>
          <a:p>
            <a:pPr algn="l"/>
            <a:r>
              <a:rPr lang="zh-CN" sz="1650">
                <a:solidFill>
                  <a:srgbClr val="17212B"/>
                </a:solidFill>
                <a:latin typeface="Arial Narrow"/>
                <a:ea typeface="Arial Narrow"/>
                <a:cs typeface="Arial Narrow"/>
              </a:rPr>
              <a:t>Molecular</a:t>
            </a:r>
            <a:endParaRPr lang="zh-CN" sz="1650"/>
          </a:p>
          <a:p>
            <a:pPr algn="l"/>
            <a:r>
              <a:rPr lang="zh-CN" sz="1650">
                <a:solidFill>
                  <a:srgbClr val="17212B"/>
                </a:solidFill>
                <a:latin typeface="Arial Narrow"/>
                <a:ea typeface="Arial Narrow"/>
                <a:cs typeface="Arial Narrow"/>
              </a:rPr>
              <a:t>weight</a:t>
            </a:r>
            <a:endParaRPr lang="zh-CN" sz="1650"/>
          </a:p>
        </p:txBody>
      </p:sp>
      <p:sp>
        <p:nvSpPr>
          <p:cNvPr id="213" name="TextBox 213"/>
          <p:cNvSpPr txBox="1"/>
          <p:nvPr/>
        </p:nvSpPr>
        <p:spPr>
          <a:xfrm>
            <a:off x="4733925" y="8029575"/>
            <a:ext cx="1333500" cy="533400"/>
          </a:xfrm>
          <a:prstGeom prst="rect">
            <a:avLst/>
          </a:prstGeom>
          <a:noFill/>
          <a:ln>
            <a:noFill/>
          </a:ln>
          <a:effectLst/>
        </p:spPr>
        <p:txBody>
          <a:bodyPr wrap="none" anchor="ctr" lIns="0" tIns="0" rIns="0" bIns="0">
            <a:noAutofit/>
          </a:bodyPr>
          <a:lstStyle/>
          <a:p>
            <a:pPr algn="l"/>
            <a:r>
              <a:rPr lang="zh-CN" sz="1650">
                <a:solidFill>
                  <a:srgbClr val="17212B"/>
                </a:solidFill>
                <a:latin typeface="Arial Narrow"/>
                <a:ea typeface="Arial Narrow"/>
                <a:cs typeface="Arial Narrow"/>
              </a:rPr>
              <a:t>Molecular</a:t>
            </a:r>
            <a:endParaRPr lang="zh-CN" sz="1650"/>
          </a:p>
          <a:p>
            <a:pPr algn="l"/>
            <a:r>
              <a:rPr lang="zh-CN" sz="1650">
                <a:solidFill>
                  <a:srgbClr val="17212B"/>
                </a:solidFill>
                <a:latin typeface="Arial Narrow"/>
                <a:ea typeface="Arial Narrow"/>
                <a:cs typeface="Arial Narrow"/>
              </a:rPr>
              <a:t>weight</a:t>
            </a:r>
            <a:endParaRPr lang="zh-CN" sz="1650"/>
          </a:p>
        </p:txBody>
      </p:sp>
      <p:sp>
        <p:nvSpPr>
          <p:cNvPr id="214" name="TextBox 214"/>
          <p:cNvSpPr txBox="1"/>
          <p:nvPr/>
        </p:nvSpPr>
        <p:spPr>
          <a:xfrm>
            <a:off x="7267575" y="7439025"/>
            <a:ext cx="1419225" cy="276225"/>
          </a:xfrm>
          <a:prstGeom prst="rect">
            <a:avLst/>
          </a:prstGeom>
          <a:noFill/>
          <a:ln>
            <a:noFill/>
          </a:ln>
          <a:effectLst/>
        </p:spPr>
        <p:txBody>
          <a:bodyPr wrap="none" anchor="ctr" lIns="0" tIns="0" rIns="0" bIns="0">
            <a:noAutofit/>
          </a:bodyPr>
          <a:lstStyle/>
          <a:p>
            <a:pPr algn="ctr"/>
            <a:r>
              <a:rPr lang="zh-CN" sz="1375" b="1">
                <a:solidFill>
                  <a:srgbClr val="17212B"/>
                </a:solidFill>
                <a:latin typeface="Arial Narrow"/>
                <a:ea typeface="Arial Narrow"/>
                <a:cs typeface="Arial Narrow"/>
              </a:rPr>
              <a:t>Merge + review</a:t>
            </a:r>
            <a:endParaRPr lang="zh-CN" sz="1375"/>
          </a:p>
        </p:txBody>
      </p:sp>
      <p:sp>
        <p:nvSpPr>
          <p:cNvPr id="215" name="TextBox 215"/>
          <p:cNvSpPr txBox="1"/>
          <p:nvPr/>
        </p:nvSpPr>
        <p:spPr>
          <a:xfrm>
            <a:off x="9305925" y="6896100"/>
            <a:ext cx="1743075" cy="247650"/>
          </a:xfrm>
          <a:prstGeom prst="rect">
            <a:avLst/>
          </a:prstGeom>
          <a:noFill/>
          <a:ln>
            <a:noFill/>
          </a:ln>
          <a:effectLst/>
        </p:spPr>
        <p:txBody>
          <a:bodyPr wrap="none" anchor="ctr" lIns="0" tIns="0" rIns="0" bIns="0">
            <a:noAutofit/>
          </a:bodyPr>
          <a:lstStyle/>
          <a:p>
            <a:pPr algn="l"/>
            <a:r>
              <a:rPr lang="zh-CN" sz="1375" b="1">
                <a:solidFill>
                  <a:srgbClr val="17212B"/>
                </a:solidFill>
                <a:latin typeface="Arial Narrow"/>
                <a:ea typeface="Arial Narrow"/>
                <a:cs typeface="Arial Narrow"/>
              </a:rPr>
              <a:t>Molecular weight</a:t>
            </a:r>
            <a:endParaRPr lang="zh-CN" sz="1375"/>
          </a:p>
        </p:txBody>
      </p:sp>
      <p:sp>
        <p:nvSpPr>
          <p:cNvPr id="216" name="TextBox 216"/>
          <p:cNvSpPr txBox="1"/>
          <p:nvPr/>
        </p:nvSpPr>
        <p:spPr>
          <a:xfrm>
            <a:off x="9305925" y="7200900"/>
            <a:ext cx="1743075" cy="228600"/>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Unit: Da</a:t>
            </a:r>
            <a:endParaRPr lang="zh-CN" sz="1300"/>
          </a:p>
        </p:txBody>
      </p:sp>
      <p:sp>
        <p:nvSpPr>
          <p:cNvPr id="217" name="TextBox 217"/>
          <p:cNvSpPr txBox="1"/>
          <p:nvPr/>
        </p:nvSpPr>
        <p:spPr>
          <a:xfrm>
            <a:off x="9305925" y="7419975"/>
            <a:ext cx="1743075" cy="247650"/>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Scoring threshold: ≤ 500 Da</a:t>
            </a:r>
          </a:p>
        </p:txBody>
      </p:sp>
      <p:sp>
        <p:nvSpPr>
          <p:cNvPr id="218" name="TextBox 218"/>
          <p:cNvSpPr txBox="1"/>
          <p:nvPr/>
        </p:nvSpPr>
        <p:spPr>
          <a:xfrm>
            <a:off x="9305925" y="7677150"/>
            <a:ext cx="1743075" cy="238125"/>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Sources retained</a:t>
            </a:r>
            <a:endParaRPr lang="zh-CN" sz="1300"/>
          </a:p>
        </p:txBody>
      </p:sp>
      <p:sp>
        <p:nvSpPr>
          <p:cNvPr id="219" name="TextBox 219"/>
          <p:cNvSpPr txBox="1"/>
          <p:nvPr/>
        </p:nvSpPr>
        <p:spPr>
          <a:xfrm>
            <a:off x="12001500" y="6896100"/>
            <a:ext cx="1952625" cy="247650"/>
          </a:xfrm>
          <a:prstGeom prst="rect">
            <a:avLst/>
          </a:prstGeom>
          <a:noFill/>
          <a:ln>
            <a:noFill/>
          </a:ln>
          <a:effectLst/>
        </p:spPr>
        <p:txBody>
          <a:bodyPr wrap="none" anchor="ctr" lIns="0" tIns="0" rIns="0" bIns="0">
            <a:noAutofit/>
          </a:bodyPr>
          <a:lstStyle/>
          <a:p>
            <a:pPr algn="l"/>
            <a:r>
              <a:rPr lang="zh-CN" sz="1375" b="1">
                <a:solidFill>
                  <a:srgbClr val="17212B"/>
                </a:solidFill>
                <a:latin typeface="Arial Narrow"/>
                <a:ea typeface="Arial Narrow"/>
                <a:cs typeface="Arial Narrow"/>
              </a:rPr>
              <a:t>Surufatinib: 480.6 Da</a:t>
            </a:r>
            <a:endParaRPr lang="zh-CN" sz="1375"/>
          </a:p>
        </p:txBody>
      </p:sp>
      <p:sp>
        <p:nvSpPr>
          <p:cNvPr id="220" name="TextBox 220"/>
          <p:cNvSpPr txBox="1"/>
          <p:nvPr/>
        </p:nvSpPr>
        <p:spPr>
          <a:xfrm>
            <a:off x="12001500" y="7219950"/>
            <a:ext cx="1952625" cy="247650"/>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Structure-derived</a:t>
            </a:r>
            <a:endParaRPr lang="zh-CN" sz="1300"/>
          </a:p>
        </p:txBody>
      </p:sp>
      <p:sp>
        <p:nvSpPr>
          <p:cNvPr id="221" name="TextBox 221"/>
          <p:cNvSpPr txBox="1"/>
          <p:nvPr/>
        </p:nvSpPr>
        <p:spPr>
          <a:xfrm>
            <a:off x="11953875" y="8277225"/>
            <a:ext cx="2076450" cy="276225"/>
          </a:xfrm>
          <a:prstGeom prst="rect">
            <a:avLst/>
          </a:prstGeom>
          <a:noFill/>
          <a:ln>
            <a:noFill/>
          </a:ln>
          <a:effectLst/>
        </p:spPr>
        <p:txBody>
          <a:bodyPr wrap="none" anchor="ctr" lIns="0" tIns="0" rIns="0" bIns="0">
            <a:noAutofit/>
          </a:bodyPr>
          <a:lstStyle/>
          <a:p>
            <a:pPr algn="ctr"/>
            <a:r>
              <a:rPr lang="zh-CN" sz="1800" b="1">
                <a:solidFill>
                  <a:srgbClr val="17212B"/>
                </a:solidFill>
                <a:latin typeface="Arial Narrow"/>
                <a:ea typeface="Arial Narrow"/>
                <a:cs typeface="Arial Narrow"/>
              </a:rPr>
              <a:t>Criterion point = 1</a:t>
            </a:r>
            <a:endParaRPr lang="zh-CN" sz="1800"/>
          </a:p>
        </p:txBody>
      </p:sp>
      <p:sp>
        <p:nvSpPr>
          <p:cNvPr id="222" name="TextBox 222"/>
          <p:cNvSpPr txBox="1"/>
          <p:nvPr/>
        </p:nvSpPr>
        <p:spPr>
          <a:xfrm>
            <a:off x="11525250" y="8686800"/>
            <a:ext cx="2819400" cy="266700"/>
          </a:xfrm>
          <a:prstGeom prst="rect">
            <a:avLst/>
          </a:prstGeom>
          <a:noFill/>
          <a:ln>
            <a:noFill/>
          </a:ln>
          <a:effectLst/>
        </p:spPr>
        <p:txBody>
          <a:bodyPr wrap="none" anchor="ctr" lIns="0" tIns="0" rIns="0" bIns="0">
            <a:noAutofit/>
          </a:bodyPr>
          <a:lstStyle/>
          <a:p>
            <a:pPr algn="l"/>
            <a:r>
              <a:rPr lang="zh-CN" sz="1300">
                <a:solidFill>
                  <a:srgbClr val="68737D"/>
                </a:solidFill>
                <a:latin typeface="Arial Narrow"/>
                <a:ea typeface="Arial Narrow"/>
                <a:cs typeface="Arial Narrow"/>
              </a:rPr>
              <a:t>One contribution to the total score</a:t>
            </a:r>
            <a:endParaRPr lang="zh-CN" sz="1300"/>
          </a:p>
        </p:txBody>
      </p:sp>
      <p:sp>
        <p:nvSpPr>
          <p:cNvPr id="223" name="TextBox 223"/>
          <p:cNvSpPr txBox="1"/>
          <p:nvPr/>
        </p:nvSpPr>
        <p:spPr>
          <a:xfrm>
            <a:off x="13144500" y="7705725"/>
            <a:ext cx="1276350" cy="352425"/>
          </a:xfrm>
          <a:prstGeom prst="rect">
            <a:avLst/>
          </a:prstGeom>
          <a:noFill/>
          <a:ln>
            <a:noFill/>
          </a:ln>
          <a:effectLst/>
        </p:spPr>
        <p:txBody>
          <a:bodyPr wrap="none" anchor="ctr" lIns="0" tIns="0" rIns="0" bIns="0">
            <a:noAutofit/>
          </a:bodyPr>
          <a:lstStyle/>
          <a:p>
            <a:pPr algn="l"/>
            <a:r>
              <a:rPr lang="zh-CN" sz="1075">
                <a:solidFill>
                  <a:srgbClr val="17212B"/>
                </a:solidFill>
                <a:latin typeface="Arial Narrow"/>
                <a:ea typeface="Arial Narrow"/>
                <a:cs typeface="Arial Narrow"/>
              </a:rPr>
              <a:t>480.6 Da ≤ 500 Da</a:t>
            </a:r>
          </a:p>
        </p:txBody>
      </p:sp>
      <p:sp>
        <p:nvSpPr>
          <p:cNvPr id="224" name="TextBox 224"/>
          <p:cNvSpPr txBox="1"/>
          <p:nvPr/>
        </p:nvSpPr>
        <p:spPr>
          <a:xfrm>
            <a:off x="971550" y="9220200"/>
            <a:ext cx="2047875" cy="276225"/>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Records and decisions</a:t>
            </a:r>
            <a:endParaRPr lang="zh-CN" sz="1300"/>
          </a:p>
        </p:txBody>
      </p:sp>
      <p:sp>
        <p:nvSpPr>
          <p:cNvPr id="225" name="TextBox 225"/>
          <p:cNvSpPr txBox="1"/>
          <p:nvPr/>
        </p:nvSpPr>
        <p:spPr>
          <a:xfrm>
            <a:off x="3867150" y="9220200"/>
            <a:ext cx="1809750" cy="276225"/>
          </a:xfrm>
          <a:prstGeom prst="rect">
            <a:avLst/>
          </a:prstGeom>
          <a:noFill/>
          <a:ln>
            <a:noFill/>
          </a:ln>
          <a:effectLst/>
        </p:spPr>
        <p:txBody>
          <a:bodyPr wrap="none" anchor="ctr" lIns="0" tIns="0" rIns="0" bIns="0">
            <a:noAutofit/>
          </a:bodyPr>
          <a:lstStyle/>
          <a:p>
            <a:pPr algn="l"/>
            <a:r>
              <a:rPr lang="zh-CN" sz="1300">
                <a:solidFill>
                  <a:srgbClr val="17212B"/>
                </a:solidFill>
                <a:latin typeface="Arial Narrow"/>
                <a:ea typeface="Arial Narrow"/>
                <a:cs typeface="Arial Narrow"/>
              </a:rPr>
              <a:t>Review feedback</a:t>
            </a:r>
            <a:endParaRPr lang="zh-CN" sz="1300"/>
          </a:p>
        </p:txBody>
      </p:sp>
      <p:sp>
        <p:nvSpPr>
          <p:cNvPr id="227" name="Excluded reason"/>
          <p:cNvSpPr txBox="1"/>
          <p:nvPr/>
        </p:nvSpPr>
        <p:spPr>
          <a:xfrm>
            <a:off x="9753600" y="3648075"/>
            <a:ext cx="2057400" cy="209550"/>
          </a:xfrm>
          <a:prstGeom prst="rect">
            <a:avLst/>
          </a:prstGeom>
          <a:noFill/>
          <a:ln>
            <a:noFill/>
          </a:ln>
          <a:effectLst/>
        </p:spPr>
        <p:txBody>
          <a:bodyPr wrap="none" anchor="ctr" lIns="0" tIns="0" rIns="0" bIns="0">
            <a:noAutofit/>
          </a:bodyPr>
          <a:lstStyle/>
          <a:p>
            <a:pPr algn="ctr"/>
            <a:r>
              <a:rPr lang="zh-CN" sz="1000">
                <a:solidFill>
                  <a:srgbClr val="63717C"/>
                </a:solidFill>
                <a:latin typeface="Arial Narrow"/>
                <a:ea typeface="Arial Narrow"/>
                <a:cs typeface="Arial Narrow"/>
              </a:rPr>
              <a:t>Condition failed or no admission support</a:t>
            </a:r>
          </a:p>
        </p:txBody>
      </p:sp>
      <p:cxnSp>
        <p:nvCxnSpPr>
          <p:cNvPr id="228" name="Added exclusion branch 0"/>
          <p:cNvCxnSpPr/>
          <p:nvPr/>
        </p:nvCxnSpPr>
        <p:spPr>
          <a:xfrm>
            <a:off x="12011025" y="2476500"/>
            <a:ext cx="0" cy="1152525"/>
          </a:xfrm>
          <a:prstGeom prst="line">
            <a:avLst/>
          </a:prstGeom>
          <a:ln w="9525">
            <a:solidFill>
              <a:srgbClr val="31516B"/>
            </a:solidFill>
          </a:ln>
          <a:effectLst/>
        </p:spPr>
        <p:style>
          <a:lnRef idx="2">
            <a:schemeClr val="accent1"/>
          </a:lnRef>
          <a:fillRef idx="0">
            <a:schemeClr val="accent1"/>
          </a:fillRef>
          <a:effectRef idx="0">
            <a:schemeClr val="accent1"/>
          </a:effectRef>
          <a:fontRef idx="minor">
            <a:schemeClr val="tx1"/>
          </a:fontRef>
        </p:style>
      </p:cxnSp>
      <p:cxnSp>
        <p:nvCxnSpPr>
          <p:cNvPr id="229" name="Added exclusion branch 1"/>
          <p:cNvCxnSpPr/>
          <p:nvPr/>
        </p:nvCxnSpPr>
        <p:spPr>
          <a:xfrm flipH="1">
            <a:off x="11925300" y="3629025"/>
            <a:ext cx="85725" cy="0"/>
          </a:xfrm>
          <a:prstGeom prst="line">
            <a:avLst/>
          </a:prstGeom>
          <a:ln w="9525">
            <a:solidFill>
              <a:srgbClr val="31516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30" name="Required evidence from scored criteria 0"/>
          <p:cNvCxnSpPr/>
          <p:nvPr/>
        </p:nvCxnSpPr>
        <p:spPr>
          <a:xfrm>
            <a:off x="9505950" y="2781300"/>
            <a:ext cx="85725" cy="0"/>
          </a:xfrm>
          <a:prstGeom prst="line">
            <a:avLst/>
          </a:prstGeom>
          <a:ln w="9525">
            <a:solidFill>
              <a:srgbClr val="267549"/>
            </a:solidFill>
          </a:ln>
          <a:effectLst/>
        </p:spPr>
        <p:style>
          <a:lnRef idx="2">
            <a:schemeClr val="accent1"/>
          </a:lnRef>
          <a:fillRef idx="0">
            <a:schemeClr val="accent1"/>
          </a:fillRef>
          <a:effectRef idx="0">
            <a:schemeClr val="accent1"/>
          </a:effectRef>
          <a:fontRef idx="minor">
            <a:schemeClr val="tx1"/>
          </a:fontRef>
        </p:style>
      </p:cxnSp>
      <p:cxnSp>
        <p:nvCxnSpPr>
          <p:cNvPr id="231" name="Required evidence from scored criteria 1"/>
          <p:cNvCxnSpPr/>
          <p:nvPr/>
        </p:nvCxnSpPr>
        <p:spPr>
          <a:xfrm flipV="1">
            <a:off x="9591675" y="2486025"/>
            <a:ext cx="0" cy="295275"/>
          </a:xfrm>
          <a:prstGeom prst="line">
            <a:avLst/>
          </a:prstGeom>
          <a:ln w="9525">
            <a:solidFill>
              <a:srgbClr val="267549"/>
            </a:solidFill>
          </a:ln>
          <a:effectLst/>
        </p:spPr>
        <p:style>
          <a:lnRef idx="2">
            <a:schemeClr val="accent1"/>
          </a:lnRef>
          <a:fillRef idx="0">
            <a:schemeClr val="accent1"/>
          </a:fillRef>
          <a:effectRef idx="0">
            <a:schemeClr val="accent1"/>
          </a:effectRef>
          <a:fontRef idx="minor">
            <a:schemeClr val="tx1"/>
          </a:fontRef>
        </p:style>
      </p:cxnSp>
      <p:cxnSp>
        <p:nvCxnSpPr>
          <p:cNvPr id="232" name="Required evidence from scored criteria 2"/>
          <p:cNvCxnSpPr/>
          <p:nvPr/>
        </p:nvCxnSpPr>
        <p:spPr>
          <a:xfrm>
            <a:off x="9591675" y="2486025"/>
            <a:ext cx="457200" cy="0"/>
          </a:xfrm>
          <a:prstGeom prst="line">
            <a:avLst/>
          </a:prstGeom>
          <a:ln w="9525">
            <a:solidFill>
              <a:srgbClr val="267549"/>
            </a:solidFill>
          </a:ln>
          <a:effectLst/>
        </p:spPr>
        <p:style>
          <a:lnRef idx="2">
            <a:schemeClr val="accent1"/>
          </a:lnRef>
          <a:fillRef idx="0">
            <a:schemeClr val="accent1"/>
          </a:fillRef>
          <a:effectRef idx="0">
            <a:schemeClr val="accent1"/>
          </a:effectRef>
          <a:fontRef idx="minor">
            <a:schemeClr val="tx1"/>
          </a:fontRef>
        </p:style>
      </p:cxnSp>
      <p:cxnSp>
        <p:nvCxnSpPr>
          <p:cNvPr id="233" name="Required evidence from scored criteria 3"/>
          <p:cNvCxnSpPr/>
          <p:nvPr/>
        </p:nvCxnSpPr>
        <p:spPr>
          <a:xfrm flipV="1">
            <a:off x="10048875" y="2333625"/>
            <a:ext cx="0" cy="152400"/>
          </a:xfrm>
          <a:prstGeom prst="line">
            <a:avLst/>
          </a:prstGeom>
          <a:ln w="9525">
            <a:solidFill>
              <a:srgbClr val="267549"/>
            </a:solidFill>
            <a:tailEnd type="triangle" w="sm" len="sm"/>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