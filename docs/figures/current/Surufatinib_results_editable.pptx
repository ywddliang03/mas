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480000" cy="489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 Surufatinib ranks first in the recorded oral multi-target evaluation. a, The library contains 3,177 compounds. The task has six eligibility requirements: one condition requirement for oral administration and five direct-evidence requirements for CSF1R, VEGFR1, VEGFR2, VEGFR3 and FGFR1. All six are required. The five target criteria also contribute their observed values to the prioritization score, so the framework contains 18 unique decision rules and 17 scored criteria. The current selection policy assigns 10 candidates to Eligible, 1,305 to Evidence incomplete and 1,862 to Excluded. Evidence incomplete contains candidates with partial support and no confirmed condition failure. All 1,862 exclusions reflect completed assessments with no admission support; confirmed condition failures number zero. b, Scores of all ten eligible candidates under the frozen framework. Surufatinib ranks first with a score of 0.7592592593. Fifteen available, equally weighted contributions enter its score. c, Oral administration is supported, and observations for all five targets are available. The target values are recorded potency aggregates in pChEMBL and contribute to ranking through their specified comparison rules. Five measured or curated values and five permitted deterministic calculations provide direct coverage of 10/17 (58.8%). Five additional criteria use predictions; two have no usable value. The saved ranking floor is 50%. An initial evaluation had 6/17 (35.3%) coverage and no rank. Correcting existing-evidence reuse and the evidence bases of four calculated descriptors raised coverage to 10/17 and permitted rank 1 under the same floor. Surufatinib was specified as a reference candidate. The outcome boxes in a are schematic; their printed numbers give the group sizes.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216000" y="1044000"/>
            <a:ext cx="1296000" cy="612000"/>
          </a:xfrm>
          <a:custGeom>
            <a:avLst/>
            <a:gdLst/>
            <a:ahLst/>
            <a:cxnLst/>
            <a:rect l="l" t="t" r="r" b="b"/>
            <a:pathLst>
              <a:path w="1296000" h="612000">
                <a:moveTo>
                  <a:pt x="36000" y="612000"/>
                </a:moveTo>
                <a:lnTo>
                  <a:pt x="1260000" y="612000"/>
                </a:lnTo>
                <a:lnTo>
                  <a:pt x="1268437" y="611437"/>
                </a:lnTo>
                <a:lnTo>
                  <a:pt x="1281937" y="606937"/>
                </a:lnTo>
                <a:lnTo>
                  <a:pt x="1290937" y="597937"/>
                </a:lnTo>
                <a:lnTo>
                  <a:pt x="1295437" y="584437"/>
                </a:lnTo>
                <a:lnTo>
                  <a:pt x="1296000" y="576000"/>
                </a:lnTo>
                <a:lnTo>
                  <a:pt x="1296000" y="35999"/>
                </a:lnTo>
                <a:lnTo>
                  <a:pt x="1295437" y="27562"/>
                </a:lnTo>
                <a:lnTo>
                  <a:pt x="1290937" y="14062"/>
                </a:lnTo>
                <a:lnTo>
                  <a:pt x="1281937" y="5062"/>
                </a:lnTo>
                <a:lnTo>
                  <a:pt x="1268437" y="562"/>
                </a:lnTo>
                <a:lnTo>
                  <a:pt x="1260000" y="0"/>
                </a:lnTo>
                <a:lnTo>
                  <a:pt x="36000" y="0"/>
                </a:lnTo>
                <a:lnTo>
                  <a:pt x="27562" y="562"/>
                </a:lnTo>
                <a:lnTo>
                  <a:pt x="14062" y="5062"/>
                </a:lnTo>
                <a:lnTo>
                  <a:pt x="5062" y="14062"/>
                </a:lnTo>
                <a:lnTo>
                  <a:pt x="562" y="27562"/>
                </a:lnTo>
                <a:lnTo>
                  <a:pt x="0" y="35999"/>
                </a:lnTo>
                <a:lnTo>
                  <a:pt x="0" y="576000"/>
                </a:lnTo>
                <a:lnTo>
                  <a:pt x="562" y="584437"/>
                </a:lnTo>
                <a:lnTo>
                  <a:pt x="5062" y="597937"/>
                </a:lnTo>
                <a:lnTo>
                  <a:pt x="14062" y="606937"/>
                </a:lnTo>
                <a:lnTo>
                  <a:pt x="27562" y="611437"/>
                </a:lnTo>
                <a:lnTo>
                  <a:pt x="36000" y="612000"/>
                </a:lnTo>
                <a:close/>
              </a:path>
            </a:pathLst>
          </a:custGeom>
          <a:solidFill>
            <a:srgbClr val="F4F6F8"/>
          </a:solidFill>
          <a:ln w="9525">
            <a:solidFill>
              <a:srgbClr val="B9C3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Freeform 2"/>
          <p:cNvSpPr/>
          <p:nvPr/>
        </p:nvSpPr>
        <p:spPr>
          <a:xfrm>
            <a:off x="1512000" y="1350000"/>
            <a:ext cx="383930" cy="0"/>
          </a:xfrm>
          <a:custGeom>
            <a:avLst/>
            <a:gdLst/>
            <a:ahLst/>
            <a:cxnLst/>
            <a:rect l="l" t="t" r="r" b="b"/>
            <a:pathLst>
              <a:path w="383930" h="0">
                <a:moveTo>
                  <a:pt x="0" y="0"/>
                </a:moveTo>
                <a:lnTo>
                  <a:pt x="383930" y="0"/>
                </a:lnTo>
              </a:path>
            </a:pathLst>
          </a:custGeom>
          <a:noFill/>
          <a:ln w="10795">
            <a:solidFill>
              <a:srgbClr val="6571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Freeform 3"/>
          <p:cNvSpPr/>
          <p:nvPr/>
        </p:nvSpPr>
        <p:spPr>
          <a:xfrm>
            <a:off x="1860370" y="1332220"/>
            <a:ext cx="35560" cy="35560"/>
          </a:xfrm>
          <a:custGeom>
            <a:avLst/>
            <a:gdLst/>
            <a:ahLst/>
            <a:cxnLst/>
            <a:rect l="l" t="t" r="r" b="b"/>
            <a:pathLst>
              <a:path w="35560" h="35560">
                <a:moveTo>
                  <a:pt x="0" y="0"/>
                </a:moveTo>
                <a:lnTo>
                  <a:pt x="35560" y="17780"/>
                </a:lnTo>
                <a:lnTo>
                  <a:pt x="0" y="35560"/>
                </a:lnTo>
                <a:close/>
              </a:path>
            </a:pathLst>
          </a:custGeom>
          <a:solidFill>
            <a:srgbClr val="65717C"/>
          </a:solidFill>
          <a:ln w="10795">
            <a:solidFill>
              <a:srgbClr val="6571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Freeform 4"/>
          <p:cNvSpPr/>
          <p:nvPr/>
        </p:nvSpPr>
        <p:spPr>
          <a:xfrm>
            <a:off x="1908000" y="1044000"/>
            <a:ext cx="2232000" cy="612000"/>
          </a:xfrm>
          <a:custGeom>
            <a:avLst/>
            <a:gdLst/>
            <a:ahLst/>
            <a:cxnLst/>
            <a:rect l="l" t="t" r="r" b="b"/>
            <a:pathLst>
              <a:path w="2232000" h="612000">
                <a:moveTo>
                  <a:pt x="36000" y="612000"/>
                </a:moveTo>
                <a:lnTo>
                  <a:pt x="2196000" y="612000"/>
                </a:lnTo>
                <a:lnTo>
                  <a:pt x="2204437" y="611437"/>
                </a:lnTo>
                <a:lnTo>
                  <a:pt x="2217937" y="606937"/>
                </a:lnTo>
                <a:lnTo>
                  <a:pt x="2226937" y="597937"/>
                </a:lnTo>
                <a:lnTo>
                  <a:pt x="2231437" y="584437"/>
                </a:lnTo>
                <a:lnTo>
                  <a:pt x="2232000" y="576000"/>
                </a:lnTo>
                <a:lnTo>
                  <a:pt x="2232000" y="35999"/>
                </a:lnTo>
                <a:lnTo>
                  <a:pt x="2231437" y="27562"/>
                </a:lnTo>
                <a:lnTo>
                  <a:pt x="2226937" y="14062"/>
                </a:lnTo>
                <a:lnTo>
                  <a:pt x="2217937" y="5062"/>
                </a:lnTo>
                <a:lnTo>
                  <a:pt x="2204437" y="562"/>
                </a:lnTo>
                <a:lnTo>
                  <a:pt x="2196000" y="0"/>
                </a:lnTo>
                <a:lnTo>
                  <a:pt x="36000" y="0"/>
                </a:lnTo>
                <a:lnTo>
                  <a:pt x="27562" y="562"/>
                </a:lnTo>
                <a:lnTo>
                  <a:pt x="14062" y="5062"/>
                </a:lnTo>
                <a:lnTo>
                  <a:pt x="5062" y="14062"/>
                </a:lnTo>
                <a:lnTo>
                  <a:pt x="562" y="27562"/>
                </a:lnTo>
                <a:lnTo>
                  <a:pt x="0" y="35999"/>
                </a:lnTo>
                <a:lnTo>
                  <a:pt x="0" y="576000"/>
                </a:lnTo>
                <a:lnTo>
                  <a:pt x="562" y="584437"/>
                </a:lnTo>
                <a:lnTo>
                  <a:pt x="5062" y="597937"/>
                </a:lnTo>
                <a:lnTo>
                  <a:pt x="14062" y="606937"/>
                </a:lnTo>
                <a:lnTo>
                  <a:pt x="27562" y="611437"/>
                </a:lnTo>
                <a:lnTo>
                  <a:pt x="36000" y="612000"/>
                </a:lnTo>
                <a:close/>
              </a:path>
            </a:pathLst>
          </a:custGeom>
          <a:solidFill>
            <a:srgbClr val="FFFFFF"/>
          </a:solidFill>
          <a:ln w="9525">
            <a:solidFill>
              <a:srgbClr val="B9C3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Freeform 5"/>
          <p:cNvSpPr/>
          <p:nvPr/>
        </p:nvSpPr>
        <p:spPr>
          <a:xfrm>
            <a:off x="4140000" y="1350000"/>
            <a:ext cx="383930" cy="0"/>
          </a:xfrm>
          <a:custGeom>
            <a:avLst/>
            <a:gdLst/>
            <a:ahLst/>
            <a:cxnLst/>
            <a:rect l="l" t="t" r="r" b="b"/>
            <a:pathLst>
              <a:path w="383930" h="0">
                <a:moveTo>
                  <a:pt x="0" y="0"/>
                </a:moveTo>
                <a:lnTo>
                  <a:pt x="383930" y="0"/>
                </a:lnTo>
              </a:path>
            </a:pathLst>
          </a:custGeom>
          <a:noFill/>
          <a:ln w="1079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Freeform 6"/>
          <p:cNvSpPr/>
          <p:nvPr/>
        </p:nvSpPr>
        <p:spPr>
          <a:xfrm>
            <a:off x="4488370" y="1332220"/>
            <a:ext cx="35560" cy="35560"/>
          </a:xfrm>
          <a:custGeom>
            <a:avLst/>
            <a:gdLst/>
            <a:ahLst/>
            <a:cxnLst/>
            <a:rect l="l" t="t" r="r" b="b"/>
            <a:pathLst>
              <a:path w="35560" h="35560">
                <a:moveTo>
                  <a:pt x="0" y="0"/>
                </a:moveTo>
                <a:lnTo>
                  <a:pt x="35560" y="17780"/>
                </a:lnTo>
                <a:lnTo>
                  <a:pt x="0" y="35560"/>
                </a:lnTo>
                <a:close/>
              </a:path>
            </a:pathLst>
          </a:custGeom>
          <a:solidFill>
            <a:srgbClr val="316B9B"/>
          </a:solidFill>
          <a:ln w="1079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Freeform 7"/>
          <p:cNvSpPr/>
          <p:nvPr/>
        </p:nvSpPr>
        <p:spPr>
          <a:xfrm>
            <a:off x="4536000" y="1044000"/>
            <a:ext cx="1728000" cy="612000"/>
          </a:xfrm>
          <a:custGeom>
            <a:avLst/>
            <a:gdLst/>
            <a:ahLst/>
            <a:cxnLst/>
            <a:rect l="l" t="t" r="r" b="b"/>
            <a:pathLst>
              <a:path w="1728000" h="612000">
                <a:moveTo>
                  <a:pt x="36000" y="612000"/>
                </a:moveTo>
                <a:lnTo>
                  <a:pt x="1692000" y="612000"/>
                </a:lnTo>
                <a:lnTo>
                  <a:pt x="1700437" y="611437"/>
                </a:lnTo>
                <a:lnTo>
                  <a:pt x="1713937" y="606937"/>
                </a:lnTo>
                <a:lnTo>
                  <a:pt x="1722937" y="597937"/>
                </a:lnTo>
                <a:lnTo>
                  <a:pt x="1727437" y="584437"/>
                </a:lnTo>
                <a:lnTo>
                  <a:pt x="1728000" y="576000"/>
                </a:lnTo>
                <a:lnTo>
                  <a:pt x="1728000" y="35999"/>
                </a:lnTo>
                <a:lnTo>
                  <a:pt x="1727437" y="27562"/>
                </a:lnTo>
                <a:lnTo>
                  <a:pt x="1722937" y="14062"/>
                </a:lnTo>
                <a:lnTo>
                  <a:pt x="1713937" y="5062"/>
                </a:lnTo>
                <a:lnTo>
                  <a:pt x="1700437" y="562"/>
                </a:lnTo>
                <a:lnTo>
                  <a:pt x="1692000" y="0"/>
                </a:lnTo>
                <a:lnTo>
                  <a:pt x="36000" y="0"/>
                </a:lnTo>
                <a:lnTo>
                  <a:pt x="27562" y="562"/>
                </a:lnTo>
                <a:lnTo>
                  <a:pt x="14062" y="5062"/>
                </a:lnTo>
                <a:lnTo>
                  <a:pt x="5062" y="14062"/>
                </a:lnTo>
                <a:lnTo>
                  <a:pt x="562" y="27562"/>
                </a:lnTo>
                <a:lnTo>
                  <a:pt x="0" y="35999"/>
                </a:lnTo>
                <a:lnTo>
                  <a:pt x="0" y="576000"/>
                </a:lnTo>
                <a:lnTo>
                  <a:pt x="562" y="584437"/>
                </a:lnTo>
                <a:lnTo>
                  <a:pt x="5062" y="597937"/>
                </a:lnTo>
                <a:lnTo>
                  <a:pt x="14062" y="606937"/>
                </a:lnTo>
                <a:lnTo>
                  <a:pt x="27562" y="611437"/>
                </a:lnTo>
                <a:lnTo>
                  <a:pt x="36000" y="612000"/>
                </a:lnTo>
                <a:close/>
              </a:path>
            </a:pathLst>
          </a:custGeom>
          <a:solidFill>
            <a:srgbClr val="EAF2F8"/>
          </a:solidFill>
          <a:ln w="9525">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Freeform 8"/>
          <p:cNvSpPr/>
          <p:nvPr/>
        </p:nvSpPr>
        <p:spPr>
          <a:xfrm>
            <a:off x="1116000" y="1728000"/>
            <a:ext cx="0" cy="62060"/>
          </a:xfrm>
          <a:custGeom>
            <a:avLst/>
            <a:gdLst/>
            <a:ahLst/>
            <a:cxnLst/>
            <a:rect l="l" t="t" r="r" b="b"/>
            <a:pathLst>
              <a:path w="0" h="62060">
                <a:moveTo>
                  <a:pt x="0" y="0"/>
                </a:moveTo>
                <a:lnTo>
                  <a:pt x="0" y="62060"/>
                </a:lnTo>
              </a:path>
            </a:pathLst>
          </a:custGeom>
          <a:noFill/>
          <a:ln w="8890">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Freeform 9"/>
          <p:cNvSpPr/>
          <p:nvPr/>
        </p:nvSpPr>
        <p:spPr>
          <a:xfrm>
            <a:off x="1098220" y="1754500"/>
            <a:ext cx="35560" cy="35560"/>
          </a:xfrm>
          <a:custGeom>
            <a:avLst/>
            <a:gdLst/>
            <a:ahLst/>
            <a:cxnLst/>
            <a:rect l="l" t="t" r="r" b="b"/>
            <a:pathLst>
              <a:path w="35560" h="35560">
                <a:moveTo>
                  <a:pt x="35560" y="0"/>
                </a:moveTo>
                <a:lnTo>
                  <a:pt x="17780" y="35560"/>
                </a:lnTo>
                <a:lnTo>
                  <a:pt x="0" y="0"/>
                </a:lnTo>
                <a:close/>
              </a:path>
            </a:pathLst>
          </a:custGeom>
          <a:solidFill>
            <a:srgbClr val="C89D5A"/>
          </a:solidFill>
          <a:ln w="8890">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reeform 10"/>
          <p:cNvSpPr/>
          <p:nvPr/>
        </p:nvSpPr>
        <p:spPr>
          <a:xfrm>
            <a:off x="3240000" y="1728000"/>
            <a:ext cx="0" cy="62060"/>
          </a:xfrm>
          <a:custGeom>
            <a:avLst/>
            <a:gdLst/>
            <a:ahLst/>
            <a:cxnLst/>
            <a:rect l="l" t="t" r="r" b="b"/>
            <a:pathLst>
              <a:path w="0" h="62060">
                <a:moveTo>
                  <a:pt x="0" y="0"/>
                </a:moveTo>
                <a:lnTo>
                  <a:pt x="0" y="62060"/>
                </a:lnTo>
              </a:path>
            </a:pathLst>
          </a:custGeom>
          <a:noFill/>
          <a:ln w="8890">
            <a:solidFill>
              <a:srgbClr val="AE526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3222220" y="1754500"/>
            <a:ext cx="35560" cy="35560"/>
          </a:xfrm>
          <a:custGeom>
            <a:avLst/>
            <a:gdLst/>
            <a:ahLst/>
            <a:cxnLst/>
            <a:rect l="l" t="t" r="r" b="b"/>
            <a:pathLst>
              <a:path w="35560" h="35560">
                <a:moveTo>
                  <a:pt x="35560" y="0"/>
                </a:moveTo>
                <a:lnTo>
                  <a:pt x="17780" y="35560"/>
                </a:lnTo>
                <a:lnTo>
                  <a:pt x="0" y="0"/>
                </a:lnTo>
                <a:close/>
              </a:path>
            </a:pathLst>
          </a:custGeom>
          <a:solidFill>
            <a:srgbClr val="AE5260"/>
          </a:solidFill>
          <a:ln w="8890">
            <a:solidFill>
              <a:srgbClr val="AE526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216000" y="1800000"/>
            <a:ext cx="1800000" cy="378000"/>
          </a:xfrm>
          <a:custGeom>
            <a:avLst/>
            <a:gdLst/>
            <a:ahLst/>
            <a:cxnLst/>
            <a:rect l="l" t="t" r="r" b="b"/>
            <a:pathLst>
              <a:path w="1800000" h="378000">
                <a:moveTo>
                  <a:pt x="36000" y="378000"/>
                </a:moveTo>
                <a:lnTo>
                  <a:pt x="1764000" y="378000"/>
                </a:lnTo>
                <a:lnTo>
                  <a:pt x="1772437" y="377437"/>
                </a:lnTo>
                <a:lnTo>
                  <a:pt x="1785937" y="372937"/>
                </a:lnTo>
                <a:lnTo>
                  <a:pt x="1794937" y="363937"/>
                </a:lnTo>
                <a:lnTo>
                  <a:pt x="1799437" y="350437"/>
                </a:lnTo>
                <a:lnTo>
                  <a:pt x="1800000" y="342000"/>
                </a:lnTo>
                <a:lnTo>
                  <a:pt x="1800000" y="36000"/>
                </a:lnTo>
                <a:lnTo>
                  <a:pt x="1799437" y="27562"/>
                </a:lnTo>
                <a:lnTo>
                  <a:pt x="1794937" y="14062"/>
                </a:lnTo>
                <a:lnTo>
                  <a:pt x="1785937" y="5062"/>
                </a:lnTo>
                <a:lnTo>
                  <a:pt x="1772437" y="562"/>
                </a:lnTo>
                <a:lnTo>
                  <a:pt x="1764000" y="0"/>
                </a:lnTo>
                <a:lnTo>
                  <a:pt x="36000" y="0"/>
                </a:lnTo>
                <a:lnTo>
                  <a:pt x="27562" y="562"/>
                </a:lnTo>
                <a:lnTo>
                  <a:pt x="14062" y="5062"/>
                </a:lnTo>
                <a:lnTo>
                  <a:pt x="5062" y="14062"/>
                </a:lnTo>
                <a:lnTo>
                  <a:pt x="562" y="27562"/>
                </a:lnTo>
                <a:lnTo>
                  <a:pt x="0" y="36000"/>
                </a:lnTo>
                <a:lnTo>
                  <a:pt x="0" y="342000"/>
                </a:lnTo>
                <a:lnTo>
                  <a:pt x="562" y="350437"/>
                </a:lnTo>
                <a:lnTo>
                  <a:pt x="5062" y="363937"/>
                </a:lnTo>
                <a:lnTo>
                  <a:pt x="14062" y="372937"/>
                </a:lnTo>
                <a:lnTo>
                  <a:pt x="27562" y="377437"/>
                </a:lnTo>
                <a:lnTo>
                  <a:pt x="36000" y="378000"/>
                </a:lnTo>
                <a:close/>
              </a:path>
            </a:pathLst>
          </a:custGeom>
          <a:solidFill>
            <a:srgbClr val="FCF5E8"/>
          </a:solidFill>
          <a:ln w="9525">
            <a:solidFill>
              <a:srgbClr val="C7A86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40000" y="1800000"/>
            <a:ext cx="1800000" cy="378000"/>
          </a:xfrm>
          <a:custGeom>
            <a:avLst/>
            <a:gdLst/>
            <a:ahLst/>
            <a:cxnLst/>
            <a:rect l="l" t="t" r="r" b="b"/>
            <a:pathLst>
              <a:path w="1800000" h="378000">
                <a:moveTo>
                  <a:pt x="36000" y="378000"/>
                </a:moveTo>
                <a:lnTo>
                  <a:pt x="1764000" y="378000"/>
                </a:lnTo>
                <a:lnTo>
                  <a:pt x="1772437" y="377437"/>
                </a:lnTo>
                <a:lnTo>
                  <a:pt x="1785937" y="372937"/>
                </a:lnTo>
                <a:lnTo>
                  <a:pt x="1794937" y="363937"/>
                </a:lnTo>
                <a:lnTo>
                  <a:pt x="1799437" y="350437"/>
                </a:lnTo>
                <a:lnTo>
                  <a:pt x="1800000" y="342000"/>
                </a:lnTo>
                <a:lnTo>
                  <a:pt x="1800000" y="36000"/>
                </a:lnTo>
                <a:lnTo>
                  <a:pt x="1799437" y="27562"/>
                </a:lnTo>
                <a:lnTo>
                  <a:pt x="1794937" y="14062"/>
                </a:lnTo>
                <a:lnTo>
                  <a:pt x="1785937" y="5062"/>
                </a:lnTo>
                <a:lnTo>
                  <a:pt x="1772437" y="562"/>
                </a:lnTo>
                <a:lnTo>
                  <a:pt x="1764000" y="0"/>
                </a:lnTo>
                <a:lnTo>
                  <a:pt x="36000" y="0"/>
                </a:lnTo>
                <a:lnTo>
                  <a:pt x="27562" y="562"/>
                </a:lnTo>
                <a:lnTo>
                  <a:pt x="14062" y="5062"/>
                </a:lnTo>
                <a:lnTo>
                  <a:pt x="5062" y="14062"/>
                </a:lnTo>
                <a:lnTo>
                  <a:pt x="562" y="27562"/>
                </a:lnTo>
                <a:lnTo>
                  <a:pt x="0" y="36000"/>
                </a:lnTo>
                <a:lnTo>
                  <a:pt x="0" y="342000"/>
                </a:lnTo>
                <a:lnTo>
                  <a:pt x="562" y="350437"/>
                </a:lnTo>
                <a:lnTo>
                  <a:pt x="5062" y="363937"/>
                </a:lnTo>
                <a:lnTo>
                  <a:pt x="14062" y="372937"/>
                </a:lnTo>
                <a:lnTo>
                  <a:pt x="27562" y="377437"/>
                </a:lnTo>
                <a:lnTo>
                  <a:pt x="36000" y="378000"/>
                </a:lnTo>
                <a:close/>
              </a:path>
            </a:pathLst>
          </a:custGeom>
          <a:solidFill>
            <a:srgbClr val="FBEFF0"/>
          </a:solidFill>
          <a:ln w="9525">
            <a:solidFill>
              <a:srgbClr val="AE526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4111200" y="3207600"/>
            <a:ext cx="165600" cy="165600"/>
          </a:xfrm>
          <a:custGeom>
            <a:avLst/>
            <a:gdLst/>
            <a:ahLst/>
            <a:cxnLst/>
            <a:rect l="l" t="t" r="r" b="b"/>
            <a:pathLst>
              <a:path w="165600" h="165600">
                <a:moveTo>
                  <a:pt x="82800" y="165600"/>
                </a:moveTo>
                <a:lnTo>
                  <a:pt x="99157" y="164509"/>
                </a:lnTo>
                <a:lnTo>
                  <a:pt x="129011" y="152143"/>
                </a:lnTo>
                <a:lnTo>
                  <a:pt x="141348" y="141348"/>
                </a:lnTo>
                <a:lnTo>
                  <a:pt x="152143" y="129011"/>
                </a:lnTo>
                <a:lnTo>
                  <a:pt x="164509" y="99157"/>
                </a:lnTo>
                <a:lnTo>
                  <a:pt x="165600" y="82800"/>
                </a:lnTo>
                <a:lnTo>
                  <a:pt x="164509" y="66442"/>
                </a:lnTo>
                <a:lnTo>
                  <a:pt x="152143" y="36588"/>
                </a:lnTo>
                <a:lnTo>
                  <a:pt x="141348" y="24251"/>
                </a:lnTo>
                <a:lnTo>
                  <a:pt x="129011" y="13456"/>
                </a:lnTo>
                <a:lnTo>
                  <a:pt x="99157" y="1090"/>
                </a:lnTo>
                <a:lnTo>
                  <a:pt x="82800" y="0"/>
                </a:lnTo>
                <a:lnTo>
                  <a:pt x="66442" y="1090"/>
                </a:lnTo>
                <a:lnTo>
                  <a:pt x="36588" y="13456"/>
                </a:lnTo>
                <a:lnTo>
                  <a:pt x="24251" y="24251"/>
                </a:lnTo>
                <a:lnTo>
                  <a:pt x="13456" y="36588"/>
                </a:lnTo>
                <a:lnTo>
                  <a:pt x="1090" y="66442"/>
                </a:lnTo>
                <a:lnTo>
                  <a:pt x="0" y="82800"/>
                </a:lnTo>
                <a:lnTo>
                  <a:pt x="1090" y="99157"/>
                </a:lnTo>
                <a:lnTo>
                  <a:pt x="13456" y="129011"/>
                </a:lnTo>
                <a:lnTo>
                  <a:pt x="24251" y="141348"/>
                </a:lnTo>
                <a:lnTo>
                  <a:pt x="36588" y="152143"/>
                </a:lnTo>
                <a:lnTo>
                  <a:pt x="66442" y="164509"/>
                </a:lnTo>
                <a:lnTo>
                  <a:pt x="82800" y="165600"/>
                </a:lnTo>
                <a:close/>
              </a:path>
            </a:pathLst>
          </a:custGeom>
          <a:solidFill>
            <a:srgbClr val="EAF2F8"/>
          </a:solidFill>
          <a:ln w="7620">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Freeform 15"/>
          <p:cNvSpPr/>
          <p:nvPr/>
        </p:nvSpPr>
        <p:spPr>
          <a:xfrm>
            <a:off x="4168800" y="3265200"/>
            <a:ext cx="50400" cy="50400"/>
          </a:xfrm>
          <a:custGeom>
            <a:avLst/>
            <a:gdLst/>
            <a:ahLst/>
            <a:cxnLst/>
            <a:rect l="l" t="t" r="r" b="b"/>
            <a:pathLst>
              <a:path w="50400" h="50400">
                <a:moveTo>
                  <a:pt x="25200" y="50400"/>
                </a:moveTo>
                <a:lnTo>
                  <a:pt x="30178" y="50068"/>
                </a:lnTo>
                <a:lnTo>
                  <a:pt x="39264" y="46304"/>
                </a:lnTo>
                <a:lnTo>
                  <a:pt x="43019" y="43019"/>
                </a:lnTo>
                <a:lnTo>
                  <a:pt x="46304" y="39264"/>
                </a:lnTo>
                <a:lnTo>
                  <a:pt x="50068" y="30178"/>
                </a:lnTo>
                <a:lnTo>
                  <a:pt x="50400" y="25200"/>
                </a:lnTo>
                <a:lnTo>
                  <a:pt x="50068" y="20221"/>
                </a:lnTo>
                <a:lnTo>
                  <a:pt x="46304" y="11135"/>
                </a:lnTo>
                <a:lnTo>
                  <a:pt x="43019" y="7380"/>
                </a:lnTo>
                <a:lnTo>
                  <a:pt x="39264" y="4095"/>
                </a:lnTo>
                <a:lnTo>
                  <a:pt x="30178" y="331"/>
                </a:lnTo>
                <a:lnTo>
                  <a:pt x="25200" y="0"/>
                </a:lnTo>
                <a:lnTo>
                  <a:pt x="20221" y="331"/>
                </a:lnTo>
                <a:lnTo>
                  <a:pt x="11135" y="4095"/>
                </a:lnTo>
                <a:lnTo>
                  <a:pt x="7380" y="7380"/>
                </a:lnTo>
                <a:lnTo>
                  <a:pt x="4095" y="11135"/>
                </a:lnTo>
                <a:lnTo>
                  <a:pt x="331" y="20221"/>
                </a:lnTo>
                <a:lnTo>
                  <a:pt x="0" y="25200"/>
                </a:lnTo>
                <a:lnTo>
                  <a:pt x="331" y="30178"/>
                </a:lnTo>
                <a:lnTo>
                  <a:pt x="4095" y="39264"/>
                </a:lnTo>
                <a:lnTo>
                  <a:pt x="7380" y="43019"/>
                </a:lnTo>
                <a:lnTo>
                  <a:pt x="11135" y="46304"/>
                </a:lnTo>
                <a:lnTo>
                  <a:pt x="20221" y="50068"/>
                </a:lnTo>
                <a:lnTo>
                  <a:pt x="25200" y="50400"/>
                </a:lnTo>
                <a:close/>
              </a:path>
            </a:pathLst>
          </a:custGeom>
          <a:solidFill>
            <a:srgbClr val="316B9B"/>
          </a:solidFill>
          <a:ln w="7620">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Freeform 16"/>
          <p:cNvSpPr/>
          <p:nvPr/>
        </p:nvSpPr>
        <p:spPr>
          <a:xfrm>
            <a:off x="4579200" y="3207600"/>
            <a:ext cx="165600" cy="165600"/>
          </a:xfrm>
          <a:custGeom>
            <a:avLst/>
            <a:gdLst/>
            <a:ahLst/>
            <a:cxnLst/>
            <a:rect l="l" t="t" r="r" b="b"/>
            <a:pathLst>
              <a:path w="165600" h="165600">
                <a:moveTo>
                  <a:pt x="82800" y="165600"/>
                </a:moveTo>
                <a:lnTo>
                  <a:pt x="99157" y="164509"/>
                </a:lnTo>
                <a:lnTo>
                  <a:pt x="129011" y="152143"/>
                </a:lnTo>
                <a:lnTo>
                  <a:pt x="141348" y="141348"/>
                </a:lnTo>
                <a:lnTo>
                  <a:pt x="152143" y="129011"/>
                </a:lnTo>
                <a:lnTo>
                  <a:pt x="164509" y="99157"/>
                </a:lnTo>
                <a:lnTo>
                  <a:pt x="165600" y="82800"/>
                </a:lnTo>
                <a:lnTo>
                  <a:pt x="164509" y="66442"/>
                </a:lnTo>
                <a:lnTo>
                  <a:pt x="152143" y="36588"/>
                </a:lnTo>
                <a:lnTo>
                  <a:pt x="141348" y="24251"/>
                </a:lnTo>
                <a:lnTo>
                  <a:pt x="129011" y="13456"/>
                </a:lnTo>
                <a:lnTo>
                  <a:pt x="99157" y="1090"/>
                </a:lnTo>
                <a:lnTo>
                  <a:pt x="82800" y="0"/>
                </a:lnTo>
                <a:lnTo>
                  <a:pt x="66442" y="1090"/>
                </a:lnTo>
                <a:lnTo>
                  <a:pt x="36588" y="13456"/>
                </a:lnTo>
                <a:lnTo>
                  <a:pt x="24251" y="24251"/>
                </a:lnTo>
                <a:lnTo>
                  <a:pt x="13456" y="36588"/>
                </a:lnTo>
                <a:lnTo>
                  <a:pt x="1090" y="66442"/>
                </a:lnTo>
                <a:lnTo>
                  <a:pt x="0" y="82800"/>
                </a:lnTo>
                <a:lnTo>
                  <a:pt x="1090" y="99157"/>
                </a:lnTo>
                <a:lnTo>
                  <a:pt x="13456" y="129011"/>
                </a:lnTo>
                <a:lnTo>
                  <a:pt x="24251" y="141348"/>
                </a:lnTo>
                <a:lnTo>
                  <a:pt x="36588" y="152143"/>
                </a:lnTo>
                <a:lnTo>
                  <a:pt x="66442" y="164509"/>
                </a:lnTo>
                <a:lnTo>
                  <a:pt x="82800" y="165600"/>
                </a:lnTo>
                <a:close/>
              </a:path>
            </a:pathLst>
          </a:custGeom>
          <a:solidFill>
            <a:srgbClr val="EAF2F8"/>
          </a:solidFill>
          <a:ln w="7620">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4636800" y="3265200"/>
            <a:ext cx="50400" cy="50400"/>
          </a:xfrm>
          <a:custGeom>
            <a:avLst/>
            <a:gdLst/>
            <a:ahLst/>
            <a:cxnLst/>
            <a:rect l="l" t="t" r="r" b="b"/>
            <a:pathLst>
              <a:path w="50400" h="50400">
                <a:moveTo>
                  <a:pt x="25200" y="50400"/>
                </a:moveTo>
                <a:lnTo>
                  <a:pt x="30178" y="50068"/>
                </a:lnTo>
                <a:lnTo>
                  <a:pt x="39264" y="46304"/>
                </a:lnTo>
                <a:lnTo>
                  <a:pt x="43019" y="43019"/>
                </a:lnTo>
                <a:lnTo>
                  <a:pt x="46304" y="39264"/>
                </a:lnTo>
                <a:lnTo>
                  <a:pt x="50068" y="30178"/>
                </a:lnTo>
                <a:lnTo>
                  <a:pt x="50400" y="25200"/>
                </a:lnTo>
                <a:lnTo>
                  <a:pt x="50068" y="20221"/>
                </a:lnTo>
                <a:lnTo>
                  <a:pt x="46304" y="11135"/>
                </a:lnTo>
                <a:lnTo>
                  <a:pt x="43019" y="7380"/>
                </a:lnTo>
                <a:lnTo>
                  <a:pt x="39264" y="4095"/>
                </a:lnTo>
                <a:lnTo>
                  <a:pt x="30178" y="331"/>
                </a:lnTo>
                <a:lnTo>
                  <a:pt x="25200" y="0"/>
                </a:lnTo>
                <a:lnTo>
                  <a:pt x="20221" y="331"/>
                </a:lnTo>
                <a:lnTo>
                  <a:pt x="11135" y="4095"/>
                </a:lnTo>
                <a:lnTo>
                  <a:pt x="7380" y="7380"/>
                </a:lnTo>
                <a:lnTo>
                  <a:pt x="4095" y="11135"/>
                </a:lnTo>
                <a:lnTo>
                  <a:pt x="331" y="20221"/>
                </a:lnTo>
                <a:lnTo>
                  <a:pt x="0" y="25200"/>
                </a:lnTo>
                <a:lnTo>
                  <a:pt x="331" y="30178"/>
                </a:lnTo>
                <a:lnTo>
                  <a:pt x="4095" y="39264"/>
                </a:lnTo>
                <a:lnTo>
                  <a:pt x="7380" y="43019"/>
                </a:lnTo>
                <a:lnTo>
                  <a:pt x="11135" y="46304"/>
                </a:lnTo>
                <a:lnTo>
                  <a:pt x="20221" y="50068"/>
                </a:lnTo>
                <a:lnTo>
                  <a:pt x="25200" y="50400"/>
                </a:lnTo>
                <a:close/>
              </a:path>
            </a:pathLst>
          </a:custGeom>
          <a:solidFill>
            <a:srgbClr val="316B9B"/>
          </a:solidFill>
          <a:ln w="7620">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Freeform 18"/>
          <p:cNvSpPr/>
          <p:nvPr/>
        </p:nvSpPr>
        <p:spPr>
          <a:xfrm>
            <a:off x="5047200" y="3207600"/>
            <a:ext cx="165600" cy="165600"/>
          </a:xfrm>
          <a:custGeom>
            <a:avLst/>
            <a:gdLst/>
            <a:ahLst/>
            <a:cxnLst/>
            <a:rect l="l" t="t" r="r" b="b"/>
            <a:pathLst>
              <a:path w="165600" h="165600">
                <a:moveTo>
                  <a:pt x="82800" y="165600"/>
                </a:moveTo>
                <a:lnTo>
                  <a:pt x="99157" y="164509"/>
                </a:lnTo>
                <a:lnTo>
                  <a:pt x="129011" y="152143"/>
                </a:lnTo>
                <a:lnTo>
                  <a:pt x="141348" y="141348"/>
                </a:lnTo>
                <a:lnTo>
                  <a:pt x="152143" y="129011"/>
                </a:lnTo>
                <a:lnTo>
                  <a:pt x="164509" y="99157"/>
                </a:lnTo>
                <a:lnTo>
                  <a:pt x="165600" y="82800"/>
                </a:lnTo>
                <a:lnTo>
                  <a:pt x="164509" y="66442"/>
                </a:lnTo>
                <a:lnTo>
                  <a:pt x="152143" y="36588"/>
                </a:lnTo>
                <a:lnTo>
                  <a:pt x="141348" y="24251"/>
                </a:lnTo>
                <a:lnTo>
                  <a:pt x="129011" y="13456"/>
                </a:lnTo>
                <a:lnTo>
                  <a:pt x="99157" y="1090"/>
                </a:lnTo>
                <a:lnTo>
                  <a:pt x="82800" y="0"/>
                </a:lnTo>
                <a:lnTo>
                  <a:pt x="66442" y="1090"/>
                </a:lnTo>
                <a:lnTo>
                  <a:pt x="36588" y="13456"/>
                </a:lnTo>
                <a:lnTo>
                  <a:pt x="24251" y="24251"/>
                </a:lnTo>
                <a:lnTo>
                  <a:pt x="13456" y="36588"/>
                </a:lnTo>
                <a:lnTo>
                  <a:pt x="1090" y="66442"/>
                </a:lnTo>
                <a:lnTo>
                  <a:pt x="0" y="82800"/>
                </a:lnTo>
                <a:lnTo>
                  <a:pt x="1090" y="99157"/>
                </a:lnTo>
                <a:lnTo>
                  <a:pt x="13456" y="129011"/>
                </a:lnTo>
                <a:lnTo>
                  <a:pt x="24251" y="141348"/>
                </a:lnTo>
                <a:lnTo>
                  <a:pt x="36588" y="152143"/>
                </a:lnTo>
                <a:lnTo>
                  <a:pt x="66442" y="164509"/>
                </a:lnTo>
                <a:lnTo>
                  <a:pt x="82800" y="165600"/>
                </a:lnTo>
                <a:close/>
              </a:path>
            </a:pathLst>
          </a:custGeom>
          <a:solidFill>
            <a:srgbClr val="EAF2F8"/>
          </a:solidFill>
          <a:ln w="7620">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Freeform 19"/>
          <p:cNvSpPr/>
          <p:nvPr/>
        </p:nvSpPr>
        <p:spPr>
          <a:xfrm>
            <a:off x="5104800" y="3265200"/>
            <a:ext cx="50400" cy="50400"/>
          </a:xfrm>
          <a:custGeom>
            <a:avLst/>
            <a:gdLst/>
            <a:ahLst/>
            <a:cxnLst/>
            <a:rect l="l" t="t" r="r" b="b"/>
            <a:pathLst>
              <a:path w="50400" h="50400">
                <a:moveTo>
                  <a:pt x="25200" y="50400"/>
                </a:moveTo>
                <a:lnTo>
                  <a:pt x="30178" y="50068"/>
                </a:lnTo>
                <a:lnTo>
                  <a:pt x="39264" y="46304"/>
                </a:lnTo>
                <a:lnTo>
                  <a:pt x="43019" y="43019"/>
                </a:lnTo>
                <a:lnTo>
                  <a:pt x="46304" y="39264"/>
                </a:lnTo>
                <a:lnTo>
                  <a:pt x="50068" y="30178"/>
                </a:lnTo>
                <a:lnTo>
                  <a:pt x="50400" y="25200"/>
                </a:lnTo>
                <a:lnTo>
                  <a:pt x="50068" y="20221"/>
                </a:lnTo>
                <a:lnTo>
                  <a:pt x="46304" y="11135"/>
                </a:lnTo>
                <a:lnTo>
                  <a:pt x="43019" y="7380"/>
                </a:lnTo>
                <a:lnTo>
                  <a:pt x="39264" y="4095"/>
                </a:lnTo>
                <a:lnTo>
                  <a:pt x="30178" y="331"/>
                </a:lnTo>
                <a:lnTo>
                  <a:pt x="25200" y="0"/>
                </a:lnTo>
                <a:lnTo>
                  <a:pt x="20221" y="331"/>
                </a:lnTo>
                <a:lnTo>
                  <a:pt x="11135" y="4095"/>
                </a:lnTo>
                <a:lnTo>
                  <a:pt x="7380" y="7380"/>
                </a:lnTo>
                <a:lnTo>
                  <a:pt x="4095" y="11135"/>
                </a:lnTo>
                <a:lnTo>
                  <a:pt x="331" y="20221"/>
                </a:lnTo>
                <a:lnTo>
                  <a:pt x="0" y="25200"/>
                </a:lnTo>
                <a:lnTo>
                  <a:pt x="331" y="30178"/>
                </a:lnTo>
                <a:lnTo>
                  <a:pt x="4095" y="39264"/>
                </a:lnTo>
                <a:lnTo>
                  <a:pt x="7380" y="43019"/>
                </a:lnTo>
                <a:lnTo>
                  <a:pt x="11135" y="46304"/>
                </a:lnTo>
                <a:lnTo>
                  <a:pt x="20221" y="50068"/>
                </a:lnTo>
                <a:lnTo>
                  <a:pt x="25200" y="50400"/>
                </a:lnTo>
                <a:close/>
              </a:path>
            </a:pathLst>
          </a:custGeom>
          <a:solidFill>
            <a:srgbClr val="316B9B"/>
          </a:solidFill>
          <a:ln w="7620">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5515200" y="3207600"/>
            <a:ext cx="165600" cy="165600"/>
          </a:xfrm>
          <a:custGeom>
            <a:avLst/>
            <a:gdLst/>
            <a:ahLst/>
            <a:cxnLst/>
            <a:rect l="l" t="t" r="r" b="b"/>
            <a:pathLst>
              <a:path w="165600" h="165600">
                <a:moveTo>
                  <a:pt x="82800" y="165600"/>
                </a:moveTo>
                <a:lnTo>
                  <a:pt x="99157" y="164509"/>
                </a:lnTo>
                <a:lnTo>
                  <a:pt x="129011" y="152143"/>
                </a:lnTo>
                <a:lnTo>
                  <a:pt x="141348" y="141348"/>
                </a:lnTo>
                <a:lnTo>
                  <a:pt x="152143" y="129011"/>
                </a:lnTo>
                <a:lnTo>
                  <a:pt x="164509" y="99157"/>
                </a:lnTo>
                <a:lnTo>
                  <a:pt x="165600" y="82800"/>
                </a:lnTo>
                <a:lnTo>
                  <a:pt x="164509" y="66442"/>
                </a:lnTo>
                <a:lnTo>
                  <a:pt x="152143" y="36588"/>
                </a:lnTo>
                <a:lnTo>
                  <a:pt x="141348" y="24251"/>
                </a:lnTo>
                <a:lnTo>
                  <a:pt x="129011" y="13456"/>
                </a:lnTo>
                <a:lnTo>
                  <a:pt x="99157" y="1090"/>
                </a:lnTo>
                <a:lnTo>
                  <a:pt x="82800" y="0"/>
                </a:lnTo>
                <a:lnTo>
                  <a:pt x="66442" y="1090"/>
                </a:lnTo>
                <a:lnTo>
                  <a:pt x="36588" y="13456"/>
                </a:lnTo>
                <a:lnTo>
                  <a:pt x="24251" y="24251"/>
                </a:lnTo>
                <a:lnTo>
                  <a:pt x="13456" y="36588"/>
                </a:lnTo>
                <a:lnTo>
                  <a:pt x="1090" y="66442"/>
                </a:lnTo>
                <a:lnTo>
                  <a:pt x="0" y="82800"/>
                </a:lnTo>
                <a:lnTo>
                  <a:pt x="1090" y="99157"/>
                </a:lnTo>
                <a:lnTo>
                  <a:pt x="13456" y="129011"/>
                </a:lnTo>
                <a:lnTo>
                  <a:pt x="24251" y="141348"/>
                </a:lnTo>
                <a:lnTo>
                  <a:pt x="36588" y="152143"/>
                </a:lnTo>
                <a:lnTo>
                  <a:pt x="66442" y="164509"/>
                </a:lnTo>
                <a:lnTo>
                  <a:pt x="82800" y="165600"/>
                </a:lnTo>
                <a:close/>
              </a:path>
            </a:pathLst>
          </a:custGeom>
          <a:solidFill>
            <a:srgbClr val="EAF2F8"/>
          </a:solidFill>
          <a:ln w="7620">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reeform 21"/>
          <p:cNvSpPr/>
          <p:nvPr/>
        </p:nvSpPr>
        <p:spPr>
          <a:xfrm>
            <a:off x="5572800" y="3265200"/>
            <a:ext cx="50400" cy="50400"/>
          </a:xfrm>
          <a:custGeom>
            <a:avLst/>
            <a:gdLst/>
            <a:ahLst/>
            <a:cxnLst/>
            <a:rect l="l" t="t" r="r" b="b"/>
            <a:pathLst>
              <a:path w="50400" h="50400">
                <a:moveTo>
                  <a:pt x="25200" y="50400"/>
                </a:moveTo>
                <a:lnTo>
                  <a:pt x="30178" y="50068"/>
                </a:lnTo>
                <a:lnTo>
                  <a:pt x="39264" y="46304"/>
                </a:lnTo>
                <a:lnTo>
                  <a:pt x="43019" y="43019"/>
                </a:lnTo>
                <a:lnTo>
                  <a:pt x="46304" y="39264"/>
                </a:lnTo>
                <a:lnTo>
                  <a:pt x="50068" y="30178"/>
                </a:lnTo>
                <a:lnTo>
                  <a:pt x="50400" y="25200"/>
                </a:lnTo>
                <a:lnTo>
                  <a:pt x="50068" y="20221"/>
                </a:lnTo>
                <a:lnTo>
                  <a:pt x="46304" y="11135"/>
                </a:lnTo>
                <a:lnTo>
                  <a:pt x="43019" y="7380"/>
                </a:lnTo>
                <a:lnTo>
                  <a:pt x="39264" y="4095"/>
                </a:lnTo>
                <a:lnTo>
                  <a:pt x="30178" y="331"/>
                </a:lnTo>
                <a:lnTo>
                  <a:pt x="25200" y="0"/>
                </a:lnTo>
                <a:lnTo>
                  <a:pt x="20221" y="331"/>
                </a:lnTo>
                <a:lnTo>
                  <a:pt x="11135" y="4095"/>
                </a:lnTo>
                <a:lnTo>
                  <a:pt x="7380" y="7380"/>
                </a:lnTo>
                <a:lnTo>
                  <a:pt x="4095" y="11135"/>
                </a:lnTo>
                <a:lnTo>
                  <a:pt x="331" y="20221"/>
                </a:lnTo>
                <a:lnTo>
                  <a:pt x="0" y="25200"/>
                </a:lnTo>
                <a:lnTo>
                  <a:pt x="331" y="30178"/>
                </a:lnTo>
                <a:lnTo>
                  <a:pt x="4095" y="39264"/>
                </a:lnTo>
                <a:lnTo>
                  <a:pt x="7380" y="43019"/>
                </a:lnTo>
                <a:lnTo>
                  <a:pt x="11135" y="46304"/>
                </a:lnTo>
                <a:lnTo>
                  <a:pt x="20221" y="50068"/>
                </a:lnTo>
                <a:lnTo>
                  <a:pt x="25200" y="50400"/>
                </a:lnTo>
                <a:close/>
              </a:path>
            </a:pathLst>
          </a:custGeom>
          <a:solidFill>
            <a:srgbClr val="316B9B"/>
          </a:solidFill>
          <a:ln w="7620">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reeform 22"/>
          <p:cNvSpPr/>
          <p:nvPr/>
        </p:nvSpPr>
        <p:spPr>
          <a:xfrm>
            <a:off x="5983200" y="3207600"/>
            <a:ext cx="165600" cy="165600"/>
          </a:xfrm>
          <a:custGeom>
            <a:avLst/>
            <a:gdLst/>
            <a:ahLst/>
            <a:cxnLst/>
            <a:rect l="l" t="t" r="r" b="b"/>
            <a:pathLst>
              <a:path w="165600" h="165600">
                <a:moveTo>
                  <a:pt x="82800" y="165600"/>
                </a:moveTo>
                <a:lnTo>
                  <a:pt x="99157" y="164509"/>
                </a:lnTo>
                <a:lnTo>
                  <a:pt x="129011" y="152143"/>
                </a:lnTo>
                <a:lnTo>
                  <a:pt x="141348" y="141348"/>
                </a:lnTo>
                <a:lnTo>
                  <a:pt x="152143" y="129011"/>
                </a:lnTo>
                <a:lnTo>
                  <a:pt x="164509" y="99157"/>
                </a:lnTo>
                <a:lnTo>
                  <a:pt x="165600" y="82800"/>
                </a:lnTo>
                <a:lnTo>
                  <a:pt x="164509" y="66442"/>
                </a:lnTo>
                <a:lnTo>
                  <a:pt x="152143" y="36588"/>
                </a:lnTo>
                <a:lnTo>
                  <a:pt x="141348" y="24251"/>
                </a:lnTo>
                <a:lnTo>
                  <a:pt x="129011" y="13456"/>
                </a:lnTo>
                <a:lnTo>
                  <a:pt x="99157" y="1090"/>
                </a:lnTo>
                <a:lnTo>
                  <a:pt x="82800" y="0"/>
                </a:lnTo>
                <a:lnTo>
                  <a:pt x="66442" y="1090"/>
                </a:lnTo>
                <a:lnTo>
                  <a:pt x="36588" y="13456"/>
                </a:lnTo>
                <a:lnTo>
                  <a:pt x="24251" y="24251"/>
                </a:lnTo>
                <a:lnTo>
                  <a:pt x="13456" y="36588"/>
                </a:lnTo>
                <a:lnTo>
                  <a:pt x="1090" y="66442"/>
                </a:lnTo>
                <a:lnTo>
                  <a:pt x="0" y="82800"/>
                </a:lnTo>
                <a:lnTo>
                  <a:pt x="1090" y="99157"/>
                </a:lnTo>
                <a:lnTo>
                  <a:pt x="13456" y="129011"/>
                </a:lnTo>
                <a:lnTo>
                  <a:pt x="24251" y="141348"/>
                </a:lnTo>
                <a:lnTo>
                  <a:pt x="36588" y="152143"/>
                </a:lnTo>
                <a:lnTo>
                  <a:pt x="66442" y="164509"/>
                </a:lnTo>
                <a:lnTo>
                  <a:pt x="82800" y="165600"/>
                </a:lnTo>
                <a:close/>
              </a:path>
            </a:pathLst>
          </a:custGeom>
          <a:solidFill>
            <a:srgbClr val="EAF2F8"/>
          </a:solidFill>
          <a:ln w="7620">
            <a:solidFill>
              <a:srgbClr val="90B2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Freeform 23"/>
          <p:cNvSpPr/>
          <p:nvPr/>
        </p:nvSpPr>
        <p:spPr>
          <a:xfrm>
            <a:off x="6040800" y="3265200"/>
            <a:ext cx="50400" cy="50400"/>
          </a:xfrm>
          <a:custGeom>
            <a:avLst/>
            <a:gdLst/>
            <a:ahLst/>
            <a:cxnLst/>
            <a:rect l="l" t="t" r="r" b="b"/>
            <a:pathLst>
              <a:path w="50400" h="50400">
                <a:moveTo>
                  <a:pt x="25200" y="50400"/>
                </a:moveTo>
                <a:lnTo>
                  <a:pt x="30178" y="50068"/>
                </a:lnTo>
                <a:lnTo>
                  <a:pt x="39264" y="46304"/>
                </a:lnTo>
                <a:lnTo>
                  <a:pt x="43019" y="43019"/>
                </a:lnTo>
                <a:lnTo>
                  <a:pt x="46304" y="39264"/>
                </a:lnTo>
                <a:lnTo>
                  <a:pt x="50068" y="30178"/>
                </a:lnTo>
                <a:lnTo>
                  <a:pt x="50400" y="25200"/>
                </a:lnTo>
                <a:lnTo>
                  <a:pt x="50068" y="20221"/>
                </a:lnTo>
                <a:lnTo>
                  <a:pt x="46304" y="11135"/>
                </a:lnTo>
                <a:lnTo>
                  <a:pt x="43019" y="7380"/>
                </a:lnTo>
                <a:lnTo>
                  <a:pt x="39264" y="4095"/>
                </a:lnTo>
                <a:lnTo>
                  <a:pt x="30178" y="331"/>
                </a:lnTo>
                <a:lnTo>
                  <a:pt x="25200" y="0"/>
                </a:lnTo>
                <a:lnTo>
                  <a:pt x="20221" y="331"/>
                </a:lnTo>
                <a:lnTo>
                  <a:pt x="11135" y="4095"/>
                </a:lnTo>
                <a:lnTo>
                  <a:pt x="7380" y="7380"/>
                </a:lnTo>
                <a:lnTo>
                  <a:pt x="4095" y="11135"/>
                </a:lnTo>
                <a:lnTo>
                  <a:pt x="331" y="20221"/>
                </a:lnTo>
                <a:lnTo>
                  <a:pt x="0" y="25200"/>
                </a:lnTo>
                <a:lnTo>
                  <a:pt x="331" y="30178"/>
                </a:lnTo>
                <a:lnTo>
                  <a:pt x="4095" y="39264"/>
                </a:lnTo>
                <a:lnTo>
                  <a:pt x="7380" y="43019"/>
                </a:lnTo>
                <a:lnTo>
                  <a:pt x="11135" y="46304"/>
                </a:lnTo>
                <a:lnTo>
                  <a:pt x="20221" y="50068"/>
                </a:lnTo>
                <a:lnTo>
                  <a:pt x="25200" y="50400"/>
                </a:lnTo>
                <a:close/>
              </a:path>
            </a:pathLst>
          </a:custGeom>
          <a:solidFill>
            <a:srgbClr val="316B9B"/>
          </a:solidFill>
          <a:ln w="7620">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reeform 24"/>
          <p:cNvSpPr/>
          <p:nvPr/>
        </p:nvSpPr>
        <p:spPr>
          <a:xfrm>
            <a:off x="399600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412992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426384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439776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453168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466560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479952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493344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506736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520128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33520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reeform 35"/>
          <p:cNvSpPr/>
          <p:nvPr/>
        </p:nvSpPr>
        <p:spPr>
          <a:xfrm>
            <a:off x="546912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Freeform 36"/>
          <p:cNvSpPr/>
          <p:nvPr/>
        </p:nvSpPr>
        <p:spPr>
          <a:xfrm>
            <a:off x="560304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Freeform 37"/>
          <p:cNvSpPr/>
          <p:nvPr/>
        </p:nvSpPr>
        <p:spPr>
          <a:xfrm>
            <a:off x="573696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587088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600480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FFFFFF"/>
          </a:solidFill>
          <a:ln w="6985">
            <a:solidFill>
              <a:srgbClr val="6571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6138720" y="4230000"/>
            <a:ext cx="114480" cy="133200"/>
          </a:xfrm>
          <a:custGeom>
            <a:avLst/>
            <a:gdLst/>
            <a:ahLst/>
            <a:cxnLst/>
            <a:rect l="l" t="t" r="r" b="b"/>
            <a:pathLst>
              <a:path w="114480" h="133200">
                <a:moveTo>
                  <a:pt x="0" y="133200"/>
                </a:moveTo>
                <a:lnTo>
                  <a:pt x="114480" y="133200"/>
                </a:lnTo>
                <a:lnTo>
                  <a:pt x="114480" y="0"/>
                </a:lnTo>
                <a:lnTo>
                  <a:pt x="0" y="0"/>
                </a:lnTo>
                <a:close/>
              </a:path>
            </a:pathLst>
          </a:custGeom>
          <a:solidFill>
            <a:srgbClr val="FFFFFF"/>
          </a:solidFill>
          <a:ln w="6985">
            <a:solidFill>
              <a:srgbClr val="6571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3996000" y="4467600"/>
            <a:ext cx="72000" cy="64800"/>
          </a:xfrm>
          <a:custGeom>
            <a:avLst/>
            <a:gdLst/>
            <a:ahLst/>
            <a:cxnLst/>
            <a:rect l="l" t="t" r="r" b="b"/>
            <a:pathLst>
              <a:path w="72000" h="64800">
                <a:moveTo>
                  <a:pt x="0" y="64800"/>
                </a:moveTo>
                <a:lnTo>
                  <a:pt x="72000" y="64800"/>
                </a:lnTo>
                <a:lnTo>
                  <a:pt x="72000" y="0"/>
                </a:lnTo>
                <a:lnTo>
                  <a:pt x="0" y="0"/>
                </a:lnTo>
                <a:close/>
              </a:path>
            </a:pathLst>
          </a:custGeom>
          <a:solidFill>
            <a:srgbClr val="316B9B"/>
          </a:solidFill>
          <a:ln w="6985">
            <a:solidFill>
              <a:srgbClr val="316B9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5220000" y="4467600"/>
            <a:ext cx="72000" cy="64800"/>
          </a:xfrm>
          <a:custGeom>
            <a:avLst/>
            <a:gdLst/>
            <a:ahLst/>
            <a:cxnLst/>
            <a:rect l="l" t="t" r="r" b="b"/>
            <a:pathLst>
              <a:path w="72000" h="64800">
                <a:moveTo>
                  <a:pt x="0" y="64800"/>
                </a:moveTo>
                <a:lnTo>
                  <a:pt x="72000" y="64800"/>
                </a:lnTo>
                <a:lnTo>
                  <a:pt x="72000" y="0"/>
                </a:lnTo>
                <a:lnTo>
                  <a:pt x="0" y="0"/>
                </a:lnTo>
                <a:close/>
              </a:path>
            </a:pathLst>
          </a:custGeom>
          <a:solidFill>
            <a:srgbClr val="6A9FA5"/>
          </a:solidFill>
          <a:ln w="6985">
            <a:solidFill>
              <a:srgbClr val="6A9FA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Freeform 43"/>
          <p:cNvSpPr/>
          <p:nvPr/>
        </p:nvSpPr>
        <p:spPr>
          <a:xfrm>
            <a:off x="3996000" y="4629600"/>
            <a:ext cx="72000" cy="64800"/>
          </a:xfrm>
          <a:custGeom>
            <a:avLst/>
            <a:gdLst/>
            <a:ahLst/>
            <a:cxnLst/>
            <a:rect l="l" t="t" r="r" b="b"/>
            <a:pathLst>
              <a:path w="72000" h="64800">
                <a:moveTo>
                  <a:pt x="0" y="64800"/>
                </a:moveTo>
                <a:lnTo>
                  <a:pt x="72000" y="64800"/>
                </a:lnTo>
                <a:lnTo>
                  <a:pt x="72000" y="0"/>
                </a:lnTo>
                <a:lnTo>
                  <a:pt x="0" y="0"/>
                </a:lnTo>
                <a:close/>
              </a:path>
            </a:pathLst>
          </a:custGeom>
          <a:solidFill>
            <a:srgbClr val="C89D5A"/>
          </a:solidFill>
          <a:ln w="6985">
            <a:solidFill>
              <a:srgbClr val="C89D5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Freeform 44"/>
          <p:cNvSpPr/>
          <p:nvPr/>
        </p:nvSpPr>
        <p:spPr>
          <a:xfrm>
            <a:off x="5220000" y="4629600"/>
            <a:ext cx="72000" cy="64800"/>
          </a:xfrm>
          <a:custGeom>
            <a:avLst/>
            <a:gdLst/>
            <a:ahLst/>
            <a:cxnLst/>
            <a:rect l="l" t="t" r="r" b="b"/>
            <a:pathLst>
              <a:path w="72000" h="64800">
                <a:moveTo>
                  <a:pt x="0" y="64800"/>
                </a:moveTo>
                <a:lnTo>
                  <a:pt x="72000" y="64800"/>
                </a:lnTo>
                <a:lnTo>
                  <a:pt x="72000" y="0"/>
                </a:lnTo>
                <a:lnTo>
                  <a:pt x="0" y="0"/>
                </a:lnTo>
                <a:close/>
              </a:path>
            </a:pathLst>
          </a:custGeom>
          <a:solidFill>
            <a:srgbClr val="FFFFFF"/>
          </a:solidFill>
          <a:ln w="6985">
            <a:solidFill>
              <a:srgbClr val="65717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6" name="Connector 45"/>
          <p:cNvCxnSpPr/>
          <p:nvPr/>
        </p:nvCxnSpPr>
        <p:spPr>
          <a:xfrm>
            <a:off x="216000" y="612000"/>
            <a:ext cx="6048000" cy="0"/>
          </a:xfrm>
          <a:prstGeom prst="line">
            <a:avLst/>
          </a:prstGeom>
          <a:ln w="8255">
            <a:solidFill>
              <a:srgbClr val="B9C3CC"/>
            </a:solidFill>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3024000" y="1656000"/>
            <a:ext cx="0" cy="72000"/>
          </a:xfrm>
          <a:prstGeom prst="line">
            <a:avLst/>
          </a:prstGeom>
          <a:ln w="8890">
            <a:solidFill>
              <a:srgbClr val="B9C3CC"/>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flipH="1">
            <a:off x="1116000" y="1728000"/>
            <a:ext cx="1908000" cy="0"/>
          </a:xfrm>
          <a:prstGeom prst="line">
            <a:avLst/>
          </a:prstGeom>
          <a:ln w="8890">
            <a:solidFill>
              <a:srgbClr val="B9C3CC"/>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a:off x="3024000" y="1728000"/>
            <a:ext cx="216000" cy="0"/>
          </a:xfrm>
          <a:prstGeom prst="line">
            <a:avLst/>
          </a:prstGeom>
          <a:ln w="8890">
            <a:solidFill>
              <a:srgbClr val="B9C3CC"/>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a:off x="3996000" y="2854800"/>
            <a:ext cx="2268000" cy="0"/>
          </a:xfrm>
          <a:prstGeom prst="line">
            <a:avLst/>
          </a:prstGeom>
          <a:ln w="7620">
            <a:solidFill>
              <a:srgbClr val="DEE5EB"/>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3996000" y="3978000"/>
            <a:ext cx="2268000" cy="0"/>
          </a:xfrm>
          <a:prstGeom prst="line">
            <a:avLst/>
          </a:prstGeom>
          <a:ln w="7620">
            <a:solidFill>
              <a:srgbClr val="DEE5EB"/>
            </a:solidFill>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202284" y="122670"/>
            <a:ext cx="3953774" cy="222659"/>
          </a:xfrm>
          <a:prstGeom prst="rect">
            <a:avLst/>
          </a:prstGeom>
          <a:noFill/>
          <a:effectLst/>
        </p:spPr>
        <p:txBody>
          <a:bodyPr wrap="none" lIns="0" rIns="0" tIns="0" bIns="0" anchor="ctr">
            <a:spAutoFit/>
          </a:bodyPr>
          <a:lstStyle/>
          <a:p>
            <a:pPr algn="l">
              <a:lnSpc>
                <a:spcPct val="105000"/>
              </a:lnSpc>
              <a:spcBef>
                <a:spcPts val="0"/>
              </a:spcBef>
              <a:spcAft>
                <a:spcPts val="0"/>
              </a:spcAft>
              <a:defRPr sz="1170" b="1" i="0">
                <a:solidFill>
                  <a:srgbClr val="202A33"/>
                </a:solidFill>
                <a:latin typeface="Arial"/>
              </a:defRPr>
            </a:pPr>
            <a:r>
              <a:t>Surufatinib ranks first among eligible candidates</a:t>
            </a:r>
          </a:p>
        </p:txBody>
      </p:sp>
      <p:sp>
        <p:nvSpPr>
          <p:cNvPr id="53" name="TextBox 52"/>
          <p:cNvSpPr txBox="1"/>
          <p:nvPr/>
        </p:nvSpPr>
        <p:spPr>
          <a:xfrm>
            <a:off x="202284" y="373711"/>
            <a:ext cx="2851830" cy="152577"/>
          </a:xfrm>
          <a:prstGeom prst="rect">
            <a:avLst/>
          </a:prstGeom>
          <a:noFill/>
          <a:effectLst/>
        </p:spPr>
        <p:txBody>
          <a:bodyPr wrap="none" lIns="0" rIns="0" tIns="0" bIns="0" anchor="ctr">
            <a:spAutoFit/>
          </a:bodyPr>
          <a:lstStyle/>
          <a:p>
            <a:pPr algn="l">
              <a:lnSpc>
                <a:spcPct val="105000"/>
              </a:lnSpc>
              <a:spcBef>
                <a:spcPts val="0"/>
              </a:spcBef>
              <a:spcAft>
                <a:spcPts val="0"/>
              </a:spcAft>
              <a:defRPr sz="750" b="0" i="0">
                <a:solidFill>
                  <a:srgbClr val="65717C"/>
                </a:solidFill>
                <a:latin typeface="Arial"/>
              </a:defRPr>
            </a:pPr>
            <a:r>
              <a:t>Oral multi-target prioritization  |  Recorded final evaluation</a:t>
            </a:r>
          </a:p>
        </p:txBody>
      </p:sp>
      <p:sp>
        <p:nvSpPr>
          <p:cNvPr id="54" name="TextBox 53"/>
          <p:cNvSpPr txBox="1"/>
          <p:nvPr/>
        </p:nvSpPr>
        <p:spPr>
          <a:xfrm>
            <a:off x="202284" y="712853"/>
            <a:ext cx="113019" cy="194293"/>
          </a:xfrm>
          <a:prstGeom prst="rect">
            <a:avLst/>
          </a:prstGeom>
          <a:noFill/>
          <a:effectLst/>
        </p:spPr>
        <p:txBody>
          <a:bodyPr wrap="none" lIns="0" rIns="0" tIns="0" bIns="0" anchor="ctr">
            <a:spAutoFit/>
          </a:bodyPr>
          <a:lstStyle/>
          <a:p>
            <a:pPr algn="l">
              <a:lnSpc>
                <a:spcPct val="105000"/>
              </a:lnSpc>
              <a:spcBef>
                <a:spcPts val="0"/>
              </a:spcBef>
              <a:spcAft>
                <a:spcPts val="0"/>
              </a:spcAft>
              <a:defRPr sz="1000" b="1" i="0">
                <a:solidFill>
                  <a:srgbClr val="202A33"/>
                </a:solidFill>
                <a:latin typeface="Arial"/>
              </a:defRPr>
            </a:pPr>
            <a:r>
              <a:t>a</a:t>
            </a:r>
          </a:p>
        </p:txBody>
      </p:sp>
      <p:sp>
        <p:nvSpPr>
          <p:cNvPr id="55" name="TextBox 54"/>
          <p:cNvSpPr txBox="1"/>
          <p:nvPr/>
        </p:nvSpPr>
        <p:spPr>
          <a:xfrm>
            <a:off x="382284" y="728705"/>
            <a:ext cx="1150772" cy="162589"/>
          </a:xfrm>
          <a:prstGeom prst="rect">
            <a:avLst/>
          </a:prstGeom>
          <a:noFill/>
          <a:effectLst/>
        </p:spPr>
        <p:txBody>
          <a:bodyPr wrap="none" lIns="0" rIns="0" tIns="0" bIns="0" anchor="ctr">
            <a:spAutoFit/>
          </a:bodyPr>
          <a:lstStyle/>
          <a:p>
            <a:pPr algn="l">
              <a:lnSpc>
                <a:spcPct val="105000"/>
              </a:lnSpc>
              <a:spcBef>
                <a:spcPts val="0"/>
              </a:spcBef>
              <a:spcAft>
                <a:spcPts val="0"/>
              </a:spcAft>
              <a:defRPr sz="810" b="1" i="0">
                <a:solidFill>
                  <a:srgbClr val="202A33"/>
                </a:solidFill>
                <a:latin typeface="Arial"/>
              </a:defRPr>
            </a:pPr>
            <a:r>
              <a:t>Candidate selection</a:t>
            </a:r>
          </a:p>
        </p:txBody>
      </p:sp>
      <p:sp>
        <p:nvSpPr>
          <p:cNvPr id="56" name="TextBox 55"/>
          <p:cNvSpPr txBox="1"/>
          <p:nvPr/>
        </p:nvSpPr>
        <p:spPr>
          <a:xfrm>
            <a:off x="3982206" y="745391"/>
            <a:ext cx="2295509" cy="129217"/>
          </a:xfrm>
          <a:prstGeom prst="rect">
            <a:avLst/>
          </a:prstGeom>
          <a:noFill/>
          <a:effectLst/>
        </p:spPr>
        <p:txBody>
          <a:bodyPr wrap="none" lIns="0" rIns="0" tIns="0" bIns="0" anchor="ctr">
            <a:spAutoFit/>
          </a:bodyPr>
          <a:lstStyle/>
          <a:p>
            <a:pPr algn="r">
              <a:lnSpc>
                <a:spcPct val="105000"/>
              </a:lnSpc>
              <a:spcBef>
                <a:spcPts val="0"/>
              </a:spcBef>
              <a:spcAft>
                <a:spcPts val="0"/>
              </a:spcAft>
              <a:defRPr sz="610" b="0" i="0">
                <a:solidFill>
                  <a:srgbClr val="65717C"/>
                </a:solidFill>
                <a:latin typeface="Arial"/>
              </a:defRPr>
            </a:pPr>
            <a:r>
              <a:t>18 enabled decision rules: 1 condition + 17 prioritization criteria</a:t>
            </a:r>
          </a:p>
        </p:txBody>
      </p:sp>
      <p:sp>
        <p:nvSpPr>
          <p:cNvPr id="57" name="TextBox 56"/>
          <p:cNvSpPr txBox="1"/>
          <p:nvPr/>
        </p:nvSpPr>
        <p:spPr>
          <a:xfrm>
            <a:off x="561425" y="1099538"/>
            <a:ext cx="605149" cy="277723"/>
          </a:xfrm>
          <a:prstGeom prst="rect">
            <a:avLst/>
          </a:prstGeom>
          <a:noFill/>
          <a:effectLst/>
        </p:spPr>
        <p:txBody>
          <a:bodyPr wrap="none" lIns="0" rIns="0" tIns="0" bIns="0" anchor="ctr">
            <a:spAutoFit/>
          </a:bodyPr>
          <a:lstStyle/>
          <a:p>
            <a:pPr algn="ctr">
              <a:lnSpc>
                <a:spcPct val="105000"/>
              </a:lnSpc>
              <a:spcBef>
                <a:spcPts val="0"/>
              </a:spcBef>
              <a:spcAft>
                <a:spcPts val="0"/>
              </a:spcAft>
              <a:defRPr sz="1500" b="1" i="0">
                <a:solidFill>
                  <a:srgbClr val="202A33"/>
                </a:solidFill>
                <a:latin typeface="Arial"/>
              </a:defRPr>
            </a:pPr>
            <a:r>
              <a:t>3,177</a:t>
            </a:r>
          </a:p>
        </p:txBody>
      </p:sp>
      <p:sp>
        <p:nvSpPr>
          <p:cNvPr id="58" name="TextBox 57"/>
          <p:cNvSpPr txBox="1"/>
          <p:nvPr/>
        </p:nvSpPr>
        <p:spPr>
          <a:xfrm>
            <a:off x="315360" y="1439048"/>
            <a:ext cx="1097280" cy="145903"/>
          </a:xfrm>
          <a:prstGeom prst="rect">
            <a:avLst/>
          </a:prstGeom>
          <a:noFill/>
          <a:effectLst/>
        </p:spPr>
        <p:txBody>
          <a:bodyPr wrap="none" lIns="0" rIns="0" tIns="0" bIns="0" anchor="ctr">
            <a:spAutoFit/>
          </a:bodyPr>
          <a:lstStyle/>
          <a:p>
            <a:pPr algn="ctr">
              <a:lnSpc>
                <a:spcPct val="105000"/>
              </a:lnSpc>
              <a:spcBef>
                <a:spcPts val="0"/>
              </a:spcBef>
              <a:spcAft>
                <a:spcPts val="0"/>
              </a:spcAft>
              <a:defRPr sz="710" b="0" i="0">
                <a:solidFill>
                  <a:srgbClr val="65717C"/>
                </a:solidFill>
                <a:latin typeface="Arial"/>
              </a:defRPr>
            </a:pPr>
            <a:r>
              <a:t>Candidates assessed</a:t>
            </a:r>
          </a:p>
        </p:txBody>
      </p:sp>
      <p:sp>
        <p:nvSpPr>
          <p:cNvPr id="59" name="TextBox 58"/>
          <p:cNvSpPr txBox="1"/>
          <p:nvPr/>
        </p:nvSpPr>
        <p:spPr>
          <a:xfrm>
            <a:off x="2320232" y="1167116"/>
            <a:ext cx="1407535" cy="142566"/>
          </a:xfrm>
          <a:prstGeom prst="rect">
            <a:avLst/>
          </a:prstGeom>
          <a:noFill/>
          <a:effectLst/>
        </p:spPr>
        <p:txBody>
          <a:bodyPr wrap="none" lIns="0" rIns="0" tIns="0" bIns="0" anchor="ctr">
            <a:spAutoFit/>
          </a:bodyPr>
          <a:lstStyle/>
          <a:p>
            <a:pPr algn="ctr">
              <a:lnSpc>
                <a:spcPct val="105000"/>
              </a:lnSpc>
              <a:spcBef>
                <a:spcPts val="0"/>
              </a:spcBef>
              <a:spcAft>
                <a:spcPts val="0"/>
              </a:spcAft>
              <a:defRPr sz="690" b="1" i="0">
                <a:solidFill>
                  <a:srgbClr val="202A33"/>
                </a:solidFill>
                <a:latin typeface="Arial"/>
              </a:defRPr>
            </a:pPr>
            <a:r>
              <a:t>Eligibility requirements (6)</a:t>
            </a:r>
          </a:p>
        </p:txBody>
      </p:sp>
      <p:sp>
        <p:nvSpPr>
          <p:cNvPr id="60" name="TextBox 59"/>
          <p:cNvSpPr txBox="1"/>
          <p:nvPr/>
        </p:nvSpPr>
        <p:spPr>
          <a:xfrm>
            <a:off x="2084865" y="1397825"/>
            <a:ext cx="1878269" cy="127548"/>
          </a:xfrm>
          <a:prstGeom prst="rect">
            <a:avLst/>
          </a:prstGeom>
          <a:noFill/>
          <a:effectLst/>
        </p:spPr>
        <p:txBody>
          <a:bodyPr wrap="none" lIns="0" rIns="0" tIns="0" bIns="0" anchor="ctr">
            <a:spAutoFit/>
          </a:bodyPr>
          <a:lstStyle/>
          <a:p>
            <a:pPr algn="ctr">
              <a:lnSpc>
                <a:spcPct val="105000"/>
              </a:lnSpc>
              <a:spcBef>
                <a:spcPts val="0"/>
              </a:spcBef>
              <a:spcAft>
                <a:spcPts val="0"/>
              </a:spcAft>
              <a:defRPr sz="600" b="0" i="0">
                <a:solidFill>
                  <a:srgbClr val="65717C"/>
                </a:solidFill>
                <a:latin typeface="Arial"/>
              </a:defRPr>
            </a:pPr>
            <a:r>
              <a:t>All required: 1 oral condition + 5 target observations</a:t>
            </a:r>
          </a:p>
        </p:txBody>
      </p:sp>
      <p:sp>
        <p:nvSpPr>
          <p:cNvPr id="61" name="TextBox 60"/>
          <p:cNvSpPr txBox="1"/>
          <p:nvPr/>
        </p:nvSpPr>
        <p:spPr>
          <a:xfrm>
            <a:off x="5257902" y="1099538"/>
            <a:ext cx="284195" cy="277723"/>
          </a:xfrm>
          <a:prstGeom prst="rect">
            <a:avLst/>
          </a:prstGeom>
          <a:noFill/>
          <a:effectLst/>
        </p:spPr>
        <p:txBody>
          <a:bodyPr wrap="none" lIns="0" rIns="0" tIns="0" bIns="0" anchor="ctr">
            <a:spAutoFit/>
          </a:bodyPr>
          <a:lstStyle/>
          <a:p>
            <a:pPr algn="ctr">
              <a:lnSpc>
                <a:spcPct val="105000"/>
              </a:lnSpc>
              <a:spcBef>
                <a:spcPts val="0"/>
              </a:spcBef>
              <a:spcAft>
                <a:spcPts val="0"/>
              </a:spcAft>
              <a:defRPr sz="1500" b="1" i="0">
                <a:solidFill>
                  <a:srgbClr val="316B9B"/>
                </a:solidFill>
                <a:latin typeface="Arial"/>
              </a:defRPr>
            </a:pPr>
            <a:r>
              <a:t>10</a:t>
            </a:r>
          </a:p>
        </p:txBody>
      </p:sp>
      <p:sp>
        <p:nvSpPr>
          <p:cNvPr id="62" name="TextBox 61"/>
          <p:cNvSpPr txBox="1"/>
          <p:nvPr/>
        </p:nvSpPr>
        <p:spPr>
          <a:xfrm>
            <a:off x="4819264" y="1439048"/>
            <a:ext cx="1161470" cy="145903"/>
          </a:xfrm>
          <a:prstGeom prst="rect">
            <a:avLst/>
          </a:prstGeom>
          <a:noFill/>
          <a:effectLst/>
        </p:spPr>
        <p:txBody>
          <a:bodyPr wrap="none" lIns="0" rIns="0" tIns="0" bIns="0" anchor="ctr">
            <a:spAutoFit/>
          </a:bodyPr>
          <a:lstStyle/>
          <a:p>
            <a:pPr algn="ctr">
              <a:lnSpc>
                <a:spcPct val="105000"/>
              </a:lnSpc>
              <a:spcBef>
                <a:spcPts val="0"/>
              </a:spcBef>
              <a:spcAft>
                <a:spcPts val="0"/>
              </a:spcAft>
              <a:defRPr sz="710" b="0" i="0">
                <a:solidFill>
                  <a:srgbClr val="316B9B"/>
                </a:solidFill>
                <a:latin typeface="Arial"/>
              </a:defRPr>
            </a:pPr>
            <a:r>
              <a:t>Eligible for prioritization</a:t>
            </a:r>
          </a:p>
        </p:txBody>
      </p:sp>
      <p:sp>
        <p:nvSpPr>
          <p:cNvPr id="63" name="TextBox 62"/>
          <p:cNvSpPr txBox="1"/>
          <p:nvPr/>
        </p:nvSpPr>
        <p:spPr>
          <a:xfrm>
            <a:off x="428279" y="1849185"/>
            <a:ext cx="1375440" cy="139228"/>
          </a:xfrm>
          <a:prstGeom prst="rect">
            <a:avLst/>
          </a:prstGeom>
          <a:noFill/>
          <a:effectLst/>
        </p:spPr>
        <p:txBody>
          <a:bodyPr wrap="none" lIns="0" rIns="0" tIns="0" bIns="0" anchor="ctr">
            <a:spAutoFit/>
          </a:bodyPr>
          <a:lstStyle/>
          <a:p>
            <a:pPr algn="ctr">
              <a:lnSpc>
                <a:spcPct val="105000"/>
              </a:lnSpc>
              <a:spcBef>
                <a:spcPts val="0"/>
              </a:spcBef>
              <a:spcAft>
                <a:spcPts val="0"/>
              </a:spcAft>
              <a:defRPr sz="670" b="1" i="0">
                <a:solidFill>
                  <a:srgbClr val="956C29"/>
                </a:solidFill>
                <a:latin typeface="Arial"/>
              </a:defRPr>
            </a:pPr>
            <a:r>
              <a:t>Evidence incomplete (1,305)</a:t>
            </a:r>
          </a:p>
        </p:txBody>
      </p:sp>
      <p:sp>
        <p:nvSpPr>
          <p:cNvPr id="64" name="TextBox 63"/>
          <p:cNvSpPr txBox="1"/>
          <p:nvPr/>
        </p:nvSpPr>
        <p:spPr>
          <a:xfrm>
            <a:off x="497819" y="2011494"/>
            <a:ext cx="1236360" cy="124211"/>
          </a:xfrm>
          <a:prstGeom prst="rect">
            <a:avLst/>
          </a:prstGeom>
          <a:noFill/>
          <a:effectLst/>
        </p:spPr>
        <p:txBody>
          <a:bodyPr wrap="none" lIns="0" rIns="0" tIns="0" bIns="0" anchor="ctr">
            <a:spAutoFit/>
          </a:bodyPr>
          <a:lstStyle/>
          <a:p>
            <a:pPr algn="ctr">
              <a:lnSpc>
                <a:spcPct val="105000"/>
              </a:lnSpc>
              <a:spcBef>
                <a:spcPts val="0"/>
              </a:spcBef>
              <a:spcAft>
                <a:spcPts val="0"/>
              </a:spcAft>
              <a:defRPr sz="580" b="0" i="0">
                <a:solidFill>
                  <a:srgbClr val="65717C"/>
                </a:solidFill>
                <a:latin typeface="Arial"/>
              </a:defRPr>
            </a:pPr>
            <a:r>
              <a:t>Partial support; no condition failed</a:t>
            </a:r>
          </a:p>
        </p:txBody>
      </p:sp>
      <p:sp>
        <p:nvSpPr>
          <p:cNvPr id="65" name="TextBox 64"/>
          <p:cNvSpPr txBox="1"/>
          <p:nvPr/>
        </p:nvSpPr>
        <p:spPr>
          <a:xfrm>
            <a:off x="2830440" y="1849185"/>
            <a:ext cx="819119" cy="139228"/>
          </a:xfrm>
          <a:prstGeom prst="rect">
            <a:avLst/>
          </a:prstGeom>
          <a:noFill/>
          <a:effectLst/>
        </p:spPr>
        <p:txBody>
          <a:bodyPr wrap="none" lIns="0" rIns="0" tIns="0" bIns="0" anchor="ctr">
            <a:spAutoFit/>
          </a:bodyPr>
          <a:lstStyle/>
          <a:p>
            <a:pPr algn="ctr">
              <a:lnSpc>
                <a:spcPct val="105000"/>
              </a:lnSpc>
              <a:spcBef>
                <a:spcPts val="0"/>
              </a:spcBef>
              <a:spcAft>
                <a:spcPts val="0"/>
              </a:spcAft>
              <a:defRPr sz="670" b="1" i="0">
                <a:solidFill>
                  <a:srgbClr val="AE5260"/>
                </a:solidFill>
                <a:latin typeface="Arial"/>
              </a:defRPr>
            </a:pPr>
            <a:r>
              <a:t>Excluded (1,862)</a:t>
            </a:r>
          </a:p>
        </p:txBody>
      </p:sp>
      <p:sp>
        <p:nvSpPr>
          <p:cNvPr id="66" name="TextBox 65"/>
          <p:cNvSpPr txBox="1"/>
          <p:nvPr/>
        </p:nvSpPr>
        <p:spPr>
          <a:xfrm>
            <a:off x="2830440" y="2008991"/>
            <a:ext cx="819119" cy="129217"/>
          </a:xfrm>
          <a:prstGeom prst="rect">
            <a:avLst/>
          </a:prstGeom>
          <a:noFill/>
          <a:effectLst/>
        </p:spPr>
        <p:txBody>
          <a:bodyPr wrap="none" lIns="0" rIns="0" tIns="0" bIns="0" anchor="ctr">
            <a:spAutoFit/>
          </a:bodyPr>
          <a:lstStyle/>
          <a:p>
            <a:pPr algn="ctr">
              <a:lnSpc>
                <a:spcPct val="105000"/>
              </a:lnSpc>
              <a:spcBef>
                <a:spcPts val="0"/>
              </a:spcBef>
              <a:spcAft>
                <a:spcPts val="0"/>
              </a:spcAft>
              <a:defRPr sz="610" b="0" i="0">
                <a:solidFill>
                  <a:srgbClr val="65717C"/>
                </a:solidFill>
                <a:latin typeface="Arial"/>
              </a:defRPr>
            </a:pPr>
            <a:r>
              <a:t>No admission support</a:t>
            </a:r>
          </a:p>
        </p:txBody>
      </p:sp>
      <p:sp>
        <p:nvSpPr>
          <p:cNvPr id="67" name="TextBox 66"/>
          <p:cNvSpPr txBox="1"/>
          <p:nvPr/>
        </p:nvSpPr>
        <p:spPr>
          <a:xfrm>
            <a:off x="4522284" y="1856155"/>
            <a:ext cx="1022390" cy="247688"/>
          </a:xfrm>
          <a:prstGeom prst="rect">
            <a:avLst/>
          </a:prstGeom>
          <a:noFill/>
          <a:effectLst/>
        </p:spPr>
        <p:txBody>
          <a:bodyPr wrap="none" lIns="0" rIns="0" tIns="0" bIns="0" anchor="ctr">
            <a:spAutoFit/>
          </a:bodyPr>
          <a:lstStyle/>
          <a:p>
            <a:pPr algn="l">
              <a:lnSpc>
                <a:spcPct val="105000"/>
              </a:lnSpc>
              <a:spcBef>
                <a:spcPts val="0"/>
              </a:spcBef>
              <a:spcAft>
                <a:spcPts val="0"/>
              </a:spcAft>
              <a:defRPr sz="660" b="0" i="0">
                <a:solidFill>
                  <a:srgbClr val="65717C"/>
                </a:solidFill>
                <a:latin typeface="Arial"/>
              </a:defRPr>
            </a:pPr>
            <a:r>
              <a:t>5 target criteria serve</a:t>
            </a:r>
          </a:p>
          <a:p>
            <a:pPr algn="l">
              <a:lnSpc>
                <a:spcPct val="105000"/>
              </a:lnSpc>
              <a:spcBef>
                <a:spcPts val="0"/>
              </a:spcBef>
              <a:spcAft>
                <a:spcPts val="0"/>
              </a:spcAft>
              <a:defRPr sz="660" b="0" i="0">
                <a:solidFill>
                  <a:srgbClr val="65717C"/>
                </a:solidFill>
                <a:latin typeface="Arial"/>
              </a:defRPr>
            </a:pPr>
            <a:r>
              <a:t>admission and ranking</a:t>
            </a:r>
          </a:p>
        </p:txBody>
      </p:sp>
      <p:sp>
        <p:nvSpPr>
          <p:cNvPr id="68" name="TextBox 67"/>
          <p:cNvSpPr txBox="1"/>
          <p:nvPr/>
        </p:nvSpPr>
        <p:spPr>
          <a:xfrm>
            <a:off x="202284" y="2332853"/>
            <a:ext cx="123718" cy="194293"/>
          </a:xfrm>
          <a:prstGeom prst="rect">
            <a:avLst/>
          </a:prstGeom>
          <a:noFill/>
          <a:effectLst/>
        </p:spPr>
        <p:txBody>
          <a:bodyPr wrap="none" lIns="0" rIns="0" tIns="0" bIns="0" anchor="ctr">
            <a:spAutoFit/>
          </a:bodyPr>
          <a:lstStyle/>
          <a:p>
            <a:pPr algn="l">
              <a:lnSpc>
                <a:spcPct val="105000"/>
              </a:lnSpc>
              <a:spcBef>
                <a:spcPts val="0"/>
              </a:spcBef>
              <a:spcAft>
                <a:spcPts val="0"/>
              </a:spcAft>
              <a:defRPr sz="1000" b="1" i="0">
                <a:solidFill>
                  <a:srgbClr val="202A33"/>
                </a:solidFill>
                <a:latin typeface="Arial"/>
              </a:defRPr>
            </a:pPr>
            <a:r>
              <a:t>b</a:t>
            </a:r>
          </a:p>
        </p:txBody>
      </p:sp>
      <p:sp>
        <p:nvSpPr>
          <p:cNvPr id="69" name="TextBox 68"/>
          <p:cNvSpPr txBox="1"/>
          <p:nvPr/>
        </p:nvSpPr>
        <p:spPr>
          <a:xfrm>
            <a:off x="382284" y="2348705"/>
            <a:ext cx="1503822" cy="162589"/>
          </a:xfrm>
          <a:prstGeom prst="rect">
            <a:avLst/>
          </a:prstGeom>
          <a:noFill/>
          <a:effectLst/>
        </p:spPr>
        <p:txBody>
          <a:bodyPr wrap="none" lIns="0" rIns="0" tIns="0" bIns="0" anchor="ctr">
            <a:spAutoFit/>
          </a:bodyPr>
          <a:lstStyle/>
          <a:p>
            <a:pPr algn="l">
              <a:lnSpc>
                <a:spcPct val="105000"/>
              </a:lnSpc>
              <a:spcBef>
                <a:spcPts val="0"/>
              </a:spcBef>
              <a:spcAft>
                <a:spcPts val="0"/>
              </a:spcAft>
              <a:defRPr sz="810" b="1" i="0">
                <a:solidFill>
                  <a:srgbClr val="202A33"/>
                </a:solidFill>
                <a:latin typeface="Arial"/>
              </a:defRPr>
            </a:pPr>
            <a:r>
              <a:t>Eligible-candidate ranking</a:t>
            </a:r>
          </a:p>
        </p:txBody>
      </p:sp>
      <p:sp>
        <p:nvSpPr>
          <p:cNvPr id="70" name="TextBox 69"/>
          <p:cNvSpPr txBox="1"/>
          <p:nvPr/>
        </p:nvSpPr>
        <p:spPr>
          <a:xfrm>
            <a:off x="3982284" y="2332853"/>
            <a:ext cx="113019" cy="194293"/>
          </a:xfrm>
          <a:prstGeom prst="rect">
            <a:avLst/>
          </a:prstGeom>
          <a:noFill/>
          <a:effectLst/>
        </p:spPr>
        <p:txBody>
          <a:bodyPr wrap="none" lIns="0" rIns="0" tIns="0" bIns="0" anchor="ctr">
            <a:spAutoFit/>
          </a:bodyPr>
          <a:lstStyle/>
          <a:p>
            <a:pPr algn="l">
              <a:lnSpc>
                <a:spcPct val="105000"/>
              </a:lnSpc>
              <a:spcBef>
                <a:spcPts val="0"/>
              </a:spcBef>
              <a:spcAft>
                <a:spcPts val="0"/>
              </a:spcAft>
              <a:defRPr sz="1000" b="1" i="0">
                <a:solidFill>
                  <a:srgbClr val="202A33"/>
                </a:solidFill>
                <a:latin typeface="Arial"/>
              </a:defRPr>
            </a:pPr>
            <a:r>
              <a:t>c</a:t>
            </a:r>
          </a:p>
        </p:txBody>
      </p:sp>
      <p:sp>
        <p:nvSpPr>
          <p:cNvPr id="71" name="TextBox 70"/>
          <p:cNvSpPr txBox="1"/>
          <p:nvPr/>
        </p:nvSpPr>
        <p:spPr>
          <a:xfrm>
            <a:off x="4162284" y="2348705"/>
            <a:ext cx="1193566" cy="162589"/>
          </a:xfrm>
          <a:prstGeom prst="rect">
            <a:avLst/>
          </a:prstGeom>
          <a:noFill/>
          <a:effectLst/>
        </p:spPr>
        <p:txBody>
          <a:bodyPr wrap="none" lIns="0" rIns="0" tIns="0" bIns="0" anchor="ctr">
            <a:spAutoFit/>
          </a:bodyPr>
          <a:lstStyle/>
          <a:p>
            <a:pPr algn="l">
              <a:lnSpc>
                <a:spcPct val="105000"/>
              </a:lnSpc>
              <a:spcBef>
                <a:spcPts val="0"/>
              </a:spcBef>
              <a:spcAft>
                <a:spcPts val="0"/>
              </a:spcAft>
              <a:defRPr sz="810" b="1" i="0">
                <a:solidFill>
                  <a:srgbClr val="202A33"/>
                </a:solidFill>
                <a:latin typeface="Arial"/>
              </a:defRPr>
            </a:pPr>
            <a:r>
              <a:t>Surufatinib evidence</a:t>
            </a:r>
          </a:p>
        </p:txBody>
      </p:sp>
      <p:sp>
        <p:nvSpPr>
          <p:cNvPr id="72" name="TextBox 71"/>
          <p:cNvSpPr txBox="1"/>
          <p:nvPr/>
        </p:nvSpPr>
        <p:spPr>
          <a:xfrm>
            <a:off x="3982284" y="2644213"/>
            <a:ext cx="1204264" cy="147572"/>
          </a:xfrm>
          <a:prstGeom prst="rect">
            <a:avLst/>
          </a:prstGeom>
          <a:noFill/>
          <a:effectLst/>
        </p:spPr>
        <p:txBody>
          <a:bodyPr wrap="none" lIns="0" rIns="0" tIns="0" bIns="0" anchor="ctr">
            <a:spAutoFit/>
          </a:bodyPr>
          <a:lstStyle/>
          <a:p>
            <a:pPr algn="l">
              <a:lnSpc>
                <a:spcPct val="105000"/>
              </a:lnSpc>
              <a:spcBef>
                <a:spcPts val="0"/>
              </a:spcBef>
              <a:spcAft>
                <a:spcPts val="0"/>
              </a:spcAft>
              <a:defRPr sz="720" b="0" i="0">
                <a:solidFill>
                  <a:srgbClr val="202A33"/>
                </a:solidFill>
                <a:latin typeface="Arial"/>
              </a:defRPr>
            </a:pPr>
            <a:r>
              <a:t>Required condition: oral</a:t>
            </a:r>
          </a:p>
        </p:txBody>
      </p:sp>
      <p:sp>
        <p:nvSpPr>
          <p:cNvPr id="73" name="TextBox 72"/>
          <p:cNvSpPr txBox="1"/>
          <p:nvPr/>
        </p:nvSpPr>
        <p:spPr>
          <a:xfrm>
            <a:off x="5843741" y="2643379"/>
            <a:ext cx="433974" cy="149240"/>
          </a:xfrm>
          <a:prstGeom prst="rect">
            <a:avLst/>
          </a:prstGeom>
          <a:noFill/>
          <a:effectLst/>
        </p:spPr>
        <p:txBody>
          <a:bodyPr wrap="none" lIns="0" rIns="0" tIns="0" bIns="0" anchor="ctr">
            <a:spAutoFit/>
          </a:bodyPr>
          <a:lstStyle/>
          <a:p>
            <a:pPr algn="r">
              <a:lnSpc>
                <a:spcPct val="105000"/>
              </a:lnSpc>
              <a:spcBef>
                <a:spcPts val="0"/>
              </a:spcBef>
              <a:spcAft>
                <a:spcPts val="0"/>
              </a:spcAft>
              <a:defRPr sz="730" b="1" i="0">
                <a:solidFill>
                  <a:srgbClr val="316B9B"/>
                </a:solidFill>
                <a:latin typeface="Arial"/>
              </a:defRPr>
            </a:pPr>
            <a:r>
              <a:t>Met  1/1</a:t>
            </a:r>
          </a:p>
        </p:txBody>
      </p:sp>
      <p:sp>
        <p:nvSpPr>
          <p:cNvPr id="74" name="TextBox 73"/>
          <p:cNvSpPr txBox="1"/>
          <p:nvPr/>
        </p:nvSpPr>
        <p:spPr>
          <a:xfrm>
            <a:off x="3982284" y="2933882"/>
            <a:ext cx="1279154" cy="144234"/>
          </a:xfrm>
          <a:prstGeom prst="rect">
            <a:avLst/>
          </a:prstGeom>
          <a:noFill/>
          <a:effectLst/>
        </p:spPr>
        <p:txBody>
          <a:bodyPr wrap="none" lIns="0" rIns="0" tIns="0" bIns="0" anchor="ctr">
            <a:spAutoFit/>
          </a:bodyPr>
          <a:lstStyle/>
          <a:p>
            <a:pPr algn="l">
              <a:lnSpc>
                <a:spcPct val="105000"/>
              </a:lnSpc>
              <a:spcBef>
                <a:spcPts val="0"/>
              </a:spcBef>
              <a:spcAft>
                <a:spcPts val="0"/>
              </a:spcAft>
              <a:defRPr sz="700" b="0" i="0">
                <a:solidFill>
                  <a:srgbClr val="202A33"/>
                </a:solidFill>
                <a:latin typeface="Arial"/>
              </a:defRPr>
            </a:pPr>
            <a:r>
              <a:t>Required target evidence</a:t>
            </a:r>
          </a:p>
        </p:txBody>
      </p:sp>
      <p:sp>
        <p:nvSpPr>
          <p:cNvPr id="75" name="TextBox 74"/>
          <p:cNvSpPr txBox="1"/>
          <p:nvPr/>
        </p:nvSpPr>
        <p:spPr>
          <a:xfrm>
            <a:off x="5633449" y="2935551"/>
            <a:ext cx="644266" cy="140897"/>
          </a:xfrm>
          <a:prstGeom prst="rect">
            <a:avLst/>
          </a:prstGeom>
          <a:noFill/>
          <a:effectLst/>
        </p:spPr>
        <p:txBody>
          <a:bodyPr wrap="none" lIns="0" rIns="0" tIns="0" bIns="0" anchor="ctr">
            <a:spAutoFit/>
          </a:bodyPr>
          <a:lstStyle/>
          <a:p>
            <a:pPr algn="r">
              <a:lnSpc>
                <a:spcPct val="105000"/>
              </a:lnSpc>
              <a:spcBef>
                <a:spcPts val="0"/>
              </a:spcBef>
              <a:spcAft>
                <a:spcPts val="0"/>
              </a:spcAft>
              <a:defRPr sz="680" b="1" i="0">
                <a:solidFill>
                  <a:srgbClr val="316B9B"/>
                </a:solidFill>
                <a:latin typeface="Arial"/>
              </a:defRPr>
            </a:pPr>
            <a:r>
              <a:t>Available 5/5</a:t>
            </a:r>
          </a:p>
        </p:txBody>
      </p:sp>
      <p:sp>
        <p:nvSpPr>
          <p:cNvPr id="76" name="TextBox 75"/>
          <p:cNvSpPr txBox="1"/>
          <p:nvPr/>
        </p:nvSpPr>
        <p:spPr>
          <a:xfrm>
            <a:off x="4014457" y="3434854"/>
            <a:ext cx="359084" cy="135891"/>
          </a:xfrm>
          <a:prstGeom prst="rect">
            <a:avLst/>
          </a:prstGeom>
          <a:noFill/>
          <a:effectLst/>
        </p:spPr>
        <p:txBody>
          <a:bodyPr wrap="none" lIns="0" rIns="0" tIns="0" bIns="0" anchor="ctr">
            <a:spAutoFit/>
          </a:bodyPr>
          <a:lstStyle/>
          <a:p>
            <a:pPr algn="ctr">
              <a:lnSpc>
                <a:spcPct val="105000"/>
              </a:lnSpc>
              <a:spcBef>
                <a:spcPts val="0"/>
              </a:spcBef>
              <a:spcAft>
                <a:spcPts val="0"/>
              </a:spcAft>
              <a:defRPr sz="650" b="1" i="0">
                <a:solidFill>
                  <a:srgbClr val="202A33"/>
                </a:solidFill>
                <a:latin typeface="Arial"/>
              </a:defRPr>
            </a:pPr>
            <a:r>
              <a:t>CSF1R</a:t>
            </a:r>
          </a:p>
        </p:txBody>
      </p:sp>
      <p:sp>
        <p:nvSpPr>
          <p:cNvPr id="77" name="TextBox 76"/>
          <p:cNvSpPr txBox="1"/>
          <p:nvPr/>
        </p:nvSpPr>
        <p:spPr>
          <a:xfrm>
            <a:off x="4067949" y="3589082"/>
            <a:ext cx="252100" cy="144234"/>
          </a:xfrm>
          <a:prstGeom prst="rect">
            <a:avLst/>
          </a:prstGeom>
          <a:noFill/>
          <a:effectLst/>
        </p:spPr>
        <p:txBody>
          <a:bodyPr wrap="none" lIns="0" rIns="0" tIns="0" bIns="0" anchor="ctr">
            <a:spAutoFit/>
          </a:bodyPr>
          <a:lstStyle/>
          <a:p>
            <a:pPr algn="ctr">
              <a:lnSpc>
                <a:spcPct val="105000"/>
              </a:lnSpc>
              <a:spcBef>
                <a:spcPts val="0"/>
              </a:spcBef>
              <a:spcAft>
                <a:spcPts val="0"/>
              </a:spcAft>
              <a:defRPr sz="700" b="0" i="0">
                <a:solidFill>
                  <a:srgbClr val="316B9B"/>
                </a:solidFill>
                <a:latin typeface="Arial"/>
              </a:defRPr>
            </a:pPr>
            <a:r>
              <a:t>8.30</a:t>
            </a:r>
          </a:p>
        </p:txBody>
      </p:sp>
      <p:sp>
        <p:nvSpPr>
          <p:cNvPr id="78" name="TextBox 77"/>
          <p:cNvSpPr txBox="1"/>
          <p:nvPr/>
        </p:nvSpPr>
        <p:spPr>
          <a:xfrm>
            <a:off x="4450362" y="3434854"/>
            <a:ext cx="423275" cy="135891"/>
          </a:xfrm>
          <a:prstGeom prst="rect">
            <a:avLst/>
          </a:prstGeom>
          <a:noFill/>
          <a:effectLst/>
        </p:spPr>
        <p:txBody>
          <a:bodyPr wrap="none" lIns="0" rIns="0" tIns="0" bIns="0" anchor="ctr">
            <a:spAutoFit/>
          </a:bodyPr>
          <a:lstStyle/>
          <a:p>
            <a:pPr algn="ctr">
              <a:lnSpc>
                <a:spcPct val="105000"/>
              </a:lnSpc>
              <a:spcBef>
                <a:spcPts val="0"/>
              </a:spcBef>
              <a:spcAft>
                <a:spcPts val="0"/>
              </a:spcAft>
              <a:defRPr sz="650" b="1" i="0">
                <a:solidFill>
                  <a:srgbClr val="202A33"/>
                </a:solidFill>
                <a:latin typeface="Arial"/>
              </a:defRPr>
            </a:pPr>
            <a:r>
              <a:t>VEGFR1</a:t>
            </a:r>
          </a:p>
        </p:txBody>
      </p:sp>
      <p:sp>
        <p:nvSpPr>
          <p:cNvPr id="79" name="TextBox 78"/>
          <p:cNvSpPr txBox="1"/>
          <p:nvPr/>
        </p:nvSpPr>
        <p:spPr>
          <a:xfrm>
            <a:off x="4535949" y="3589082"/>
            <a:ext cx="252100" cy="144234"/>
          </a:xfrm>
          <a:prstGeom prst="rect">
            <a:avLst/>
          </a:prstGeom>
          <a:noFill/>
          <a:effectLst/>
        </p:spPr>
        <p:txBody>
          <a:bodyPr wrap="none" lIns="0" rIns="0" tIns="0" bIns="0" anchor="ctr">
            <a:spAutoFit/>
          </a:bodyPr>
          <a:lstStyle/>
          <a:p>
            <a:pPr algn="ctr">
              <a:lnSpc>
                <a:spcPct val="105000"/>
              </a:lnSpc>
              <a:spcBef>
                <a:spcPts val="0"/>
              </a:spcBef>
              <a:spcAft>
                <a:spcPts val="0"/>
              </a:spcAft>
              <a:defRPr sz="700" b="0" i="0">
                <a:solidFill>
                  <a:srgbClr val="316B9B"/>
                </a:solidFill>
                <a:latin typeface="Arial"/>
              </a:defRPr>
            </a:pPr>
            <a:r>
              <a:t>8.85</a:t>
            </a:r>
          </a:p>
        </p:txBody>
      </p:sp>
      <p:sp>
        <p:nvSpPr>
          <p:cNvPr id="80" name="TextBox 79"/>
          <p:cNvSpPr txBox="1"/>
          <p:nvPr/>
        </p:nvSpPr>
        <p:spPr>
          <a:xfrm>
            <a:off x="4918362" y="3434854"/>
            <a:ext cx="423275" cy="135891"/>
          </a:xfrm>
          <a:prstGeom prst="rect">
            <a:avLst/>
          </a:prstGeom>
          <a:noFill/>
          <a:effectLst/>
        </p:spPr>
        <p:txBody>
          <a:bodyPr wrap="none" lIns="0" rIns="0" tIns="0" bIns="0" anchor="ctr">
            <a:spAutoFit/>
          </a:bodyPr>
          <a:lstStyle/>
          <a:p>
            <a:pPr algn="ctr">
              <a:lnSpc>
                <a:spcPct val="105000"/>
              </a:lnSpc>
              <a:spcBef>
                <a:spcPts val="0"/>
              </a:spcBef>
              <a:spcAft>
                <a:spcPts val="0"/>
              </a:spcAft>
              <a:defRPr sz="650" b="1" i="0">
                <a:solidFill>
                  <a:srgbClr val="202A33"/>
                </a:solidFill>
                <a:latin typeface="Arial"/>
              </a:defRPr>
            </a:pPr>
            <a:r>
              <a:t>VEGFR2</a:t>
            </a:r>
          </a:p>
        </p:txBody>
      </p:sp>
      <p:sp>
        <p:nvSpPr>
          <p:cNvPr id="81" name="TextBox 80"/>
          <p:cNvSpPr txBox="1"/>
          <p:nvPr/>
        </p:nvSpPr>
        <p:spPr>
          <a:xfrm>
            <a:off x="5003949" y="3589082"/>
            <a:ext cx="252100" cy="144234"/>
          </a:xfrm>
          <a:prstGeom prst="rect">
            <a:avLst/>
          </a:prstGeom>
          <a:noFill/>
          <a:effectLst/>
        </p:spPr>
        <p:txBody>
          <a:bodyPr wrap="none" lIns="0" rIns="0" tIns="0" bIns="0" anchor="ctr">
            <a:spAutoFit/>
          </a:bodyPr>
          <a:lstStyle/>
          <a:p>
            <a:pPr algn="ctr">
              <a:lnSpc>
                <a:spcPct val="105000"/>
              </a:lnSpc>
              <a:spcBef>
                <a:spcPts val="0"/>
              </a:spcBef>
              <a:spcAft>
                <a:spcPts val="0"/>
              </a:spcAft>
              <a:defRPr sz="700" b="0" i="0">
                <a:solidFill>
                  <a:srgbClr val="316B9B"/>
                </a:solidFill>
                <a:latin typeface="Arial"/>
              </a:defRPr>
            </a:pPr>
            <a:r>
              <a:t>7.68</a:t>
            </a:r>
          </a:p>
        </p:txBody>
      </p:sp>
      <p:sp>
        <p:nvSpPr>
          <p:cNvPr id="82" name="TextBox 81"/>
          <p:cNvSpPr txBox="1"/>
          <p:nvPr/>
        </p:nvSpPr>
        <p:spPr>
          <a:xfrm>
            <a:off x="5386362" y="3434854"/>
            <a:ext cx="423275" cy="135891"/>
          </a:xfrm>
          <a:prstGeom prst="rect">
            <a:avLst/>
          </a:prstGeom>
          <a:noFill/>
          <a:effectLst/>
        </p:spPr>
        <p:txBody>
          <a:bodyPr wrap="none" lIns="0" rIns="0" tIns="0" bIns="0" anchor="ctr">
            <a:spAutoFit/>
          </a:bodyPr>
          <a:lstStyle/>
          <a:p>
            <a:pPr algn="ctr">
              <a:lnSpc>
                <a:spcPct val="105000"/>
              </a:lnSpc>
              <a:spcBef>
                <a:spcPts val="0"/>
              </a:spcBef>
              <a:spcAft>
                <a:spcPts val="0"/>
              </a:spcAft>
              <a:defRPr sz="650" b="1" i="0">
                <a:solidFill>
                  <a:srgbClr val="202A33"/>
                </a:solidFill>
                <a:latin typeface="Arial"/>
              </a:defRPr>
            </a:pPr>
            <a:r>
              <a:t>VEGFR3</a:t>
            </a:r>
          </a:p>
        </p:txBody>
      </p:sp>
      <p:sp>
        <p:nvSpPr>
          <p:cNvPr id="83" name="TextBox 82"/>
          <p:cNvSpPr txBox="1"/>
          <p:nvPr/>
        </p:nvSpPr>
        <p:spPr>
          <a:xfrm>
            <a:off x="5471949" y="3589082"/>
            <a:ext cx="252100" cy="144234"/>
          </a:xfrm>
          <a:prstGeom prst="rect">
            <a:avLst/>
          </a:prstGeom>
          <a:noFill/>
          <a:effectLst/>
        </p:spPr>
        <p:txBody>
          <a:bodyPr wrap="none" lIns="0" rIns="0" tIns="0" bIns="0" anchor="ctr">
            <a:spAutoFit/>
          </a:bodyPr>
          <a:lstStyle/>
          <a:p>
            <a:pPr algn="ctr">
              <a:lnSpc>
                <a:spcPct val="105000"/>
              </a:lnSpc>
              <a:spcBef>
                <a:spcPts val="0"/>
              </a:spcBef>
              <a:spcAft>
                <a:spcPts val="0"/>
              </a:spcAft>
              <a:defRPr sz="700" b="0" i="0">
                <a:solidFill>
                  <a:srgbClr val="316B9B"/>
                </a:solidFill>
                <a:latin typeface="Arial"/>
              </a:defRPr>
            </a:pPr>
            <a:r>
              <a:t>9.00</a:t>
            </a:r>
          </a:p>
        </p:txBody>
      </p:sp>
      <p:sp>
        <p:nvSpPr>
          <p:cNvPr id="84" name="TextBox 83"/>
          <p:cNvSpPr txBox="1"/>
          <p:nvPr/>
        </p:nvSpPr>
        <p:spPr>
          <a:xfrm>
            <a:off x="5886457" y="3434854"/>
            <a:ext cx="359084" cy="135891"/>
          </a:xfrm>
          <a:prstGeom prst="rect">
            <a:avLst/>
          </a:prstGeom>
          <a:noFill/>
          <a:effectLst/>
        </p:spPr>
        <p:txBody>
          <a:bodyPr wrap="none" lIns="0" rIns="0" tIns="0" bIns="0" anchor="ctr">
            <a:spAutoFit/>
          </a:bodyPr>
          <a:lstStyle/>
          <a:p>
            <a:pPr algn="ctr">
              <a:lnSpc>
                <a:spcPct val="105000"/>
              </a:lnSpc>
              <a:spcBef>
                <a:spcPts val="0"/>
              </a:spcBef>
              <a:spcAft>
                <a:spcPts val="0"/>
              </a:spcAft>
              <a:defRPr sz="650" b="1" i="0">
                <a:solidFill>
                  <a:srgbClr val="202A33"/>
                </a:solidFill>
                <a:latin typeface="Arial"/>
              </a:defRPr>
            </a:pPr>
            <a:r>
              <a:t>FGFR1</a:t>
            </a:r>
          </a:p>
        </p:txBody>
      </p:sp>
      <p:sp>
        <p:nvSpPr>
          <p:cNvPr id="85" name="TextBox 84"/>
          <p:cNvSpPr txBox="1"/>
          <p:nvPr/>
        </p:nvSpPr>
        <p:spPr>
          <a:xfrm>
            <a:off x="5939949" y="3589082"/>
            <a:ext cx="252100" cy="144234"/>
          </a:xfrm>
          <a:prstGeom prst="rect">
            <a:avLst/>
          </a:prstGeom>
          <a:noFill/>
          <a:effectLst/>
        </p:spPr>
        <p:txBody>
          <a:bodyPr wrap="none" lIns="0" rIns="0" tIns="0" bIns="0" anchor="ctr">
            <a:spAutoFit/>
          </a:bodyPr>
          <a:lstStyle/>
          <a:p>
            <a:pPr algn="ctr">
              <a:lnSpc>
                <a:spcPct val="105000"/>
              </a:lnSpc>
              <a:spcBef>
                <a:spcPts val="0"/>
              </a:spcBef>
              <a:spcAft>
                <a:spcPts val="0"/>
              </a:spcAft>
              <a:defRPr sz="700" b="0" i="0">
                <a:solidFill>
                  <a:srgbClr val="316B9B"/>
                </a:solidFill>
                <a:latin typeface="Arial"/>
              </a:defRPr>
            </a:pPr>
            <a:r>
              <a:t>7.64</a:t>
            </a:r>
          </a:p>
        </p:txBody>
      </p:sp>
      <p:sp>
        <p:nvSpPr>
          <p:cNvPr id="86" name="TextBox 85"/>
          <p:cNvSpPr txBox="1"/>
          <p:nvPr/>
        </p:nvSpPr>
        <p:spPr>
          <a:xfrm>
            <a:off x="3982284" y="3784888"/>
            <a:ext cx="1910364" cy="134223"/>
          </a:xfrm>
          <a:prstGeom prst="rect">
            <a:avLst/>
          </a:prstGeom>
          <a:noFill/>
          <a:effectLst/>
        </p:spPr>
        <p:txBody>
          <a:bodyPr wrap="none" lIns="0" rIns="0" tIns="0" bIns="0" anchor="ctr">
            <a:spAutoFit/>
          </a:bodyPr>
          <a:lstStyle/>
          <a:p>
            <a:pPr algn="l">
              <a:lnSpc>
                <a:spcPct val="105000"/>
              </a:lnSpc>
              <a:spcBef>
                <a:spcPts val="0"/>
              </a:spcBef>
              <a:spcAft>
                <a:spcPts val="0"/>
              </a:spcAft>
              <a:defRPr sz="640" b="0" i="0">
                <a:solidFill>
                  <a:srgbClr val="65717C"/>
                </a:solidFill>
                <a:latin typeface="Arial"/>
              </a:defRPr>
            </a:pPr>
            <a:r>
              <a:t>Recorded potency aggregates (pChEMBL)</a:t>
            </a:r>
          </a:p>
        </p:txBody>
      </p:sp>
      <p:sp>
        <p:nvSpPr>
          <p:cNvPr id="87" name="TextBox 86"/>
          <p:cNvSpPr txBox="1"/>
          <p:nvPr/>
        </p:nvSpPr>
        <p:spPr>
          <a:xfrm>
            <a:off x="3982284" y="4048213"/>
            <a:ext cx="947501" cy="147572"/>
          </a:xfrm>
          <a:prstGeom prst="rect">
            <a:avLst/>
          </a:prstGeom>
          <a:noFill/>
          <a:effectLst/>
        </p:spPr>
        <p:txBody>
          <a:bodyPr wrap="none" lIns="0" rIns="0" tIns="0" bIns="0" anchor="ctr">
            <a:spAutoFit/>
          </a:bodyPr>
          <a:lstStyle/>
          <a:p>
            <a:pPr algn="l">
              <a:lnSpc>
                <a:spcPct val="105000"/>
              </a:lnSpc>
              <a:spcBef>
                <a:spcPts val="0"/>
              </a:spcBef>
              <a:spcAft>
                <a:spcPts val="0"/>
              </a:spcAft>
              <a:defRPr sz="720" b="1" i="0">
                <a:solidFill>
                  <a:srgbClr val="202A33"/>
                </a:solidFill>
                <a:latin typeface="Arial"/>
              </a:defRPr>
            </a:pPr>
            <a:r>
              <a:t>Scoring evidence</a:t>
            </a:r>
          </a:p>
        </p:txBody>
      </p:sp>
      <p:sp>
        <p:nvSpPr>
          <p:cNvPr id="88" name="TextBox 87"/>
          <p:cNvSpPr txBox="1"/>
          <p:nvPr/>
        </p:nvSpPr>
        <p:spPr>
          <a:xfrm>
            <a:off x="5287420" y="4051551"/>
            <a:ext cx="990295" cy="140897"/>
          </a:xfrm>
          <a:prstGeom prst="rect">
            <a:avLst/>
          </a:prstGeom>
          <a:noFill/>
          <a:effectLst/>
        </p:spPr>
        <p:txBody>
          <a:bodyPr wrap="none" lIns="0" rIns="0" tIns="0" bIns="0" anchor="ctr">
            <a:spAutoFit/>
          </a:bodyPr>
          <a:lstStyle/>
          <a:p>
            <a:pPr algn="r">
              <a:lnSpc>
                <a:spcPct val="105000"/>
              </a:lnSpc>
              <a:spcBef>
                <a:spcPts val="0"/>
              </a:spcBef>
              <a:spcAft>
                <a:spcPts val="0"/>
              </a:spcAft>
              <a:defRPr sz="680" b="0" i="0">
                <a:solidFill>
                  <a:srgbClr val="316B9B"/>
                </a:solidFill>
                <a:latin typeface="Arial"/>
              </a:defRPr>
            </a:pPr>
            <a:r>
              <a:t>10/17 direct coverage</a:t>
            </a:r>
          </a:p>
        </p:txBody>
      </p:sp>
      <p:sp>
        <p:nvSpPr>
          <p:cNvPr id="89" name="TextBox 88"/>
          <p:cNvSpPr txBox="1"/>
          <p:nvPr/>
        </p:nvSpPr>
        <p:spPr>
          <a:xfrm>
            <a:off x="4097484" y="4433722"/>
            <a:ext cx="1043787" cy="132554"/>
          </a:xfrm>
          <a:prstGeom prst="rect">
            <a:avLst/>
          </a:prstGeom>
          <a:noFill/>
          <a:effectLst/>
        </p:spPr>
        <p:txBody>
          <a:bodyPr wrap="none" lIns="0" rIns="0" tIns="0" bIns="0" anchor="ctr">
            <a:spAutoFit/>
          </a:bodyPr>
          <a:lstStyle/>
          <a:p>
            <a:pPr algn="l">
              <a:lnSpc>
                <a:spcPct val="105000"/>
              </a:lnSpc>
              <a:spcBef>
                <a:spcPts val="0"/>
              </a:spcBef>
              <a:spcAft>
                <a:spcPts val="0"/>
              </a:spcAft>
              <a:defRPr sz="630" b="0" i="0">
                <a:solidFill>
                  <a:srgbClr val="65717C"/>
                </a:solidFill>
                <a:latin typeface="Arial"/>
              </a:defRPr>
            </a:pPr>
            <a:r>
              <a:t>Measured / curated (5)</a:t>
            </a:r>
          </a:p>
        </p:txBody>
      </p:sp>
      <p:sp>
        <p:nvSpPr>
          <p:cNvPr id="90" name="TextBox 89"/>
          <p:cNvSpPr txBox="1"/>
          <p:nvPr/>
        </p:nvSpPr>
        <p:spPr>
          <a:xfrm>
            <a:off x="5321484" y="4433722"/>
            <a:ext cx="519562" cy="132554"/>
          </a:xfrm>
          <a:prstGeom prst="rect">
            <a:avLst/>
          </a:prstGeom>
          <a:noFill/>
          <a:effectLst/>
        </p:spPr>
        <p:txBody>
          <a:bodyPr wrap="none" lIns="0" rIns="0" tIns="0" bIns="0" anchor="ctr">
            <a:spAutoFit/>
          </a:bodyPr>
          <a:lstStyle/>
          <a:p>
            <a:pPr algn="l">
              <a:lnSpc>
                <a:spcPct val="105000"/>
              </a:lnSpc>
              <a:spcBef>
                <a:spcPts val="0"/>
              </a:spcBef>
              <a:spcAft>
                <a:spcPts val="0"/>
              </a:spcAft>
              <a:defRPr sz="630" b="0" i="0">
                <a:solidFill>
                  <a:srgbClr val="65717C"/>
                </a:solidFill>
                <a:latin typeface="Arial"/>
              </a:defRPr>
            </a:pPr>
            <a:r>
              <a:t>Derived (5)</a:t>
            </a:r>
          </a:p>
        </p:txBody>
      </p:sp>
      <p:sp>
        <p:nvSpPr>
          <p:cNvPr id="91" name="TextBox 90"/>
          <p:cNvSpPr txBox="1"/>
          <p:nvPr/>
        </p:nvSpPr>
        <p:spPr>
          <a:xfrm>
            <a:off x="4097484" y="4595722"/>
            <a:ext cx="594451" cy="132554"/>
          </a:xfrm>
          <a:prstGeom prst="rect">
            <a:avLst/>
          </a:prstGeom>
          <a:noFill/>
          <a:effectLst/>
        </p:spPr>
        <p:txBody>
          <a:bodyPr wrap="none" lIns="0" rIns="0" tIns="0" bIns="0" anchor="ctr">
            <a:spAutoFit/>
          </a:bodyPr>
          <a:lstStyle/>
          <a:p>
            <a:pPr algn="l">
              <a:lnSpc>
                <a:spcPct val="105000"/>
              </a:lnSpc>
              <a:spcBef>
                <a:spcPts val="0"/>
              </a:spcBef>
              <a:spcAft>
                <a:spcPts val="0"/>
              </a:spcAft>
              <a:defRPr sz="630" b="0" i="0">
                <a:solidFill>
                  <a:srgbClr val="65717C"/>
                </a:solidFill>
                <a:latin typeface="Arial"/>
              </a:defRPr>
            </a:pPr>
            <a:r>
              <a:t>Predicted (5)</a:t>
            </a:r>
          </a:p>
        </p:txBody>
      </p:sp>
      <p:sp>
        <p:nvSpPr>
          <p:cNvPr id="92" name="TextBox 91"/>
          <p:cNvSpPr txBox="1"/>
          <p:nvPr/>
        </p:nvSpPr>
        <p:spPr>
          <a:xfrm>
            <a:off x="5321484" y="4595722"/>
            <a:ext cx="519562" cy="132554"/>
          </a:xfrm>
          <a:prstGeom prst="rect">
            <a:avLst/>
          </a:prstGeom>
          <a:noFill/>
          <a:effectLst/>
        </p:spPr>
        <p:txBody>
          <a:bodyPr wrap="none" lIns="0" rIns="0" tIns="0" bIns="0" anchor="ctr">
            <a:spAutoFit/>
          </a:bodyPr>
          <a:lstStyle/>
          <a:p>
            <a:pPr algn="l">
              <a:lnSpc>
                <a:spcPct val="105000"/>
              </a:lnSpc>
              <a:spcBef>
                <a:spcPts val="0"/>
              </a:spcBef>
              <a:spcAft>
                <a:spcPts val="0"/>
              </a:spcAft>
              <a:defRPr sz="630" b="0" i="0">
                <a:solidFill>
                  <a:srgbClr val="65717C"/>
                </a:solidFill>
                <a:latin typeface="Arial"/>
              </a:defRPr>
            </a:pPr>
            <a:r>
              <a:t>Missing (2)</a:t>
            </a:r>
          </a:p>
        </p:txBody>
      </p:sp>
      <p:sp>
        <p:nvSpPr>
          <p:cNvPr id="93" name="TextBox 92"/>
          <p:cNvSpPr txBox="1"/>
          <p:nvPr/>
        </p:nvSpPr>
        <p:spPr>
          <a:xfrm>
            <a:off x="202284" y="4700957"/>
            <a:ext cx="3697010" cy="130885"/>
          </a:xfrm>
          <a:prstGeom prst="rect">
            <a:avLst/>
          </a:prstGeom>
          <a:noFill/>
          <a:effectLst/>
        </p:spPr>
        <p:txBody>
          <a:bodyPr wrap="none" lIns="0" rIns="0" tIns="0" bIns="0" anchor="ctr">
            <a:spAutoFit/>
          </a:bodyPr>
          <a:lstStyle/>
          <a:p>
            <a:pPr algn="l">
              <a:lnSpc>
                <a:spcPct val="105000"/>
              </a:lnSpc>
              <a:spcBef>
                <a:spcPts val="0"/>
              </a:spcBef>
              <a:spcAft>
                <a:spcPts val="0"/>
              </a:spcAft>
              <a:defRPr sz="620" b="0" i="0">
                <a:solidFill>
                  <a:srgbClr val="65717C"/>
                </a:solidFill>
                <a:latin typeface="Arial"/>
              </a:defRPr>
            </a:pPr>
            <a:r>
              <a:t>Equal weights; 15 usable scores. Direct coverage: 58.8%; ranking minimum: 50%.</a:t>
            </a:r>
          </a:p>
        </p:txBody>
      </p:sp>
      <p:cxnSp>
        <p:nvCxnSpPr>
          <p:cNvPr id="94" name="Connector 93"/>
          <p:cNvCxnSpPr/>
          <p:nvPr/>
        </p:nvCxnSpPr>
        <p:spPr>
          <a:xfrm flipV="1">
            <a:off x="1476000" y="2664000"/>
            <a:ext cx="0" cy="1692000"/>
          </a:xfrm>
          <a:prstGeom prst="line">
            <a:avLst/>
          </a:prstGeom>
          <a:ln w="6985">
            <a:solidFill>
              <a:srgbClr val="E7EBEF"/>
            </a:solidFill>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flipV="1">
            <a:off x="2003884" y="2664000"/>
            <a:ext cx="0" cy="1692000"/>
          </a:xfrm>
          <a:prstGeom prst="line">
            <a:avLst/>
          </a:prstGeom>
          <a:ln w="6985">
            <a:solidFill>
              <a:srgbClr val="E7EBEF"/>
            </a:solidFill>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flipV="1">
            <a:off x="2531769" y="2664000"/>
            <a:ext cx="0" cy="1692000"/>
          </a:xfrm>
          <a:prstGeom prst="line">
            <a:avLst/>
          </a:prstGeom>
          <a:ln w="6985">
            <a:solidFill>
              <a:srgbClr val="E7EBEF"/>
            </a:solidFill>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flipV="1">
            <a:off x="3059653" y="2664000"/>
            <a:ext cx="0" cy="1692000"/>
          </a:xfrm>
          <a:prstGeom prst="line">
            <a:avLst/>
          </a:prstGeom>
          <a:ln w="6985">
            <a:solidFill>
              <a:srgbClr val="E7EBEF"/>
            </a:solidFill>
          </a:ln>
          <a:effectLst/>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flipV="1">
            <a:off x="3587538" y="2664000"/>
            <a:ext cx="0" cy="1692000"/>
          </a:xfrm>
          <a:prstGeom prst="line">
            <a:avLst/>
          </a:prstGeom>
          <a:ln w="6985">
            <a:solidFill>
              <a:srgbClr val="E7EBEF"/>
            </a:solidFill>
          </a:ln>
          <a:effectLst/>
        </p:spPr>
        <p:style>
          <a:lnRef idx="2">
            <a:schemeClr val="accent1"/>
          </a:lnRef>
          <a:fillRef idx="0">
            <a:schemeClr val="accent1"/>
          </a:fillRef>
          <a:effectRef idx="0">
            <a:schemeClr val="accent1"/>
          </a:effectRef>
          <a:fontRef idx="minor">
            <a:schemeClr val="tx1"/>
          </a:fontRef>
        </p:style>
      </p:cxnSp>
      <p:sp>
        <p:nvSpPr>
          <p:cNvPr id="99" name="Freeform 98"/>
          <p:cNvSpPr/>
          <p:nvPr/>
        </p:nvSpPr>
        <p:spPr>
          <a:xfrm>
            <a:off x="1476000" y="2742960"/>
            <a:ext cx="1603205" cy="99908"/>
          </a:xfrm>
          <a:custGeom>
            <a:avLst/>
            <a:gdLst/>
            <a:ahLst/>
            <a:cxnLst/>
            <a:rect l="l" t="t" r="r" b="b"/>
            <a:pathLst>
              <a:path w="1603205" h="99908">
                <a:moveTo>
                  <a:pt x="0" y="0"/>
                </a:moveTo>
                <a:lnTo>
                  <a:pt x="1603205" y="0"/>
                </a:lnTo>
                <a:lnTo>
                  <a:pt x="1603205" y="99908"/>
                </a:lnTo>
                <a:lnTo>
                  <a:pt x="0" y="99908"/>
                </a:lnTo>
                <a:close/>
              </a:path>
            </a:pathLst>
          </a:custGeom>
          <a:solidFill>
            <a:srgbClr val="316B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Freeform 99"/>
          <p:cNvSpPr/>
          <p:nvPr/>
        </p:nvSpPr>
        <p:spPr>
          <a:xfrm>
            <a:off x="1476000" y="2904102"/>
            <a:ext cx="1306025" cy="99909"/>
          </a:xfrm>
          <a:custGeom>
            <a:avLst/>
            <a:gdLst/>
            <a:ahLst/>
            <a:cxnLst/>
            <a:rect l="l" t="t" r="r" b="b"/>
            <a:pathLst>
              <a:path w="1306025" h="99909">
                <a:moveTo>
                  <a:pt x="0" y="0"/>
                </a:moveTo>
                <a:lnTo>
                  <a:pt x="1306025" y="0"/>
                </a:lnTo>
                <a:lnTo>
                  <a:pt x="1306025"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1" name="Freeform 100"/>
          <p:cNvSpPr/>
          <p:nvPr/>
        </p:nvSpPr>
        <p:spPr>
          <a:xfrm>
            <a:off x="1476000" y="3065245"/>
            <a:ext cx="1196538" cy="99909"/>
          </a:xfrm>
          <a:custGeom>
            <a:avLst/>
            <a:gdLst/>
            <a:ahLst/>
            <a:cxnLst/>
            <a:rect l="l" t="t" r="r" b="b"/>
            <a:pathLst>
              <a:path w="1196538" h="99909">
                <a:moveTo>
                  <a:pt x="0" y="0"/>
                </a:moveTo>
                <a:lnTo>
                  <a:pt x="1196538" y="0"/>
                </a:lnTo>
                <a:lnTo>
                  <a:pt x="1196538"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1476000" y="3226388"/>
            <a:ext cx="1055769" cy="99909"/>
          </a:xfrm>
          <a:custGeom>
            <a:avLst/>
            <a:gdLst/>
            <a:ahLst/>
            <a:cxnLst/>
            <a:rect l="l" t="t" r="r" b="b"/>
            <a:pathLst>
              <a:path w="1055769" h="99909">
                <a:moveTo>
                  <a:pt x="0" y="0"/>
                </a:moveTo>
                <a:lnTo>
                  <a:pt x="1055769" y="0"/>
                </a:lnTo>
                <a:lnTo>
                  <a:pt x="1055769"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Freeform 102"/>
          <p:cNvSpPr/>
          <p:nvPr/>
        </p:nvSpPr>
        <p:spPr>
          <a:xfrm>
            <a:off x="1476000" y="3387531"/>
            <a:ext cx="1047948" cy="99909"/>
          </a:xfrm>
          <a:custGeom>
            <a:avLst/>
            <a:gdLst/>
            <a:ahLst/>
            <a:cxnLst/>
            <a:rect l="l" t="t" r="r" b="b"/>
            <a:pathLst>
              <a:path w="1047948" h="99909">
                <a:moveTo>
                  <a:pt x="0" y="0"/>
                </a:moveTo>
                <a:lnTo>
                  <a:pt x="1047948" y="0"/>
                </a:lnTo>
                <a:lnTo>
                  <a:pt x="1047948"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Freeform 103"/>
          <p:cNvSpPr/>
          <p:nvPr/>
        </p:nvSpPr>
        <p:spPr>
          <a:xfrm>
            <a:off x="1476000" y="3548674"/>
            <a:ext cx="1040128" cy="99908"/>
          </a:xfrm>
          <a:custGeom>
            <a:avLst/>
            <a:gdLst/>
            <a:ahLst/>
            <a:cxnLst/>
            <a:rect l="l" t="t" r="r" b="b"/>
            <a:pathLst>
              <a:path w="1040128" h="99908">
                <a:moveTo>
                  <a:pt x="0" y="0"/>
                </a:moveTo>
                <a:lnTo>
                  <a:pt x="1040128" y="0"/>
                </a:lnTo>
                <a:lnTo>
                  <a:pt x="1040128" y="99908"/>
                </a:lnTo>
                <a:lnTo>
                  <a:pt x="0" y="99908"/>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1476000" y="3709817"/>
            <a:ext cx="1016666" cy="99908"/>
          </a:xfrm>
          <a:custGeom>
            <a:avLst/>
            <a:gdLst/>
            <a:ahLst/>
            <a:cxnLst/>
            <a:rect l="l" t="t" r="r" b="b"/>
            <a:pathLst>
              <a:path w="1016666" h="99908">
                <a:moveTo>
                  <a:pt x="0" y="0"/>
                </a:moveTo>
                <a:lnTo>
                  <a:pt x="1016666" y="0"/>
                </a:lnTo>
                <a:lnTo>
                  <a:pt x="1016666" y="99908"/>
                </a:lnTo>
                <a:lnTo>
                  <a:pt x="0" y="99908"/>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1476000" y="3870960"/>
            <a:ext cx="946282" cy="99908"/>
          </a:xfrm>
          <a:custGeom>
            <a:avLst/>
            <a:gdLst/>
            <a:ahLst/>
            <a:cxnLst/>
            <a:rect l="l" t="t" r="r" b="b"/>
            <a:pathLst>
              <a:path w="946282" h="99908">
                <a:moveTo>
                  <a:pt x="0" y="0"/>
                </a:moveTo>
                <a:lnTo>
                  <a:pt x="946282" y="0"/>
                </a:lnTo>
                <a:lnTo>
                  <a:pt x="946282" y="99908"/>
                </a:lnTo>
                <a:lnTo>
                  <a:pt x="0" y="99908"/>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1476000" y="4032102"/>
            <a:ext cx="774230" cy="99909"/>
          </a:xfrm>
          <a:custGeom>
            <a:avLst/>
            <a:gdLst/>
            <a:ahLst/>
            <a:cxnLst/>
            <a:rect l="l" t="t" r="r" b="b"/>
            <a:pathLst>
              <a:path w="774230" h="99909">
                <a:moveTo>
                  <a:pt x="0" y="0"/>
                </a:moveTo>
                <a:lnTo>
                  <a:pt x="774230" y="0"/>
                </a:lnTo>
                <a:lnTo>
                  <a:pt x="774230"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1476000" y="4193245"/>
            <a:ext cx="711666" cy="99909"/>
          </a:xfrm>
          <a:custGeom>
            <a:avLst/>
            <a:gdLst/>
            <a:ahLst/>
            <a:cxnLst/>
            <a:rect l="l" t="t" r="r" b="b"/>
            <a:pathLst>
              <a:path w="711666" h="99909">
                <a:moveTo>
                  <a:pt x="0" y="0"/>
                </a:moveTo>
                <a:lnTo>
                  <a:pt x="711666" y="0"/>
                </a:lnTo>
                <a:lnTo>
                  <a:pt x="711666" y="99909"/>
                </a:lnTo>
                <a:lnTo>
                  <a:pt x="0" y="99909"/>
                </a:lnTo>
                <a:close/>
              </a:path>
            </a:pathLst>
          </a:custGeom>
          <a:solidFill>
            <a:srgbClr val="C7D0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1476000" y="4356000"/>
            <a:ext cx="2196000" cy="0"/>
          </a:xfrm>
          <a:custGeom>
            <a:avLst/>
            <a:gdLst/>
            <a:ahLst/>
            <a:cxnLst/>
            <a:rect l="l" t="t" r="r" b="b"/>
            <a:pathLst>
              <a:path w="2196000" h="0">
                <a:moveTo>
                  <a:pt x="0" y="0"/>
                </a:moveTo>
                <a:lnTo>
                  <a:pt x="2196000" y="0"/>
                </a:lnTo>
              </a:path>
            </a:pathLst>
          </a:custGeom>
          <a:noFill/>
          <a:ln w="8255">
            <a:solidFill>
              <a:srgbClr val="B9C3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0" name="TextBox 109"/>
          <p:cNvSpPr txBox="1"/>
          <p:nvPr/>
        </p:nvSpPr>
        <p:spPr>
          <a:xfrm>
            <a:off x="3107719" y="2738107"/>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1" i="0">
                <a:solidFill>
                  <a:srgbClr val="316B9B"/>
                </a:solidFill>
                <a:latin typeface="Arial"/>
              </a:defRPr>
            </a:pPr>
            <a:r>
              <a:t>0.759</a:t>
            </a:r>
          </a:p>
        </p:txBody>
      </p:sp>
      <p:sp>
        <p:nvSpPr>
          <p:cNvPr id="111" name="TextBox 110"/>
          <p:cNvSpPr txBox="1"/>
          <p:nvPr/>
        </p:nvSpPr>
        <p:spPr>
          <a:xfrm>
            <a:off x="2810540" y="2899249"/>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0.619</a:t>
            </a:r>
          </a:p>
        </p:txBody>
      </p:sp>
      <p:sp>
        <p:nvSpPr>
          <p:cNvPr id="112" name="TextBox 111"/>
          <p:cNvSpPr txBox="1"/>
          <p:nvPr/>
        </p:nvSpPr>
        <p:spPr>
          <a:xfrm>
            <a:off x="2701053" y="3060392"/>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0.567</a:t>
            </a:r>
          </a:p>
        </p:txBody>
      </p:sp>
      <p:sp>
        <p:nvSpPr>
          <p:cNvPr id="113" name="TextBox 112"/>
          <p:cNvSpPr txBox="1"/>
          <p:nvPr/>
        </p:nvSpPr>
        <p:spPr>
          <a:xfrm>
            <a:off x="2560284" y="3221535"/>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0.500</a:t>
            </a:r>
          </a:p>
        </p:txBody>
      </p:sp>
      <p:sp>
        <p:nvSpPr>
          <p:cNvPr id="114" name="TextBox 113"/>
          <p:cNvSpPr txBox="1"/>
          <p:nvPr/>
        </p:nvSpPr>
        <p:spPr>
          <a:xfrm>
            <a:off x="2552463" y="3382678"/>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0.496</a:t>
            </a:r>
          </a:p>
        </p:txBody>
      </p:sp>
      <p:sp>
        <p:nvSpPr>
          <p:cNvPr id="115" name="TextBox 114"/>
          <p:cNvSpPr txBox="1"/>
          <p:nvPr/>
        </p:nvSpPr>
        <p:spPr>
          <a:xfrm>
            <a:off x="2544642" y="3543821"/>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0.493</a:t>
            </a:r>
          </a:p>
        </p:txBody>
      </p:sp>
      <p:sp>
        <p:nvSpPr>
          <p:cNvPr id="116" name="TextBox 115"/>
          <p:cNvSpPr txBox="1"/>
          <p:nvPr/>
        </p:nvSpPr>
        <p:spPr>
          <a:xfrm>
            <a:off x="2521181" y="3704964"/>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0.481</a:t>
            </a:r>
          </a:p>
        </p:txBody>
      </p:sp>
      <p:sp>
        <p:nvSpPr>
          <p:cNvPr id="117" name="TextBox 116"/>
          <p:cNvSpPr txBox="1"/>
          <p:nvPr/>
        </p:nvSpPr>
        <p:spPr>
          <a:xfrm>
            <a:off x="2450796" y="3866107"/>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0.448</a:t>
            </a:r>
          </a:p>
        </p:txBody>
      </p:sp>
      <p:sp>
        <p:nvSpPr>
          <p:cNvPr id="118" name="TextBox 117"/>
          <p:cNvSpPr txBox="1"/>
          <p:nvPr/>
        </p:nvSpPr>
        <p:spPr>
          <a:xfrm>
            <a:off x="2278745" y="4027249"/>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0.367</a:t>
            </a:r>
          </a:p>
        </p:txBody>
      </p:sp>
      <p:sp>
        <p:nvSpPr>
          <p:cNvPr id="119" name="TextBox 118"/>
          <p:cNvSpPr txBox="1"/>
          <p:nvPr/>
        </p:nvSpPr>
        <p:spPr>
          <a:xfrm>
            <a:off x="2216181" y="4188392"/>
            <a:ext cx="273497" cy="109614"/>
          </a:xfrm>
          <a:prstGeom prst="rect">
            <a:avLst/>
          </a:prstGeom>
          <a:noFill/>
          <a:effectLst/>
        </p:spPr>
        <p:txBody>
          <a:bodyPr wrap="none" lIns="0" rIns="0" tIns="0" bIns="0" anchor="ctr">
            <a:spAutoFit/>
          </a:bodyPr>
          <a:lstStyle/>
          <a:p>
            <a:pPr algn="l">
              <a:lnSpc>
                <a:spcPct val="105000"/>
              </a:lnSpc>
              <a:spcBef>
                <a:spcPts val="0"/>
              </a:spcBef>
              <a:spcAft>
                <a:spcPts val="0"/>
              </a:spcAft>
              <a:defRPr sz="680" b="0" i="0">
                <a:solidFill>
                  <a:srgbClr val="65717C"/>
                </a:solidFill>
                <a:latin typeface="Arial"/>
              </a:defRPr>
            </a:pPr>
            <a:r>
              <a:t>0.337</a:t>
            </a:r>
          </a:p>
        </p:txBody>
      </p:sp>
      <p:sp>
        <p:nvSpPr>
          <p:cNvPr id="120" name="TextBox 119"/>
          <p:cNvSpPr txBox="1"/>
          <p:nvPr/>
        </p:nvSpPr>
        <p:spPr>
          <a:xfrm>
            <a:off x="1435537" y="4410864"/>
            <a:ext cx="80924" cy="108545"/>
          </a:xfrm>
          <a:prstGeom prst="rect">
            <a:avLst/>
          </a:prstGeom>
          <a:noFill/>
          <a:effectLst/>
        </p:spPr>
        <p:txBody>
          <a:bodyPr wrap="none" lIns="0" rIns="0" tIns="0" bIns="0" anchor="ctr">
            <a:spAutoFit/>
          </a:bodyPr>
          <a:lstStyle/>
          <a:p>
            <a:pPr algn="ctr">
              <a:lnSpc>
                <a:spcPct val="105000"/>
              </a:lnSpc>
              <a:spcBef>
                <a:spcPts val="0"/>
              </a:spcBef>
              <a:spcAft>
                <a:spcPts val="0"/>
              </a:spcAft>
              <a:defRPr sz="640" b="0" i="0">
                <a:solidFill>
                  <a:srgbClr val="65717C"/>
                </a:solidFill>
                <a:latin typeface="Arial"/>
              </a:defRPr>
            </a:pPr>
            <a:r>
              <a:t>0</a:t>
            </a:r>
          </a:p>
        </p:txBody>
      </p:sp>
      <p:sp>
        <p:nvSpPr>
          <p:cNvPr id="121" name="TextBox 120"/>
          <p:cNvSpPr txBox="1"/>
          <p:nvPr/>
        </p:nvSpPr>
        <p:spPr>
          <a:xfrm>
            <a:off x="1893882" y="4410864"/>
            <a:ext cx="220004" cy="108545"/>
          </a:xfrm>
          <a:prstGeom prst="rect">
            <a:avLst/>
          </a:prstGeom>
          <a:noFill/>
          <a:effectLst/>
        </p:spPr>
        <p:txBody>
          <a:bodyPr wrap="none" lIns="0" rIns="0" tIns="0" bIns="0" anchor="ctr">
            <a:spAutoFit/>
          </a:bodyPr>
          <a:lstStyle/>
          <a:p>
            <a:pPr algn="ctr">
              <a:lnSpc>
                <a:spcPct val="105000"/>
              </a:lnSpc>
              <a:spcBef>
                <a:spcPts val="0"/>
              </a:spcBef>
              <a:spcAft>
                <a:spcPts val="0"/>
              </a:spcAft>
              <a:defRPr sz="640" b="0" i="0">
                <a:solidFill>
                  <a:srgbClr val="65717C"/>
                </a:solidFill>
                <a:latin typeface="Arial"/>
              </a:defRPr>
            </a:pPr>
            <a:r>
              <a:t>0.25</a:t>
            </a:r>
          </a:p>
        </p:txBody>
      </p:sp>
      <p:sp>
        <p:nvSpPr>
          <p:cNvPr id="122" name="TextBox 121"/>
          <p:cNvSpPr txBox="1"/>
          <p:nvPr/>
        </p:nvSpPr>
        <p:spPr>
          <a:xfrm>
            <a:off x="2421766" y="4410864"/>
            <a:ext cx="220004" cy="108545"/>
          </a:xfrm>
          <a:prstGeom prst="rect">
            <a:avLst/>
          </a:prstGeom>
          <a:noFill/>
          <a:effectLst/>
        </p:spPr>
        <p:txBody>
          <a:bodyPr wrap="none" lIns="0" rIns="0" tIns="0" bIns="0" anchor="ctr">
            <a:spAutoFit/>
          </a:bodyPr>
          <a:lstStyle/>
          <a:p>
            <a:pPr algn="ctr">
              <a:lnSpc>
                <a:spcPct val="105000"/>
              </a:lnSpc>
              <a:spcBef>
                <a:spcPts val="0"/>
              </a:spcBef>
              <a:spcAft>
                <a:spcPts val="0"/>
              </a:spcAft>
              <a:defRPr sz="640" b="0" i="0">
                <a:solidFill>
                  <a:srgbClr val="65717C"/>
                </a:solidFill>
                <a:latin typeface="Arial"/>
              </a:defRPr>
            </a:pPr>
            <a:r>
              <a:t>0.50</a:t>
            </a:r>
          </a:p>
        </p:txBody>
      </p:sp>
      <p:sp>
        <p:nvSpPr>
          <p:cNvPr id="123" name="TextBox 122"/>
          <p:cNvSpPr txBox="1"/>
          <p:nvPr/>
        </p:nvSpPr>
        <p:spPr>
          <a:xfrm>
            <a:off x="2949651" y="4410864"/>
            <a:ext cx="220004" cy="108545"/>
          </a:xfrm>
          <a:prstGeom prst="rect">
            <a:avLst/>
          </a:prstGeom>
          <a:noFill/>
          <a:effectLst/>
        </p:spPr>
        <p:txBody>
          <a:bodyPr wrap="none" lIns="0" rIns="0" tIns="0" bIns="0" anchor="ctr">
            <a:spAutoFit/>
          </a:bodyPr>
          <a:lstStyle/>
          <a:p>
            <a:pPr algn="ctr">
              <a:lnSpc>
                <a:spcPct val="105000"/>
              </a:lnSpc>
              <a:spcBef>
                <a:spcPts val="0"/>
              </a:spcBef>
              <a:spcAft>
                <a:spcPts val="0"/>
              </a:spcAft>
              <a:defRPr sz="640" b="0" i="0">
                <a:solidFill>
                  <a:srgbClr val="65717C"/>
                </a:solidFill>
                <a:latin typeface="Arial"/>
              </a:defRPr>
            </a:pPr>
            <a:r>
              <a:t>0.75</a:t>
            </a:r>
          </a:p>
        </p:txBody>
      </p:sp>
      <p:sp>
        <p:nvSpPr>
          <p:cNvPr id="124" name="TextBox 123"/>
          <p:cNvSpPr txBox="1"/>
          <p:nvPr/>
        </p:nvSpPr>
        <p:spPr>
          <a:xfrm>
            <a:off x="3477536" y="4410864"/>
            <a:ext cx="220004" cy="108545"/>
          </a:xfrm>
          <a:prstGeom prst="rect">
            <a:avLst/>
          </a:prstGeom>
          <a:noFill/>
          <a:effectLst/>
        </p:spPr>
        <p:txBody>
          <a:bodyPr wrap="none" lIns="0" rIns="0" tIns="0" bIns="0" anchor="ctr">
            <a:spAutoFit/>
          </a:bodyPr>
          <a:lstStyle/>
          <a:p>
            <a:pPr algn="ctr">
              <a:lnSpc>
                <a:spcPct val="105000"/>
              </a:lnSpc>
              <a:spcBef>
                <a:spcPts val="0"/>
              </a:spcBef>
              <a:spcAft>
                <a:spcPts val="0"/>
              </a:spcAft>
              <a:defRPr sz="640" b="0" i="0">
                <a:solidFill>
                  <a:srgbClr val="65717C"/>
                </a:solidFill>
                <a:latin typeface="Arial"/>
              </a:defRPr>
            </a:pPr>
            <a:r>
              <a:t>1.00</a:t>
            </a:r>
          </a:p>
        </p:txBody>
      </p:sp>
      <p:sp>
        <p:nvSpPr>
          <p:cNvPr id="125" name="TextBox 124"/>
          <p:cNvSpPr txBox="1"/>
          <p:nvPr/>
        </p:nvSpPr>
        <p:spPr>
          <a:xfrm>
            <a:off x="819064" y="2745450"/>
            <a:ext cx="594451"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1" i="0">
                <a:solidFill>
                  <a:srgbClr val="316B9B"/>
                </a:solidFill>
                <a:latin typeface="Arial"/>
              </a:defRPr>
            </a:pPr>
            <a:r>
              <a:t>Surufatinib</a:t>
            </a:r>
          </a:p>
        </p:txBody>
      </p:sp>
      <p:sp>
        <p:nvSpPr>
          <p:cNvPr id="126" name="TextBox 125"/>
          <p:cNvSpPr txBox="1"/>
          <p:nvPr/>
        </p:nvSpPr>
        <p:spPr>
          <a:xfrm>
            <a:off x="851160" y="2906593"/>
            <a:ext cx="562356"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Pazopanib</a:t>
            </a:r>
          </a:p>
        </p:txBody>
      </p:sp>
      <p:sp>
        <p:nvSpPr>
          <p:cNvPr id="127" name="TextBox 126"/>
          <p:cNvSpPr txBox="1"/>
          <p:nvPr/>
        </p:nvSpPr>
        <p:spPr>
          <a:xfrm>
            <a:off x="1033034" y="3067736"/>
            <a:ext cx="380481"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Axitinib</a:t>
            </a:r>
          </a:p>
        </p:txBody>
      </p:sp>
      <p:sp>
        <p:nvSpPr>
          <p:cNvPr id="128" name="TextBox 127"/>
          <p:cNvSpPr txBox="1"/>
          <p:nvPr/>
        </p:nvSpPr>
        <p:spPr>
          <a:xfrm>
            <a:off x="816389" y="3228879"/>
            <a:ext cx="597126"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Vandetanib</a:t>
            </a:r>
          </a:p>
        </p:txBody>
      </p:sp>
      <p:sp>
        <p:nvSpPr>
          <p:cNvPr id="129" name="TextBox 128"/>
          <p:cNvSpPr txBox="1"/>
          <p:nvPr/>
        </p:nvSpPr>
        <p:spPr>
          <a:xfrm>
            <a:off x="851160" y="3390022"/>
            <a:ext cx="562356"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Nintedanib</a:t>
            </a:r>
          </a:p>
        </p:txBody>
      </p:sp>
      <p:sp>
        <p:nvSpPr>
          <p:cNvPr id="130" name="TextBox 129"/>
          <p:cNvSpPr txBox="1"/>
          <p:nvPr/>
        </p:nvSpPr>
        <p:spPr>
          <a:xfrm>
            <a:off x="904652" y="3551164"/>
            <a:ext cx="508863"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Sorafenib</a:t>
            </a:r>
          </a:p>
        </p:txBody>
      </p:sp>
      <p:sp>
        <p:nvSpPr>
          <p:cNvPr id="131" name="TextBox 130"/>
          <p:cNvSpPr txBox="1"/>
          <p:nvPr/>
        </p:nvSpPr>
        <p:spPr>
          <a:xfrm>
            <a:off x="958144" y="3712307"/>
            <a:ext cx="455371"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Sunitinib</a:t>
            </a:r>
          </a:p>
        </p:txBody>
      </p:sp>
      <p:sp>
        <p:nvSpPr>
          <p:cNvPr id="132" name="TextBox 131"/>
          <p:cNvSpPr txBox="1"/>
          <p:nvPr/>
        </p:nvSpPr>
        <p:spPr>
          <a:xfrm>
            <a:off x="861858" y="3873450"/>
            <a:ext cx="551657"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Entrectinib</a:t>
            </a:r>
          </a:p>
        </p:txBody>
      </p:sp>
      <p:sp>
        <p:nvSpPr>
          <p:cNvPr id="133" name="TextBox 132"/>
          <p:cNvSpPr txBox="1"/>
          <p:nvPr/>
        </p:nvSpPr>
        <p:spPr>
          <a:xfrm>
            <a:off x="893953" y="4034593"/>
            <a:ext cx="519562"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Fedratinib</a:t>
            </a:r>
          </a:p>
        </p:txBody>
      </p:sp>
      <p:sp>
        <p:nvSpPr>
          <p:cNvPr id="134" name="TextBox 133"/>
          <p:cNvSpPr txBox="1"/>
          <p:nvPr/>
        </p:nvSpPr>
        <p:spPr>
          <a:xfrm>
            <a:off x="819064" y="4195736"/>
            <a:ext cx="594451" cy="114438"/>
          </a:xfrm>
          <a:prstGeom prst="rect">
            <a:avLst/>
          </a:prstGeom>
          <a:noFill/>
          <a:effectLst/>
        </p:spPr>
        <p:txBody>
          <a:bodyPr wrap="none" lIns="0" rIns="0" tIns="0" bIns="0" anchor="ctr">
            <a:spAutoFit/>
          </a:bodyPr>
          <a:lstStyle/>
          <a:p>
            <a:pPr algn="r">
              <a:lnSpc>
                <a:spcPct val="105000"/>
              </a:lnSpc>
              <a:spcBef>
                <a:spcPts val="0"/>
              </a:spcBef>
              <a:spcAft>
                <a:spcPts val="0"/>
              </a:spcAft>
              <a:defRPr sz="730" b="0" i="0">
                <a:solidFill>
                  <a:srgbClr val="202A33"/>
                </a:solidFill>
                <a:latin typeface="Arial"/>
              </a:defRPr>
            </a:pPr>
            <a:r>
              <a:t>Midostaurin</a:t>
            </a:r>
          </a:p>
        </p:txBody>
      </p:sp>
      <p:sp>
        <p:nvSpPr>
          <p:cNvPr id="135" name="TextBox 134"/>
          <p:cNvSpPr txBox="1"/>
          <p:nvPr/>
        </p:nvSpPr>
        <p:spPr>
          <a:xfrm>
            <a:off x="2110947" y="4555477"/>
            <a:ext cx="926104" cy="112054"/>
          </a:xfrm>
          <a:prstGeom prst="rect">
            <a:avLst/>
          </a:prstGeom>
          <a:noFill/>
          <a:effectLst/>
        </p:spPr>
        <p:txBody>
          <a:bodyPr wrap="none" lIns="0" rIns="0" tIns="0" bIns="0" anchor="ctr">
            <a:spAutoFit/>
          </a:bodyPr>
          <a:lstStyle/>
          <a:p>
            <a:pPr algn="ctr">
              <a:lnSpc>
                <a:spcPct val="105000"/>
              </a:lnSpc>
              <a:spcBef>
                <a:spcPts val="0"/>
              </a:spcBef>
              <a:spcAft>
                <a:spcPts val="0"/>
              </a:spcAft>
              <a:defRPr sz="710" b="0" i="0">
                <a:solidFill>
                  <a:srgbClr val="202A33"/>
                </a:solidFill>
                <a:latin typeface="Arial"/>
              </a:defRPr>
            </a:pPr>
            <a:r>
              <a:t>Prioritization score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