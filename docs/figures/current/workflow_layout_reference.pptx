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114300" y="76200"/>
            <a:ext cx="9220200" cy="561975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8890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9439275" y="76200"/>
            <a:ext cx="5076825" cy="5619750"/>
          </a:xfrm>
          <a:prstGeom prst="roundRect">
            <a:avLst>
              <a:gd name="adj" fmla="val 1689"/>
            </a:avLst>
          </a:prstGeom>
          <a:solidFill>
            <a:srgbClr val="FFFFFF"/>
          </a:solidFill>
          <a:ln w="8890">
            <a:solidFill>
              <a:srgbClr val="73A48B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4300" y="5810250"/>
            <a:ext cx="14401800" cy="33147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8890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23825" y="85725"/>
            <a:ext cx="9201150" cy="47625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9448800" y="85725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8F3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23825" y="5819775"/>
            <a:ext cx="14382750" cy="47625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23825" y="314325"/>
            <a:ext cx="9201150" cy="23812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9448800" y="314325"/>
            <a:ext cx="5057775" cy="238125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23825" y="6048375"/>
            <a:ext cx="14382750" cy="238125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295275" y="4238625"/>
            <a:ext cx="8886825" cy="134302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255">
            <a:solidFill>
              <a:srgbClr val="86B4D0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019300" y="990600"/>
            <a:ext cx="1743075" cy="361950"/>
          </a:xfrm>
          <a:prstGeom prst="roundRect">
            <a:avLst>
              <a:gd name="adj" fmla="val 10526"/>
            </a:avLst>
          </a:prstGeom>
          <a:solidFill>
            <a:srgbClr val="FFF3D9"/>
          </a:solidFill>
          <a:ln w="8255">
            <a:solidFill>
              <a:srgbClr val="C89D52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095500" y="2114550"/>
            <a:ext cx="1000125" cy="800100"/>
          </a:xfrm>
          <a:prstGeom prst="roundRect">
            <a:avLst>
              <a:gd name="adj" fmla="val 4762"/>
            </a:avLst>
          </a:prstGeom>
          <a:solidFill>
            <a:srgbClr val="EBF5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676775" y="2105025"/>
            <a:ext cx="923925" cy="819150"/>
          </a:xfrm>
          <a:prstGeom prst="roundRect">
            <a:avLst>
              <a:gd name="adj" fmla="val 4651"/>
            </a:avLst>
          </a:prstGeom>
          <a:solidFill>
            <a:srgbClr val="EBF5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848350" y="2105025"/>
            <a:ext cx="1104900" cy="819150"/>
          </a:xfrm>
          <a:prstGeom prst="roundRect">
            <a:avLst>
              <a:gd name="adj" fmla="val 4651"/>
            </a:avLst>
          </a:prstGeom>
          <a:solidFill>
            <a:srgbClr val="EBF5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7124700" y="2105025"/>
            <a:ext cx="733425" cy="819150"/>
          </a:xfrm>
          <a:prstGeom prst="roundRect">
            <a:avLst>
              <a:gd name="adj" fmla="val 5195"/>
            </a:avLst>
          </a:prstGeom>
          <a:solidFill>
            <a:srgbClr val="F0F2F4"/>
          </a:solidFill>
          <a:ln w="8255">
            <a:solidFill>
              <a:srgbClr val="9099A1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6134100" y="3314700"/>
            <a:ext cx="1743075" cy="838200"/>
          </a:xfrm>
          <a:prstGeom prst="roundRect">
            <a:avLst>
              <a:gd name="adj" fmla="val 4545"/>
            </a:avLst>
          </a:prstGeom>
          <a:solidFill>
            <a:srgbClr val="F0F2F4"/>
          </a:solidFill>
          <a:ln w="8255">
            <a:solidFill>
              <a:srgbClr val="9099A1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8058150" y="3800475"/>
            <a:ext cx="1257300" cy="323850"/>
          </a:xfrm>
          <a:prstGeom prst="roundRect">
            <a:avLst>
              <a:gd name="adj" fmla="val 11765"/>
            </a:avLst>
          </a:prstGeom>
          <a:solidFill>
            <a:srgbClr val="EDF5FA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857250" y="4610100"/>
            <a:ext cx="1266825" cy="619125"/>
          </a:xfrm>
          <a:prstGeom prst="roundRect">
            <a:avLst>
              <a:gd name="adj" fmla="val 6154"/>
            </a:avLst>
          </a:prstGeom>
          <a:solidFill>
            <a:srgbClr val="EDF5FA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2600325" y="4610100"/>
            <a:ext cx="1685925" cy="619125"/>
          </a:xfrm>
          <a:prstGeom prst="roundRect">
            <a:avLst>
              <a:gd name="adj" fmla="val 6154"/>
            </a:avLst>
          </a:prstGeom>
          <a:solidFill>
            <a:srgbClr val="EDF5FA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4819650" y="4610100"/>
            <a:ext cx="1647825" cy="619125"/>
          </a:xfrm>
          <a:prstGeom prst="roundRect">
            <a:avLst>
              <a:gd name="adj" fmla="val 6154"/>
            </a:avLst>
          </a:prstGeom>
          <a:solidFill>
            <a:srgbClr val="EDF5FA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7105650" y="4610100"/>
            <a:ext cx="1638300" cy="619125"/>
          </a:xfrm>
          <a:prstGeom prst="roundRect">
            <a:avLst>
              <a:gd name="adj" fmla="val 6154"/>
            </a:avLst>
          </a:prstGeom>
          <a:solidFill>
            <a:srgbClr val="EDF5FA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9877425" y="1762125"/>
            <a:ext cx="4276725" cy="571500"/>
          </a:xfrm>
          <a:prstGeom prst="roundRect">
            <a:avLst>
              <a:gd name="adj" fmla="val 6667"/>
            </a:avLst>
          </a:prstGeom>
          <a:solidFill>
            <a:srgbClr val="FBE9EF"/>
          </a:solidFill>
          <a:ln w="8255">
            <a:solidFill>
              <a:srgbClr val="C85A7B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9639300" y="2724150"/>
            <a:ext cx="2286000" cy="1181100"/>
          </a:xfrm>
          <a:prstGeom prst="roundRect">
            <a:avLst>
              <a:gd name="adj" fmla="val 3226"/>
            </a:avLst>
          </a:prstGeom>
          <a:solidFill>
            <a:srgbClr val="F0F2F4"/>
          </a:solidFill>
          <a:ln w="8255">
            <a:solidFill>
              <a:srgbClr val="9099A1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12249150" y="2724150"/>
            <a:ext cx="2095500" cy="457200"/>
          </a:xfrm>
          <a:prstGeom prst="roundRect">
            <a:avLst>
              <a:gd name="adj" fmla="val 8333"/>
            </a:avLst>
          </a:prstGeom>
          <a:solidFill>
            <a:srgbClr val="E8F3EC"/>
          </a:solidFill>
          <a:ln w="8255">
            <a:solidFill>
              <a:srgbClr val="73A48B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12249150" y="3562350"/>
            <a:ext cx="2095500" cy="571500"/>
          </a:xfrm>
          <a:prstGeom prst="roundRect">
            <a:avLst>
              <a:gd name="adj" fmla="val 6667"/>
            </a:avLst>
          </a:prstGeom>
          <a:solidFill>
            <a:srgbClr val="E8F3EC"/>
          </a:solidFill>
          <a:ln w="8255">
            <a:solidFill>
              <a:srgbClr val="73A48B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12249150" y="4505325"/>
            <a:ext cx="2095500" cy="390525"/>
          </a:xfrm>
          <a:prstGeom prst="roundRect">
            <a:avLst>
              <a:gd name="adj" fmla="val 9756"/>
            </a:avLst>
          </a:prstGeom>
          <a:solidFill>
            <a:srgbClr val="EBF5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9982200" y="4524375"/>
            <a:ext cx="1571625" cy="390525"/>
          </a:xfrm>
          <a:prstGeom prst="roundRect">
            <a:avLst>
              <a:gd name="adj" fmla="val 9756"/>
            </a:avLst>
          </a:prstGeom>
          <a:solidFill>
            <a:srgbClr val="F0F2F4"/>
          </a:solidFill>
          <a:ln w="8255">
            <a:solidFill>
              <a:srgbClr val="9099A1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2249150" y="5257800"/>
            <a:ext cx="2095500" cy="323850"/>
          </a:xfrm>
          <a:prstGeom prst="roundRect">
            <a:avLst>
              <a:gd name="adj" fmla="val 11765"/>
            </a:avLst>
          </a:prstGeom>
          <a:solidFill>
            <a:srgbClr val="EDF5FA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7172325" y="7334250"/>
            <a:ext cx="1609725" cy="476250"/>
          </a:xfrm>
          <a:prstGeom prst="roundRect">
            <a:avLst>
              <a:gd name="adj" fmla="val 10000"/>
            </a:avLst>
          </a:prstGeom>
          <a:solidFill>
            <a:srgbClr val="EBF5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11858625" y="8210550"/>
            <a:ext cx="2266950" cy="409575"/>
          </a:xfrm>
          <a:prstGeom prst="roundRect">
            <a:avLst>
              <a:gd name="adj" fmla="val 11628"/>
            </a:avLst>
          </a:prstGeom>
          <a:solidFill>
            <a:srgbClr val="E8F3EC"/>
          </a:solidFill>
          <a:ln w="8255">
            <a:solidFill>
              <a:srgbClr val="73A48B"/>
            </a:solidFill>
          </a:ln>
        </p:spPr>
        <p:txBody>
          <a:bodyPr/>
          <a:lstStyle/>
          <a:p/>
        </p:txBody>
      </p:sp>
      <p:sp>
        <p:nvSpPr>
          <p:cNvPr id="32" name="Freeform 32"/>
          <p:cNvSpPr/>
          <p:nvPr/>
        </p:nvSpPr>
        <p:spPr>
          <a:xfrm>
            <a:off x="266700" y="1362075"/>
            <a:ext cx="1371600" cy="11334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200" y="0"/>
                </a:lnTo>
                <a:lnTo>
                  <a:pt x="21600" y="290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3" name="Freeform 33"/>
          <p:cNvSpPr/>
          <p:nvPr/>
        </p:nvSpPr>
        <p:spPr>
          <a:xfrm>
            <a:off x="266700" y="2781300"/>
            <a:ext cx="1371600" cy="857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200" y="0"/>
                </a:lnTo>
                <a:lnTo>
                  <a:pt x="21600" y="384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4" name="Freeform 34"/>
          <p:cNvSpPr/>
          <p:nvPr/>
        </p:nvSpPr>
        <p:spPr>
          <a:xfrm>
            <a:off x="3343275" y="1533525"/>
            <a:ext cx="1123950" cy="1981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8671" y="0"/>
                </a:lnTo>
                <a:lnTo>
                  <a:pt x="21600" y="1662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5" name="Freeform 35"/>
          <p:cNvSpPr/>
          <p:nvPr/>
        </p:nvSpPr>
        <p:spPr>
          <a:xfrm>
            <a:off x="8048625" y="1543050"/>
            <a:ext cx="1266825" cy="20478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002" y="0"/>
                </a:lnTo>
                <a:lnTo>
                  <a:pt x="21600" y="1607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6" name="Freeform 36"/>
          <p:cNvSpPr/>
          <p:nvPr/>
        </p:nvSpPr>
        <p:spPr>
          <a:xfrm>
            <a:off x="9715500" y="742950"/>
            <a:ext cx="4638675" cy="685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890" y="0"/>
                </a:lnTo>
                <a:lnTo>
                  <a:pt x="21600" y="480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7" name="Freeform 37"/>
          <p:cNvSpPr/>
          <p:nvPr/>
        </p:nvSpPr>
        <p:spPr>
          <a:xfrm>
            <a:off x="552450" y="6610350"/>
            <a:ext cx="1771650" cy="10096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510" y="0"/>
                </a:lnTo>
                <a:lnTo>
                  <a:pt x="21600" y="3668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8" name="Freeform 38"/>
          <p:cNvSpPr/>
          <p:nvPr/>
        </p:nvSpPr>
        <p:spPr>
          <a:xfrm>
            <a:off x="2495550" y="6610350"/>
            <a:ext cx="1838325" cy="10096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585" y="0"/>
                </a:lnTo>
                <a:lnTo>
                  <a:pt x="21600" y="3668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39" name="Freeform 39"/>
          <p:cNvSpPr/>
          <p:nvPr/>
        </p:nvSpPr>
        <p:spPr>
          <a:xfrm>
            <a:off x="4514850" y="6610350"/>
            <a:ext cx="1771650" cy="10096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510" y="0"/>
                </a:lnTo>
                <a:lnTo>
                  <a:pt x="21600" y="3668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0" name="Freeform 40"/>
          <p:cNvSpPr/>
          <p:nvPr/>
        </p:nvSpPr>
        <p:spPr>
          <a:xfrm>
            <a:off x="552450" y="7800975"/>
            <a:ext cx="1771650" cy="10096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510" y="0"/>
                </a:lnTo>
                <a:lnTo>
                  <a:pt x="21600" y="3668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1" name="Freeform 41"/>
          <p:cNvSpPr/>
          <p:nvPr/>
        </p:nvSpPr>
        <p:spPr>
          <a:xfrm>
            <a:off x="2495550" y="7800975"/>
            <a:ext cx="1838325" cy="10096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585" y="0"/>
                </a:lnTo>
                <a:lnTo>
                  <a:pt x="21600" y="3668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2" name="Freeform 42"/>
          <p:cNvSpPr/>
          <p:nvPr/>
        </p:nvSpPr>
        <p:spPr>
          <a:xfrm>
            <a:off x="4514850" y="7800975"/>
            <a:ext cx="1771650" cy="10096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510" y="0"/>
                </a:lnTo>
                <a:lnTo>
                  <a:pt x="21600" y="3668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3" name="Freeform 43"/>
          <p:cNvSpPr/>
          <p:nvPr/>
        </p:nvSpPr>
        <p:spPr>
          <a:xfrm>
            <a:off x="9172575" y="6810375"/>
            <a:ext cx="2047875" cy="11715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993" y="0"/>
                </a:lnTo>
                <a:lnTo>
                  <a:pt x="21600" y="281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4" name="Freeform 44"/>
          <p:cNvSpPr/>
          <p:nvPr/>
        </p:nvSpPr>
        <p:spPr>
          <a:xfrm>
            <a:off x="11858625" y="6800850"/>
            <a:ext cx="2266950" cy="762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148" y="0"/>
                </a:lnTo>
                <a:lnTo>
                  <a:pt x="21600" y="432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BFC"/>
          </a:solidFill>
          <a:ln w="825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5" name="Freeform 45"/>
          <p:cNvSpPr/>
          <p:nvPr/>
        </p:nvSpPr>
        <p:spPr>
          <a:xfrm>
            <a:off x="1485900" y="1362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6" name="Freeform 46"/>
          <p:cNvSpPr/>
          <p:nvPr/>
        </p:nvSpPr>
        <p:spPr>
          <a:xfrm>
            <a:off x="1485900" y="278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7" name="Freeform 47"/>
          <p:cNvSpPr/>
          <p:nvPr/>
        </p:nvSpPr>
        <p:spPr>
          <a:xfrm>
            <a:off x="4314825" y="1533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8" name="Freeform 48"/>
          <p:cNvSpPr/>
          <p:nvPr/>
        </p:nvSpPr>
        <p:spPr>
          <a:xfrm>
            <a:off x="9163050" y="1543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49" name="Freeform 49"/>
          <p:cNvSpPr/>
          <p:nvPr/>
        </p:nvSpPr>
        <p:spPr>
          <a:xfrm>
            <a:off x="14201775" y="742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0" name="Freeform 50"/>
          <p:cNvSpPr/>
          <p:nvPr/>
        </p:nvSpPr>
        <p:spPr>
          <a:xfrm>
            <a:off x="2152650" y="6610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1" name="Freeform 51"/>
          <p:cNvSpPr/>
          <p:nvPr/>
        </p:nvSpPr>
        <p:spPr>
          <a:xfrm>
            <a:off x="4162425" y="6610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2" name="Freeform 52"/>
          <p:cNvSpPr/>
          <p:nvPr/>
        </p:nvSpPr>
        <p:spPr>
          <a:xfrm>
            <a:off x="6115050" y="6610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3" name="Freeform 53"/>
          <p:cNvSpPr/>
          <p:nvPr/>
        </p:nvSpPr>
        <p:spPr>
          <a:xfrm>
            <a:off x="2152650" y="7800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4" name="Freeform 54"/>
          <p:cNvSpPr/>
          <p:nvPr/>
        </p:nvSpPr>
        <p:spPr>
          <a:xfrm>
            <a:off x="4162425" y="7800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5" name="Freeform 55"/>
          <p:cNvSpPr/>
          <p:nvPr/>
        </p:nvSpPr>
        <p:spPr>
          <a:xfrm>
            <a:off x="6115050" y="7800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6" name="Freeform 56"/>
          <p:cNvSpPr/>
          <p:nvPr/>
        </p:nvSpPr>
        <p:spPr>
          <a:xfrm>
            <a:off x="11068050" y="6810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7" name="Freeform 57"/>
          <p:cNvSpPr/>
          <p:nvPr/>
        </p:nvSpPr>
        <p:spPr>
          <a:xfrm>
            <a:off x="13973175" y="6800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7EFF5"/>
          </a:solidFill>
          <a:ln w="6985">
            <a:solidFill>
              <a:srgbClr val="619ABD"/>
            </a:solidFill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3429000" y="2095500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3429000" y="2371725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3429000" y="2647950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3429000" y="2924175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3429000" y="3200400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8143875" y="1943100"/>
            <a:ext cx="1076325" cy="533400"/>
          </a:xfrm>
          <a:prstGeom prst="roundRect">
            <a:avLst>
              <a:gd name="adj" fmla="val 7143"/>
            </a:avLst>
          </a:prstGeom>
          <a:solidFill>
            <a:srgbClr val="FBE9E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8143875" y="2552700"/>
            <a:ext cx="1076325" cy="438150"/>
          </a:xfrm>
          <a:prstGeom prst="roundRect">
            <a:avLst>
              <a:gd name="adj" fmla="val 8696"/>
            </a:avLst>
          </a:prstGeom>
          <a:solidFill>
            <a:srgbClr val="E8F3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oundrect 65"/>
          <p:cNvSpPr/>
          <p:nvPr/>
        </p:nvSpPr>
        <p:spPr>
          <a:xfrm>
            <a:off x="8143875" y="3048000"/>
            <a:ext cx="1076325" cy="447675"/>
          </a:xfrm>
          <a:prstGeom prst="roundRect">
            <a:avLst>
              <a:gd name="adj" fmla="val 8511"/>
            </a:avLst>
          </a:prstGeom>
          <a:solidFill>
            <a:srgbClr val="E9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oundrect 66"/>
          <p:cNvSpPr/>
          <p:nvPr/>
        </p:nvSpPr>
        <p:spPr>
          <a:xfrm>
            <a:off x="9277350" y="7439025"/>
            <a:ext cx="1838325" cy="219075"/>
          </a:xfrm>
          <a:prstGeom prst="roundRect">
            <a:avLst>
              <a:gd name="adj" fmla="val 13043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oundrect 67"/>
          <p:cNvSpPr/>
          <p:nvPr/>
        </p:nvSpPr>
        <p:spPr>
          <a:xfrm>
            <a:off x="9277350" y="7686675"/>
            <a:ext cx="1838325" cy="209550"/>
          </a:xfrm>
          <a:prstGeom prst="roundRect">
            <a:avLst>
              <a:gd name="adj" fmla="val 13636"/>
            </a:avLst>
          </a:prstGeom>
          <a:solidFill>
            <a:srgbClr val="EDF1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1638300" y="1885950"/>
            <a:ext cx="2095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1847850" y="1885950"/>
            <a:ext cx="0" cy="62865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1638300" y="3162300"/>
            <a:ext cx="2095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 flipV="1">
            <a:off x="1847850" y="2514600"/>
            <a:ext cx="0" cy="64770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847850" y="2514600"/>
            <a:ext cx="2476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2581275" y="1352550"/>
            <a:ext cx="0" cy="742950"/>
          </a:xfrm>
          <a:prstGeom prst="line">
            <a:avLst/>
          </a:prstGeom>
          <a:noFill/>
          <a:ln w="12700">
            <a:solidFill>
              <a:srgbClr val="BF8007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3095625" y="2514600"/>
            <a:ext cx="2476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4467225" y="2514600"/>
            <a:ext cx="2095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5600700" y="2514600"/>
            <a:ext cx="2476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6953250" y="2514600"/>
            <a:ext cx="1714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7858125" y="2514600"/>
            <a:ext cx="19050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7486650" y="2924175"/>
            <a:ext cx="0" cy="390525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8686800" y="3590925"/>
            <a:ext cx="0" cy="209550"/>
          </a:xfrm>
          <a:prstGeom prst="line">
            <a:avLst/>
          </a:prstGeom>
          <a:noFill/>
          <a:ln w="12700">
            <a:solidFill>
              <a:srgbClr val="1769A0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5143500" y="2924175"/>
            <a:ext cx="0" cy="952500"/>
          </a:xfrm>
          <a:prstGeom prst="line">
            <a:avLst/>
          </a:prstGeom>
          <a:noFill/>
          <a:ln w="12700">
            <a:solidFill>
              <a:srgbClr val="BF8007"/>
            </a:solidFill>
            <a:prstDash val="dash"/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 flipH="1">
            <a:off x="2581275" y="3876675"/>
            <a:ext cx="2562225" cy="0"/>
          </a:xfrm>
          <a:prstGeom prst="line">
            <a:avLst/>
          </a:prstGeom>
          <a:noFill/>
          <a:ln w="12700">
            <a:solidFill>
              <a:srgbClr val="BF8007"/>
            </a:solidFill>
            <a:prstDash val="dash"/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 flipV="1">
            <a:off x="2581275" y="2943225"/>
            <a:ext cx="0" cy="933450"/>
          </a:xfrm>
          <a:prstGeom prst="line">
            <a:avLst/>
          </a:prstGeom>
          <a:noFill/>
          <a:ln w="12700">
            <a:solidFill>
              <a:srgbClr val="BF8007"/>
            </a:solidFill>
            <a:prstDash val="dash"/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2124075" y="4924425"/>
            <a:ext cx="4762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4286250" y="4924425"/>
            <a:ext cx="53340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6467475" y="4924425"/>
            <a:ext cx="63817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12011025" y="1428750"/>
            <a:ext cx="0" cy="333375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9315450" y="2238375"/>
            <a:ext cx="561975" cy="0"/>
          </a:xfrm>
          <a:prstGeom prst="line">
            <a:avLst/>
          </a:prstGeom>
          <a:noFill/>
          <a:ln w="12700">
            <a:solidFill>
              <a:srgbClr val="AD3462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12011025" y="2333625"/>
            <a:ext cx="0" cy="142875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H="1">
            <a:off x="10763250" y="2476500"/>
            <a:ext cx="124777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10763250" y="2476500"/>
            <a:ext cx="0" cy="24765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12011025" y="2476500"/>
            <a:ext cx="128587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13296900" y="2476500"/>
            <a:ext cx="0" cy="24765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13296900" y="3181350"/>
            <a:ext cx="0" cy="38100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9315450" y="2781300"/>
            <a:ext cx="190500" cy="0"/>
          </a:xfrm>
          <a:prstGeom prst="line">
            <a:avLst/>
          </a:prstGeom>
          <a:noFill/>
          <a:ln w="12700">
            <a:solidFill>
              <a:srgbClr val="267549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9505950" y="2781300"/>
            <a:ext cx="0" cy="1466850"/>
          </a:xfrm>
          <a:prstGeom prst="line">
            <a:avLst/>
          </a:prstGeom>
          <a:noFill/>
          <a:ln w="12700">
            <a:solidFill>
              <a:srgbClr val="267549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9505950" y="4248150"/>
            <a:ext cx="2609850" cy="0"/>
          </a:xfrm>
          <a:prstGeom prst="line">
            <a:avLst/>
          </a:prstGeom>
          <a:noFill/>
          <a:ln w="12700">
            <a:solidFill>
              <a:srgbClr val="267549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V="1">
            <a:off x="12115800" y="3848100"/>
            <a:ext cx="0" cy="400050"/>
          </a:xfrm>
          <a:prstGeom prst="line">
            <a:avLst/>
          </a:prstGeom>
          <a:noFill/>
          <a:ln w="12700">
            <a:solidFill>
              <a:srgbClr val="267549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2115800" y="3848100"/>
            <a:ext cx="133350" cy="0"/>
          </a:xfrm>
          <a:prstGeom prst="line">
            <a:avLst/>
          </a:prstGeom>
          <a:noFill/>
          <a:ln w="12700">
            <a:solidFill>
              <a:srgbClr val="267549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3296900" y="4133850"/>
            <a:ext cx="0" cy="371475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H="1">
            <a:off x="11553825" y="4695825"/>
            <a:ext cx="69532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3296900" y="4895850"/>
            <a:ext cx="0" cy="36195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V="1">
            <a:off x="457200" y="6419850"/>
            <a:ext cx="0" cy="285750"/>
          </a:xfrm>
          <a:prstGeom prst="line">
            <a:avLst/>
          </a:prstGeom>
          <a:noFill/>
          <a:ln w="10795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457200" y="6419850"/>
            <a:ext cx="1828800" cy="0"/>
          </a:xfrm>
          <a:prstGeom prst="line">
            <a:avLst/>
          </a:prstGeom>
          <a:noFill/>
          <a:ln w="10795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4524375" y="6419850"/>
            <a:ext cx="1847850" cy="0"/>
          </a:xfrm>
          <a:prstGeom prst="line">
            <a:avLst/>
          </a:prstGeom>
          <a:noFill/>
          <a:ln w="10795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6372225" y="6419850"/>
            <a:ext cx="0" cy="285750"/>
          </a:xfrm>
          <a:prstGeom prst="line">
            <a:avLst/>
          </a:prstGeom>
          <a:noFill/>
          <a:ln w="10795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6286500" y="6858000"/>
            <a:ext cx="49530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6781800" y="6858000"/>
            <a:ext cx="0" cy="62865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6781800" y="7486650"/>
            <a:ext cx="39052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6286500" y="8105775"/>
            <a:ext cx="49530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V="1">
            <a:off x="6781800" y="7696200"/>
            <a:ext cx="0" cy="409575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6781800" y="7696200"/>
            <a:ext cx="39052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8782050" y="7562850"/>
            <a:ext cx="39052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1220450" y="7858125"/>
            <a:ext cx="32385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1544300" y="7858125"/>
            <a:ext cx="0" cy="55245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1544300" y="8410575"/>
            <a:ext cx="314325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2992100" y="7562850"/>
            <a:ext cx="0" cy="64770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228600" y="9353550"/>
            <a:ext cx="609600" cy="0"/>
          </a:xfrm>
          <a:prstGeom prst="line">
            <a:avLst/>
          </a:prstGeom>
          <a:noFill/>
          <a:ln w="12700">
            <a:solidFill>
              <a:srgbClr val="31516B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2971800" y="9353550"/>
            <a:ext cx="762000" cy="0"/>
          </a:xfrm>
          <a:prstGeom prst="line">
            <a:avLst/>
          </a:prstGeom>
          <a:noFill/>
          <a:ln w="12700">
            <a:solidFill>
              <a:srgbClr val="BF8007"/>
            </a:solidFill>
            <a:prstDash val="dash"/>
          </a:ln>
        </p:spPr>
        <p:txBody>
          <a:bodyPr/>
          <a:lstStyle/>
          <a:p/>
        </p:txBody>
      </p:sp>
      <p:sp>
        <p:nvSpPr>
          <p:cNvPr id="120" name="Freeform 120"/>
          <p:cNvSpPr/>
          <p:nvPr/>
        </p:nvSpPr>
        <p:spPr>
          <a:xfrm>
            <a:off x="2000250" y="24707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Freeform 121"/>
          <p:cNvSpPr/>
          <p:nvPr/>
        </p:nvSpPr>
        <p:spPr>
          <a:xfrm>
            <a:off x="2537460" y="200025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BF800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Freeform 122"/>
          <p:cNvSpPr/>
          <p:nvPr/>
        </p:nvSpPr>
        <p:spPr>
          <a:xfrm>
            <a:off x="3248025" y="24707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Freeform 123"/>
          <p:cNvSpPr/>
          <p:nvPr/>
        </p:nvSpPr>
        <p:spPr>
          <a:xfrm>
            <a:off x="4581525" y="24707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Freeform 124"/>
          <p:cNvSpPr/>
          <p:nvPr/>
        </p:nvSpPr>
        <p:spPr>
          <a:xfrm>
            <a:off x="5753100" y="24707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Freeform 125"/>
          <p:cNvSpPr/>
          <p:nvPr/>
        </p:nvSpPr>
        <p:spPr>
          <a:xfrm>
            <a:off x="7029450" y="24707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Freeform 126"/>
          <p:cNvSpPr/>
          <p:nvPr/>
        </p:nvSpPr>
        <p:spPr>
          <a:xfrm>
            <a:off x="7953375" y="24707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Freeform 127"/>
          <p:cNvSpPr/>
          <p:nvPr/>
        </p:nvSpPr>
        <p:spPr>
          <a:xfrm>
            <a:off x="7442835" y="321945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Freeform 128"/>
          <p:cNvSpPr/>
          <p:nvPr/>
        </p:nvSpPr>
        <p:spPr>
          <a:xfrm>
            <a:off x="8642985" y="3705225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1769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Freeform 129"/>
          <p:cNvSpPr/>
          <p:nvPr/>
        </p:nvSpPr>
        <p:spPr>
          <a:xfrm>
            <a:off x="2537460" y="2943225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F800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Freeform 130"/>
          <p:cNvSpPr/>
          <p:nvPr/>
        </p:nvSpPr>
        <p:spPr>
          <a:xfrm>
            <a:off x="2505075" y="4880610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Freeform 131"/>
          <p:cNvSpPr/>
          <p:nvPr/>
        </p:nvSpPr>
        <p:spPr>
          <a:xfrm>
            <a:off x="4724400" y="4880610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Freeform 132"/>
          <p:cNvSpPr/>
          <p:nvPr/>
        </p:nvSpPr>
        <p:spPr>
          <a:xfrm>
            <a:off x="7010400" y="4880610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Freeform 133"/>
          <p:cNvSpPr/>
          <p:nvPr/>
        </p:nvSpPr>
        <p:spPr>
          <a:xfrm>
            <a:off x="11967210" y="1666875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Freeform 134"/>
          <p:cNvSpPr/>
          <p:nvPr/>
        </p:nvSpPr>
        <p:spPr>
          <a:xfrm>
            <a:off x="9782175" y="2194560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AD346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Freeform 135"/>
          <p:cNvSpPr/>
          <p:nvPr/>
        </p:nvSpPr>
        <p:spPr>
          <a:xfrm>
            <a:off x="10719435" y="262890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Freeform 136"/>
          <p:cNvSpPr/>
          <p:nvPr/>
        </p:nvSpPr>
        <p:spPr>
          <a:xfrm>
            <a:off x="13253085" y="262890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Freeform 137"/>
          <p:cNvSpPr/>
          <p:nvPr/>
        </p:nvSpPr>
        <p:spPr>
          <a:xfrm>
            <a:off x="13253085" y="346710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Freeform 138"/>
          <p:cNvSpPr/>
          <p:nvPr/>
        </p:nvSpPr>
        <p:spPr>
          <a:xfrm>
            <a:off x="12153900" y="38042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6754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Freeform 139"/>
          <p:cNvSpPr/>
          <p:nvPr/>
        </p:nvSpPr>
        <p:spPr>
          <a:xfrm>
            <a:off x="13253085" y="4410075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Freeform 140"/>
          <p:cNvSpPr/>
          <p:nvPr/>
        </p:nvSpPr>
        <p:spPr>
          <a:xfrm>
            <a:off x="11553825" y="4652010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Freeform 141"/>
          <p:cNvSpPr/>
          <p:nvPr/>
        </p:nvSpPr>
        <p:spPr>
          <a:xfrm>
            <a:off x="13253085" y="516255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Freeform 142"/>
          <p:cNvSpPr/>
          <p:nvPr/>
        </p:nvSpPr>
        <p:spPr>
          <a:xfrm>
            <a:off x="7077075" y="744283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Freeform 143"/>
          <p:cNvSpPr/>
          <p:nvPr/>
        </p:nvSpPr>
        <p:spPr>
          <a:xfrm>
            <a:off x="7077075" y="765238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Freeform 144"/>
          <p:cNvSpPr/>
          <p:nvPr/>
        </p:nvSpPr>
        <p:spPr>
          <a:xfrm>
            <a:off x="9077325" y="751903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Freeform 145"/>
          <p:cNvSpPr/>
          <p:nvPr/>
        </p:nvSpPr>
        <p:spPr>
          <a:xfrm>
            <a:off x="11763375" y="8366760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Freeform 146"/>
          <p:cNvSpPr/>
          <p:nvPr/>
        </p:nvSpPr>
        <p:spPr>
          <a:xfrm>
            <a:off x="12948285" y="8115300"/>
            <a:ext cx="87630" cy="952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Freeform 147"/>
          <p:cNvSpPr/>
          <p:nvPr/>
        </p:nvSpPr>
        <p:spPr>
          <a:xfrm>
            <a:off x="742950" y="930973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151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Freeform 148"/>
          <p:cNvSpPr/>
          <p:nvPr/>
        </p:nvSpPr>
        <p:spPr>
          <a:xfrm>
            <a:off x="3638550" y="9309735"/>
            <a:ext cx="95250" cy="87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BF800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TextBox 149"/>
          <p:cNvSpPr txBox="1"/>
          <p:nvPr/>
        </p:nvSpPr>
        <p:spPr>
          <a:xfrm>
            <a:off x="247650" y="142875"/>
            <a:ext cx="895350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(a) Criterion generation</a:t>
            </a:r>
            <a:endParaRPr lang="zh-CN" sz="2550"/>
          </a:p>
        </p:txBody>
      </p:sp>
      <p:sp>
        <p:nvSpPr>
          <p:cNvPr id="150" name="TextBox 150"/>
          <p:cNvSpPr txBox="1"/>
          <p:nvPr/>
        </p:nvSpPr>
        <p:spPr>
          <a:xfrm>
            <a:off x="9572625" y="142875"/>
            <a:ext cx="481012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(b) Eligibility and prioritization</a:t>
            </a:r>
            <a:endParaRPr lang="zh-CN" sz="2550"/>
          </a:p>
        </p:txBody>
      </p:sp>
      <p:sp>
        <p:nvSpPr>
          <p:cNvPr id="151" name="TextBox 151"/>
          <p:cNvSpPr txBox="1"/>
          <p:nvPr/>
        </p:nvSpPr>
        <p:spPr>
          <a:xfrm>
            <a:off x="247650" y="5876925"/>
            <a:ext cx="14135100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(c) Recorded example: molecular weight</a:t>
            </a:r>
            <a:endParaRPr lang="zh-CN" sz="2550"/>
          </a:p>
        </p:txBody>
      </p:sp>
      <p:sp>
        <p:nvSpPr>
          <p:cNvPr id="152" name="TextBox 152"/>
          <p:cNvSpPr txBox="1"/>
          <p:nvPr/>
        </p:nvSpPr>
        <p:spPr>
          <a:xfrm>
            <a:off x="285750" y="1066800"/>
            <a:ext cx="13335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68737D"/>
                </a:solidFill>
                <a:latin typeface="Arial Narrow"/>
                <a:ea typeface="Arial Narrow"/>
                <a:cs typeface="Arial Narrow"/>
              </a:rPr>
              <a:t>Study example</a:t>
            </a:r>
            <a:endParaRPr lang="zh-CN" sz="1075"/>
          </a:p>
        </p:txBody>
      </p:sp>
      <p:sp>
        <p:nvSpPr>
          <p:cNvPr id="153" name="TextBox 153"/>
          <p:cNvSpPr txBox="1"/>
          <p:nvPr/>
        </p:nvSpPr>
        <p:spPr>
          <a:xfrm>
            <a:off x="381000" y="1466850"/>
            <a:ext cx="11144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Research goal</a:t>
            </a:r>
            <a:endParaRPr lang="zh-CN" sz="1375"/>
          </a:p>
        </p:txBody>
      </p:sp>
      <p:sp>
        <p:nvSpPr>
          <p:cNvPr id="154" name="TextBox 154"/>
          <p:cNvSpPr txBox="1"/>
          <p:nvPr/>
        </p:nvSpPr>
        <p:spPr>
          <a:xfrm>
            <a:off x="381000" y="1790700"/>
            <a:ext cx="1162050" cy="590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CSF1R, FGFR1</a:t>
            </a:r>
            <a:endParaRPr lang="zh-CN" sz="1075"/>
          </a:p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VEGFR1/2/3</a:t>
            </a:r>
            <a:endParaRPr lang="zh-CN" sz="1075"/>
          </a:p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Oral administration</a:t>
            </a:r>
            <a:endParaRPr lang="zh-CN" sz="1075"/>
          </a:p>
        </p:txBody>
      </p:sp>
      <p:sp>
        <p:nvSpPr>
          <p:cNvPr id="155" name="TextBox 155"/>
          <p:cNvSpPr txBox="1"/>
          <p:nvPr/>
        </p:nvSpPr>
        <p:spPr>
          <a:xfrm>
            <a:off x="381000" y="2876550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Source findings</a:t>
            </a:r>
            <a:endParaRPr lang="zh-CN" sz="1375"/>
          </a:p>
        </p:txBody>
      </p:sp>
      <p:sp>
        <p:nvSpPr>
          <p:cNvPr id="156" name="TextBox 156"/>
          <p:cNvSpPr txBox="1"/>
          <p:nvPr/>
        </p:nvSpPr>
        <p:spPr>
          <a:xfrm>
            <a:off x="381000" y="3171825"/>
            <a:ext cx="1143000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Conditions, units</a:t>
            </a:r>
            <a:endParaRPr lang="zh-CN" sz="1300"/>
          </a:p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and sources</a:t>
            </a:r>
            <a:endParaRPr lang="zh-CN" sz="1300"/>
          </a:p>
        </p:txBody>
      </p:sp>
      <p:sp>
        <p:nvSpPr>
          <p:cNvPr id="157" name="TextBox 157"/>
          <p:cNvSpPr txBox="1"/>
          <p:nvPr/>
        </p:nvSpPr>
        <p:spPr>
          <a:xfrm>
            <a:off x="2114550" y="1038225"/>
            <a:ext cx="155257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Start with 0 criteria</a:t>
            </a:r>
            <a:endParaRPr lang="zh-CN" sz="1300"/>
          </a:p>
        </p:txBody>
      </p:sp>
      <p:sp>
        <p:nvSpPr>
          <p:cNvPr id="158" name="TextBox 158"/>
          <p:cNvSpPr txBox="1"/>
          <p:nvPr/>
        </p:nvSpPr>
        <p:spPr>
          <a:xfrm>
            <a:off x="2162175" y="2238375"/>
            <a:ext cx="8667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Proposer</a:t>
            </a:r>
            <a:endParaRPr lang="zh-CN" sz="1500"/>
          </a:p>
        </p:txBody>
      </p:sp>
      <p:sp>
        <p:nvSpPr>
          <p:cNvPr id="159" name="TextBox 159"/>
          <p:cNvSpPr txBox="1"/>
          <p:nvPr/>
        </p:nvSpPr>
        <p:spPr>
          <a:xfrm>
            <a:off x="2162175" y="2505075"/>
            <a:ext cx="866775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Propose and</a:t>
            </a:r>
            <a:endParaRPr lang="zh-CN" sz="1100"/>
          </a:p>
          <a:p>
            <a:pPr algn="ctr"/>
            <a:r>
              <a:rPr lang="zh-CN" sz="11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revise</a:t>
            </a:r>
            <a:endParaRPr lang="zh-CN" sz="1100"/>
          </a:p>
        </p:txBody>
      </p:sp>
      <p:sp>
        <p:nvSpPr>
          <p:cNvPr id="160" name="TextBox 160"/>
          <p:cNvSpPr txBox="1"/>
          <p:nvPr/>
        </p:nvSpPr>
        <p:spPr>
          <a:xfrm>
            <a:off x="3448050" y="1609725"/>
            <a:ext cx="85725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Criterion</a:t>
            </a:r>
            <a:endParaRPr lang="zh-CN" sz="1375"/>
          </a:p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proposals</a:t>
            </a:r>
            <a:endParaRPr lang="zh-CN" sz="1375"/>
          </a:p>
        </p:txBody>
      </p:sp>
      <p:sp>
        <p:nvSpPr>
          <p:cNvPr id="161" name="TextBox 161"/>
          <p:cNvSpPr txBox="1"/>
          <p:nvPr/>
        </p:nvSpPr>
        <p:spPr>
          <a:xfrm>
            <a:off x="3486150" y="2105025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Measure</a:t>
            </a:r>
            <a:endParaRPr lang="zh-CN" sz="1300"/>
          </a:p>
        </p:txBody>
      </p:sp>
      <p:sp>
        <p:nvSpPr>
          <p:cNvPr id="162" name="TextBox 162"/>
          <p:cNvSpPr txBox="1"/>
          <p:nvPr/>
        </p:nvSpPr>
        <p:spPr>
          <a:xfrm>
            <a:off x="3486150" y="23812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Unit</a:t>
            </a:r>
            <a:endParaRPr lang="zh-CN" sz="1300"/>
          </a:p>
        </p:txBody>
      </p:sp>
      <p:sp>
        <p:nvSpPr>
          <p:cNvPr id="163" name="TextBox 163"/>
          <p:cNvSpPr txBox="1"/>
          <p:nvPr/>
        </p:nvSpPr>
        <p:spPr>
          <a:xfrm>
            <a:off x="3486150" y="2657475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Scope</a:t>
            </a:r>
            <a:endParaRPr lang="zh-CN" sz="1300"/>
          </a:p>
        </p:txBody>
      </p:sp>
      <p:sp>
        <p:nvSpPr>
          <p:cNvPr id="164" name="TextBox 164"/>
          <p:cNvSpPr txBox="1"/>
          <p:nvPr/>
        </p:nvSpPr>
        <p:spPr>
          <a:xfrm>
            <a:off x="3486150" y="293370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Source</a:t>
            </a:r>
            <a:endParaRPr lang="zh-CN" sz="1300"/>
          </a:p>
        </p:txBody>
      </p:sp>
      <p:sp>
        <p:nvSpPr>
          <p:cNvPr id="165" name="TextBox 165"/>
          <p:cNvSpPr txBox="1"/>
          <p:nvPr/>
        </p:nvSpPr>
        <p:spPr>
          <a:xfrm>
            <a:off x="3486150" y="3209925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Decision role</a:t>
            </a:r>
            <a:endParaRPr lang="zh-CN" sz="1300"/>
          </a:p>
        </p:txBody>
      </p:sp>
      <p:sp>
        <p:nvSpPr>
          <p:cNvPr id="166" name="TextBox 166"/>
          <p:cNvSpPr txBox="1"/>
          <p:nvPr/>
        </p:nvSpPr>
        <p:spPr>
          <a:xfrm>
            <a:off x="4752975" y="2238375"/>
            <a:ext cx="7715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Critic</a:t>
            </a:r>
            <a:endParaRPr lang="zh-CN" sz="1500"/>
          </a:p>
        </p:txBody>
      </p:sp>
      <p:sp>
        <p:nvSpPr>
          <p:cNvPr id="167" name="TextBox 167"/>
          <p:cNvSpPr txBox="1"/>
          <p:nvPr/>
        </p:nvSpPr>
        <p:spPr>
          <a:xfrm>
            <a:off x="4752975" y="2524125"/>
            <a:ext cx="771525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Check support</a:t>
            </a:r>
            <a:endParaRPr lang="zh-CN" sz="1100"/>
          </a:p>
          <a:p>
            <a:pPr algn="ctr"/>
            <a:r>
              <a:rPr lang="zh-CN" sz="11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and relevance</a:t>
            </a:r>
            <a:endParaRPr lang="zh-CN" sz="1100"/>
          </a:p>
        </p:txBody>
      </p:sp>
      <p:sp>
        <p:nvSpPr>
          <p:cNvPr id="168" name="TextBox 168"/>
          <p:cNvSpPr txBox="1"/>
          <p:nvPr/>
        </p:nvSpPr>
        <p:spPr>
          <a:xfrm>
            <a:off x="5915025" y="2238375"/>
            <a:ext cx="9715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Adjudicator</a:t>
            </a:r>
            <a:endParaRPr lang="zh-CN" sz="1500"/>
          </a:p>
        </p:txBody>
      </p:sp>
      <p:sp>
        <p:nvSpPr>
          <p:cNvPr id="169" name="TextBox 169"/>
          <p:cNvSpPr txBox="1"/>
          <p:nvPr/>
        </p:nvSpPr>
        <p:spPr>
          <a:xfrm>
            <a:off x="5915025" y="2524125"/>
            <a:ext cx="971550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Merge or keep</a:t>
            </a:r>
            <a:endParaRPr lang="zh-CN" sz="1100"/>
          </a:p>
          <a:p>
            <a:pPr algn="ctr"/>
            <a:r>
              <a:rPr lang="zh-CN" sz="11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distinct</a:t>
            </a:r>
            <a:endParaRPr lang="zh-CN" sz="1100"/>
          </a:p>
        </p:txBody>
      </p:sp>
      <p:sp>
        <p:nvSpPr>
          <p:cNvPr id="170" name="TextBox 170"/>
          <p:cNvSpPr txBox="1"/>
          <p:nvPr/>
        </p:nvSpPr>
        <p:spPr>
          <a:xfrm>
            <a:off x="7172325" y="2333625"/>
            <a:ext cx="6381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Source and</a:t>
            </a:r>
            <a:endParaRPr lang="zh-CN" sz="1075"/>
          </a:p>
          <a:p>
            <a:pPr algn="ctr"/>
            <a:r>
              <a:rPr lang="zh-CN" sz="10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rule checks</a:t>
            </a:r>
            <a:endParaRPr lang="zh-CN" sz="1075"/>
          </a:p>
        </p:txBody>
      </p:sp>
      <p:sp>
        <p:nvSpPr>
          <p:cNvPr id="171" name="TextBox 171"/>
          <p:cNvSpPr txBox="1"/>
          <p:nvPr/>
        </p:nvSpPr>
        <p:spPr>
          <a:xfrm>
            <a:off x="6210300" y="3352800"/>
            <a:ext cx="15906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Withheld items (22)</a:t>
            </a:r>
            <a:endParaRPr lang="zh-CN" sz="1375"/>
          </a:p>
        </p:txBody>
      </p:sp>
      <p:sp>
        <p:nvSpPr>
          <p:cNvPr id="172" name="TextBox 172"/>
          <p:cNvSpPr txBox="1"/>
          <p:nvPr/>
        </p:nvSpPr>
        <p:spPr>
          <a:xfrm>
            <a:off x="6229350" y="3619500"/>
            <a:ext cx="15525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9 incomplete scoring rules</a:t>
            </a:r>
            <a:endParaRPr lang="zh-CN" sz="1075"/>
          </a:p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5 unresolved reviews</a:t>
            </a:r>
            <a:endParaRPr lang="zh-CN" sz="1075"/>
          </a:p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8 unfinalized proposals</a:t>
            </a:r>
            <a:endParaRPr lang="zh-CN" sz="1075"/>
          </a:p>
        </p:txBody>
      </p:sp>
      <p:sp>
        <p:nvSpPr>
          <p:cNvPr id="173" name="TextBox 173"/>
          <p:cNvSpPr txBox="1"/>
          <p:nvPr/>
        </p:nvSpPr>
        <p:spPr>
          <a:xfrm>
            <a:off x="8153400" y="1619250"/>
            <a:ext cx="10572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Final criteria</a:t>
            </a:r>
            <a:endParaRPr lang="zh-CN" sz="1375"/>
          </a:p>
        </p:txBody>
      </p:sp>
      <p:sp>
        <p:nvSpPr>
          <p:cNvPr id="174" name="TextBox 174"/>
          <p:cNvSpPr txBox="1"/>
          <p:nvPr/>
        </p:nvSpPr>
        <p:spPr>
          <a:xfrm>
            <a:off x="8172450" y="2000250"/>
            <a:ext cx="1028700" cy="419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Mandatory</a:t>
            </a:r>
            <a:endParaRPr lang="zh-CN" sz="1300"/>
          </a:p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requirement (1)</a:t>
            </a:r>
            <a:endParaRPr lang="zh-CN" sz="1300"/>
          </a:p>
        </p:txBody>
      </p:sp>
      <p:sp>
        <p:nvSpPr>
          <p:cNvPr id="175" name="TextBox 175"/>
          <p:cNvSpPr txBox="1"/>
          <p:nvPr/>
        </p:nvSpPr>
        <p:spPr>
          <a:xfrm>
            <a:off x="8229600" y="2571750"/>
            <a:ext cx="933450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Prioritization</a:t>
            </a:r>
            <a:endParaRPr lang="zh-CN" sz="1300"/>
          </a:p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criteria (17)</a:t>
            </a:r>
            <a:endParaRPr lang="zh-CN" sz="1300"/>
          </a:p>
        </p:txBody>
      </p:sp>
      <p:sp>
        <p:nvSpPr>
          <p:cNvPr id="176" name="TextBox 176"/>
          <p:cNvSpPr txBox="1"/>
          <p:nvPr/>
        </p:nvSpPr>
        <p:spPr>
          <a:xfrm>
            <a:off x="8153400" y="3057525"/>
            <a:ext cx="10668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Contextual</a:t>
            </a:r>
            <a:endParaRPr lang="zh-CN" sz="1300"/>
          </a:p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observations (13)</a:t>
            </a:r>
            <a:endParaRPr lang="zh-CN" sz="1300"/>
          </a:p>
        </p:txBody>
      </p:sp>
      <p:sp>
        <p:nvSpPr>
          <p:cNvPr id="177" name="TextBox 177"/>
          <p:cNvSpPr txBox="1"/>
          <p:nvPr/>
        </p:nvSpPr>
        <p:spPr>
          <a:xfrm>
            <a:off x="5381625" y="1733550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Reviewed</a:t>
            </a:r>
            <a:endParaRPr lang="zh-CN" sz="1075"/>
          </a:p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proposals</a:t>
            </a:r>
            <a:endParaRPr lang="zh-CN" sz="1075"/>
          </a:p>
        </p:txBody>
      </p:sp>
      <p:sp>
        <p:nvSpPr>
          <p:cNvPr id="178" name="TextBox 178"/>
          <p:cNvSpPr txBox="1"/>
          <p:nvPr/>
        </p:nvSpPr>
        <p:spPr>
          <a:xfrm>
            <a:off x="8096250" y="3829050"/>
            <a:ext cx="118110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Interpretation only</a:t>
            </a:r>
            <a:endParaRPr lang="zh-CN" sz="1075"/>
          </a:p>
        </p:txBody>
      </p:sp>
      <p:sp>
        <p:nvSpPr>
          <p:cNvPr id="179" name="TextBox 179"/>
          <p:cNvSpPr txBox="1"/>
          <p:nvPr/>
        </p:nvSpPr>
        <p:spPr>
          <a:xfrm>
            <a:off x="3162300" y="3924300"/>
            <a:ext cx="166687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BF8007"/>
                </a:solidFill>
                <a:latin typeface="Arial Narrow"/>
                <a:ea typeface="Arial Narrow"/>
                <a:cs typeface="Arial Narrow"/>
              </a:rPr>
              <a:t>Review findings</a:t>
            </a:r>
            <a:endParaRPr lang="zh-CN" sz="1300"/>
          </a:p>
        </p:txBody>
      </p:sp>
      <p:sp>
        <p:nvSpPr>
          <p:cNvPr id="180" name="TextBox 180"/>
          <p:cNvSpPr txBox="1"/>
          <p:nvPr/>
        </p:nvSpPr>
        <p:spPr>
          <a:xfrm>
            <a:off x="428625" y="4276725"/>
            <a:ext cx="762000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Recorded study: expansion and refinement</a:t>
            </a:r>
            <a:endParaRPr lang="zh-CN" sz="1700"/>
          </a:p>
        </p:txBody>
      </p:sp>
      <p:sp>
        <p:nvSpPr>
          <p:cNvPr id="181" name="TextBox 181"/>
          <p:cNvSpPr txBox="1"/>
          <p:nvPr/>
        </p:nvSpPr>
        <p:spPr>
          <a:xfrm>
            <a:off x="914400" y="4638675"/>
            <a:ext cx="11525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0</a:t>
            </a:r>
            <a:endParaRPr lang="zh-CN" sz="2000"/>
          </a:p>
        </p:txBody>
      </p:sp>
      <p:sp>
        <p:nvSpPr>
          <p:cNvPr id="182" name="TextBox 182"/>
          <p:cNvSpPr txBox="1"/>
          <p:nvPr/>
        </p:nvSpPr>
        <p:spPr>
          <a:xfrm>
            <a:off x="923925" y="4953000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Start</a:t>
            </a:r>
            <a:endParaRPr lang="zh-CN" sz="1300"/>
          </a:p>
        </p:txBody>
      </p:sp>
      <p:sp>
        <p:nvSpPr>
          <p:cNvPr id="183" name="TextBox 183"/>
          <p:cNvSpPr txBox="1"/>
          <p:nvPr/>
        </p:nvSpPr>
        <p:spPr>
          <a:xfrm>
            <a:off x="2657475" y="4638675"/>
            <a:ext cx="15716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6</a:t>
            </a:r>
            <a:endParaRPr lang="zh-CN" sz="2000"/>
          </a:p>
        </p:txBody>
      </p:sp>
      <p:sp>
        <p:nvSpPr>
          <p:cNvPr id="184" name="TextBox 184"/>
          <p:cNvSpPr txBox="1"/>
          <p:nvPr/>
        </p:nvSpPr>
        <p:spPr>
          <a:xfrm>
            <a:off x="2667000" y="4953000"/>
            <a:ext cx="15525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Task requirements</a:t>
            </a:r>
            <a:endParaRPr lang="zh-CN" sz="1300"/>
          </a:p>
        </p:txBody>
      </p:sp>
      <p:sp>
        <p:nvSpPr>
          <p:cNvPr id="185" name="TextBox 185"/>
          <p:cNvSpPr txBox="1"/>
          <p:nvPr/>
        </p:nvSpPr>
        <p:spPr>
          <a:xfrm>
            <a:off x="4876800" y="4638675"/>
            <a:ext cx="15335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1,917</a:t>
            </a:r>
            <a:endParaRPr lang="zh-CN" sz="2000"/>
          </a:p>
        </p:txBody>
      </p:sp>
      <p:sp>
        <p:nvSpPr>
          <p:cNvPr id="186" name="TextBox 186"/>
          <p:cNvSpPr txBox="1"/>
          <p:nvPr/>
        </p:nvSpPr>
        <p:spPr>
          <a:xfrm>
            <a:off x="4886325" y="4953000"/>
            <a:ext cx="15144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Expanded</a:t>
            </a:r>
            <a:endParaRPr lang="zh-CN" sz="1300"/>
          </a:p>
        </p:txBody>
      </p:sp>
      <p:sp>
        <p:nvSpPr>
          <p:cNvPr id="187" name="TextBox 187"/>
          <p:cNvSpPr txBox="1"/>
          <p:nvPr/>
        </p:nvSpPr>
        <p:spPr>
          <a:xfrm>
            <a:off x="7162800" y="4638675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53</a:t>
            </a:r>
            <a:endParaRPr lang="zh-CN" sz="2000"/>
          </a:p>
        </p:txBody>
      </p:sp>
      <p:sp>
        <p:nvSpPr>
          <p:cNvPr id="188" name="TextBox 188"/>
          <p:cNvSpPr txBox="1"/>
          <p:nvPr/>
        </p:nvSpPr>
        <p:spPr>
          <a:xfrm>
            <a:off x="7172325" y="4953000"/>
            <a:ext cx="15049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After refinement</a:t>
            </a:r>
            <a:endParaRPr lang="zh-CN" sz="1300"/>
          </a:p>
        </p:txBody>
      </p:sp>
      <p:sp>
        <p:nvSpPr>
          <p:cNvPr id="189" name="TextBox 189"/>
          <p:cNvSpPr txBox="1"/>
          <p:nvPr/>
        </p:nvSpPr>
        <p:spPr>
          <a:xfrm>
            <a:off x="1047750" y="5286375"/>
            <a:ext cx="7667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53 = 18 enabled decision rules + 13 contextual observations + 22 withheld items</a:t>
            </a:r>
            <a:endParaRPr lang="zh-CN" sz="1300"/>
          </a:p>
        </p:txBody>
      </p:sp>
      <p:sp>
        <p:nvSpPr>
          <p:cNvPr id="190" name="TextBox 190"/>
          <p:cNvSpPr txBox="1"/>
          <p:nvPr/>
        </p:nvSpPr>
        <p:spPr>
          <a:xfrm>
            <a:off x="9848850" y="800100"/>
            <a:ext cx="437197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Library: 3,177 compounds</a:t>
            </a:r>
            <a:endParaRPr lang="zh-CN" sz="1375"/>
          </a:p>
        </p:txBody>
      </p:sp>
      <p:sp>
        <p:nvSpPr>
          <p:cNvPr id="191" name="TextBox 191"/>
          <p:cNvSpPr txBox="1"/>
          <p:nvPr/>
        </p:nvSpPr>
        <p:spPr>
          <a:xfrm>
            <a:off x="9848850" y="1114425"/>
            <a:ext cx="437197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Observations: value, unit, conditions and source</a:t>
            </a:r>
            <a:endParaRPr lang="zh-CN" sz="1300"/>
          </a:p>
        </p:txBody>
      </p:sp>
      <p:sp>
        <p:nvSpPr>
          <p:cNvPr id="192" name="TextBox 192"/>
          <p:cNvSpPr txBox="1"/>
          <p:nvPr/>
        </p:nvSpPr>
        <p:spPr>
          <a:xfrm>
            <a:off x="10001250" y="1790700"/>
            <a:ext cx="4029075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Eligibility screening</a:t>
            </a:r>
            <a:endParaRPr lang="zh-CN" sz="1500"/>
          </a:p>
        </p:txBody>
      </p:sp>
      <p:sp>
        <p:nvSpPr>
          <p:cNvPr id="193" name="TextBox 193"/>
          <p:cNvSpPr txBox="1"/>
          <p:nvPr/>
        </p:nvSpPr>
        <p:spPr>
          <a:xfrm>
            <a:off x="10001250" y="2076450"/>
            <a:ext cx="40290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Mandatory requirement + required direct evidence</a:t>
            </a:r>
            <a:endParaRPr lang="zh-CN" sz="1075"/>
          </a:p>
        </p:txBody>
      </p:sp>
      <p:sp>
        <p:nvSpPr>
          <p:cNvPr id="194" name="TextBox 194"/>
          <p:cNvSpPr txBox="1"/>
          <p:nvPr/>
        </p:nvSpPr>
        <p:spPr>
          <a:xfrm>
            <a:off x="9753600" y="278130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Excluded (3,167)</a:t>
            </a:r>
            <a:endParaRPr lang="zh-CN" sz="1375"/>
          </a:p>
        </p:txBody>
      </p:sp>
      <p:sp>
        <p:nvSpPr>
          <p:cNvPr id="195" name="TextBox 195"/>
          <p:cNvSpPr txBox="1"/>
          <p:nvPr/>
        </p:nvSpPr>
        <p:spPr>
          <a:xfrm>
            <a:off x="9753600" y="306705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From this prioritization</a:t>
            </a:r>
            <a:endParaRPr lang="zh-CN" sz="1075"/>
          </a:p>
        </p:txBody>
      </p:sp>
      <p:sp>
        <p:nvSpPr>
          <p:cNvPr id="196" name="TextBox 196"/>
          <p:cNvSpPr txBox="1"/>
          <p:nvPr/>
        </p:nvSpPr>
        <p:spPr>
          <a:xfrm>
            <a:off x="9753600" y="3400425"/>
            <a:ext cx="20574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Required evidence missing: 3,167</a:t>
            </a:r>
            <a:endParaRPr lang="zh-CN" sz="1075"/>
          </a:p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Confirmed requirement failure: 0</a:t>
            </a:r>
            <a:endParaRPr lang="zh-CN" sz="1075"/>
          </a:p>
        </p:txBody>
      </p:sp>
      <p:sp>
        <p:nvSpPr>
          <p:cNvPr id="197" name="TextBox 197"/>
          <p:cNvSpPr txBox="1"/>
          <p:nvPr/>
        </p:nvSpPr>
        <p:spPr>
          <a:xfrm>
            <a:off x="12353925" y="2819400"/>
            <a:ext cx="188595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Eligible (10)</a:t>
            </a:r>
            <a:endParaRPr lang="zh-CN" sz="1375"/>
          </a:p>
        </p:txBody>
      </p:sp>
      <p:sp>
        <p:nvSpPr>
          <p:cNvPr id="198" name="TextBox 198"/>
          <p:cNvSpPr txBox="1"/>
          <p:nvPr/>
        </p:nvSpPr>
        <p:spPr>
          <a:xfrm>
            <a:off x="12344400" y="3609975"/>
            <a:ext cx="190500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Weighted prioritization</a:t>
            </a:r>
            <a:endParaRPr lang="zh-CN" sz="1375"/>
          </a:p>
        </p:txBody>
      </p:sp>
      <p:sp>
        <p:nvSpPr>
          <p:cNvPr id="199" name="TextBox 199"/>
          <p:cNvSpPr txBox="1"/>
          <p:nvPr/>
        </p:nvSpPr>
        <p:spPr>
          <a:xfrm>
            <a:off x="12363450" y="3876675"/>
            <a:ext cx="18669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Eligible cohort only</a:t>
            </a:r>
            <a:endParaRPr lang="zh-CN" sz="1075"/>
          </a:p>
        </p:txBody>
      </p:sp>
      <p:sp>
        <p:nvSpPr>
          <p:cNvPr id="200" name="TextBox 200"/>
          <p:cNvSpPr txBox="1"/>
          <p:nvPr/>
        </p:nvSpPr>
        <p:spPr>
          <a:xfrm>
            <a:off x="9658350" y="3981450"/>
            <a:ext cx="23431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267549"/>
                </a:solidFill>
                <a:latin typeface="Arial Narrow"/>
                <a:ea typeface="Arial Narrow"/>
                <a:cs typeface="Arial Narrow"/>
              </a:rPr>
              <a:t>Fixed comparison rules and weights</a:t>
            </a:r>
            <a:endParaRPr lang="zh-CN" sz="1075"/>
          </a:p>
        </p:txBody>
      </p:sp>
      <p:sp>
        <p:nvSpPr>
          <p:cNvPr id="201" name="TextBox 201"/>
          <p:cNvSpPr txBox="1"/>
          <p:nvPr/>
        </p:nvSpPr>
        <p:spPr>
          <a:xfrm>
            <a:off x="12334875" y="4562475"/>
            <a:ext cx="19240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Direct-evidence coverage</a:t>
            </a:r>
            <a:endParaRPr lang="zh-CN" sz="1375"/>
          </a:p>
        </p:txBody>
      </p:sp>
      <p:sp>
        <p:nvSpPr>
          <p:cNvPr id="202" name="TextBox 202"/>
          <p:cNvSpPr txBox="1"/>
          <p:nvPr/>
        </p:nvSpPr>
        <p:spPr>
          <a:xfrm>
            <a:off x="10067925" y="4572000"/>
            <a:ext cx="14001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No rank assigned</a:t>
            </a:r>
            <a:endParaRPr lang="zh-CN" sz="1375"/>
          </a:p>
        </p:txBody>
      </p:sp>
      <p:sp>
        <p:nvSpPr>
          <p:cNvPr id="203" name="TextBox 203"/>
          <p:cNvSpPr txBox="1"/>
          <p:nvPr/>
        </p:nvSpPr>
        <p:spPr>
          <a:xfrm>
            <a:off x="11601450" y="4410075"/>
            <a:ext cx="59055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&lt; 50%</a:t>
            </a:r>
            <a:endParaRPr lang="zh-CN" sz="1075"/>
          </a:p>
        </p:txBody>
      </p:sp>
      <p:sp>
        <p:nvSpPr>
          <p:cNvPr id="204" name="TextBox 204"/>
          <p:cNvSpPr txBox="1"/>
          <p:nvPr/>
        </p:nvSpPr>
        <p:spPr>
          <a:xfrm>
            <a:off x="13439775" y="4972050"/>
            <a:ext cx="7620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≥ 50%</a:t>
            </a:r>
            <a:endParaRPr lang="zh-CN" sz="1075"/>
          </a:p>
        </p:txBody>
      </p:sp>
      <p:sp>
        <p:nvSpPr>
          <p:cNvPr id="205" name="TextBox 205"/>
          <p:cNvSpPr txBox="1"/>
          <p:nvPr/>
        </p:nvSpPr>
        <p:spPr>
          <a:xfrm>
            <a:off x="12334875" y="5286375"/>
            <a:ext cx="192405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Ranked results (10)</a:t>
            </a:r>
            <a:endParaRPr lang="zh-CN" sz="1375"/>
          </a:p>
        </p:txBody>
      </p:sp>
      <p:sp>
        <p:nvSpPr>
          <p:cNvPr id="206" name="TextBox 206"/>
          <p:cNvSpPr txBox="1"/>
          <p:nvPr/>
        </p:nvSpPr>
        <p:spPr>
          <a:xfrm>
            <a:off x="9686925" y="5153025"/>
            <a:ext cx="2333625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69A0"/>
                </a:solidFill>
                <a:latin typeface="Arial Narrow"/>
                <a:ea typeface="Arial Narrow"/>
                <a:cs typeface="Arial Narrow"/>
              </a:rPr>
              <a:t>Surufatinib: rank 1</a:t>
            </a:r>
            <a:endParaRPr lang="zh-CN" sz="1300"/>
          </a:p>
          <a:p>
            <a:pPr algn="l"/>
            <a:r>
              <a:rPr lang="zh-CN" sz="1300">
                <a:solidFill>
                  <a:srgbClr val="1769A0"/>
                </a:solidFill>
                <a:latin typeface="Arial Narrow"/>
                <a:ea typeface="Arial Narrow"/>
                <a:cs typeface="Arial Narrow"/>
              </a:rPr>
              <a:t>Direct coverage: 10/17 (58.8%)</a:t>
            </a:r>
            <a:endParaRPr lang="zh-CN" sz="1300"/>
          </a:p>
        </p:txBody>
      </p:sp>
      <p:sp>
        <p:nvSpPr>
          <p:cNvPr id="207" name="TextBox 207"/>
          <p:cNvSpPr txBox="1"/>
          <p:nvPr/>
        </p:nvSpPr>
        <p:spPr>
          <a:xfrm>
            <a:off x="2390775" y="6296025"/>
            <a:ext cx="21145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6 overlapping proposals</a:t>
            </a:r>
            <a:endParaRPr lang="zh-CN" sz="1700"/>
          </a:p>
        </p:txBody>
      </p:sp>
      <p:sp>
        <p:nvSpPr>
          <p:cNvPr id="208" name="TextBox 208"/>
          <p:cNvSpPr txBox="1"/>
          <p:nvPr/>
        </p:nvSpPr>
        <p:spPr>
          <a:xfrm>
            <a:off x="771525" y="6838950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</a:t>
            </a:r>
            <a:endParaRPr lang="zh-CN" sz="1650"/>
          </a:p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</a:t>
            </a:r>
            <a:endParaRPr lang="zh-CN" sz="1650"/>
          </a:p>
        </p:txBody>
      </p:sp>
      <p:sp>
        <p:nvSpPr>
          <p:cNvPr id="209" name="TextBox 209"/>
          <p:cNvSpPr txBox="1"/>
          <p:nvPr/>
        </p:nvSpPr>
        <p:spPr>
          <a:xfrm>
            <a:off x="2714625" y="6838950"/>
            <a:ext cx="1400175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</a:t>
            </a:r>
            <a:endParaRPr lang="zh-CN" sz="1650"/>
          </a:p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</a:t>
            </a:r>
            <a:endParaRPr lang="zh-CN" sz="1650"/>
          </a:p>
        </p:txBody>
      </p:sp>
      <p:sp>
        <p:nvSpPr>
          <p:cNvPr id="210" name="TextBox 210"/>
          <p:cNvSpPr txBox="1"/>
          <p:nvPr/>
        </p:nvSpPr>
        <p:spPr>
          <a:xfrm>
            <a:off x="4733925" y="6838950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</a:t>
            </a:r>
            <a:endParaRPr lang="zh-CN" sz="1650"/>
          </a:p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</a:t>
            </a:r>
            <a:endParaRPr lang="zh-CN" sz="1650"/>
          </a:p>
        </p:txBody>
      </p:sp>
      <p:sp>
        <p:nvSpPr>
          <p:cNvPr id="211" name="TextBox 211"/>
          <p:cNvSpPr txBox="1"/>
          <p:nvPr/>
        </p:nvSpPr>
        <p:spPr>
          <a:xfrm>
            <a:off x="771525" y="8029575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</a:t>
            </a:r>
            <a:endParaRPr lang="zh-CN" sz="1650"/>
          </a:p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</a:t>
            </a:r>
            <a:endParaRPr lang="zh-CN" sz="1650"/>
          </a:p>
        </p:txBody>
      </p:sp>
      <p:sp>
        <p:nvSpPr>
          <p:cNvPr id="212" name="TextBox 212"/>
          <p:cNvSpPr txBox="1"/>
          <p:nvPr/>
        </p:nvSpPr>
        <p:spPr>
          <a:xfrm>
            <a:off x="2714625" y="8029575"/>
            <a:ext cx="1400175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</a:t>
            </a:r>
            <a:endParaRPr lang="zh-CN" sz="1650"/>
          </a:p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</a:t>
            </a:r>
            <a:endParaRPr lang="zh-CN" sz="1650"/>
          </a:p>
        </p:txBody>
      </p:sp>
      <p:sp>
        <p:nvSpPr>
          <p:cNvPr id="213" name="TextBox 213"/>
          <p:cNvSpPr txBox="1"/>
          <p:nvPr/>
        </p:nvSpPr>
        <p:spPr>
          <a:xfrm>
            <a:off x="4733925" y="8029575"/>
            <a:ext cx="1333500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</a:t>
            </a:r>
            <a:endParaRPr lang="zh-CN" sz="1650"/>
          </a:p>
          <a:p>
            <a:pPr algn="l"/>
            <a:r>
              <a:rPr lang="zh-CN" sz="165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weight</a:t>
            </a:r>
            <a:endParaRPr lang="zh-CN" sz="1650"/>
          </a:p>
        </p:txBody>
      </p:sp>
      <p:sp>
        <p:nvSpPr>
          <p:cNvPr id="214" name="TextBox 214"/>
          <p:cNvSpPr txBox="1"/>
          <p:nvPr/>
        </p:nvSpPr>
        <p:spPr>
          <a:xfrm>
            <a:off x="7267575" y="7439025"/>
            <a:ext cx="141922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Merge + review</a:t>
            </a:r>
            <a:endParaRPr lang="zh-CN" sz="1375"/>
          </a:p>
        </p:txBody>
      </p:sp>
      <p:sp>
        <p:nvSpPr>
          <p:cNvPr id="215" name="TextBox 215"/>
          <p:cNvSpPr txBox="1"/>
          <p:nvPr/>
        </p:nvSpPr>
        <p:spPr>
          <a:xfrm>
            <a:off x="9305925" y="6896100"/>
            <a:ext cx="174307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Molecular weight</a:t>
            </a:r>
            <a:endParaRPr lang="zh-CN" sz="1375"/>
          </a:p>
        </p:txBody>
      </p:sp>
      <p:sp>
        <p:nvSpPr>
          <p:cNvPr id="216" name="TextBox 216"/>
          <p:cNvSpPr txBox="1"/>
          <p:nvPr/>
        </p:nvSpPr>
        <p:spPr>
          <a:xfrm>
            <a:off x="9305925" y="7200900"/>
            <a:ext cx="17430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Unit: Da</a:t>
            </a:r>
            <a:endParaRPr lang="zh-CN" sz="1300"/>
          </a:p>
        </p:txBody>
      </p:sp>
      <p:sp>
        <p:nvSpPr>
          <p:cNvPr id="217" name="TextBox 217"/>
          <p:cNvSpPr txBox="1"/>
          <p:nvPr/>
        </p:nvSpPr>
        <p:spPr>
          <a:xfrm>
            <a:off x="9305925" y="7419975"/>
            <a:ext cx="174307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Scoring threshold: ≤ 500 Da</a:t>
            </a:r>
            <a:endParaRPr lang="zh-CN" sz="1300"/>
          </a:p>
        </p:txBody>
      </p:sp>
      <p:sp>
        <p:nvSpPr>
          <p:cNvPr id="218" name="TextBox 218"/>
          <p:cNvSpPr txBox="1"/>
          <p:nvPr/>
        </p:nvSpPr>
        <p:spPr>
          <a:xfrm>
            <a:off x="9305925" y="7677150"/>
            <a:ext cx="17430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Sources retained</a:t>
            </a:r>
            <a:endParaRPr lang="zh-CN" sz="1300"/>
          </a:p>
        </p:txBody>
      </p:sp>
      <p:sp>
        <p:nvSpPr>
          <p:cNvPr id="219" name="TextBox 219"/>
          <p:cNvSpPr txBox="1"/>
          <p:nvPr/>
        </p:nvSpPr>
        <p:spPr>
          <a:xfrm>
            <a:off x="12001500" y="6896100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5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Surufatinib: 480.6 Da</a:t>
            </a:r>
            <a:endParaRPr lang="zh-CN" sz="1375"/>
          </a:p>
        </p:txBody>
      </p:sp>
      <p:sp>
        <p:nvSpPr>
          <p:cNvPr id="220" name="TextBox 220"/>
          <p:cNvSpPr txBox="1"/>
          <p:nvPr/>
        </p:nvSpPr>
        <p:spPr>
          <a:xfrm>
            <a:off x="12001500" y="7219950"/>
            <a:ext cx="19526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Structure-derived</a:t>
            </a:r>
            <a:endParaRPr lang="zh-CN" sz="1300"/>
          </a:p>
        </p:txBody>
      </p:sp>
      <p:sp>
        <p:nvSpPr>
          <p:cNvPr id="221" name="TextBox 221"/>
          <p:cNvSpPr txBox="1"/>
          <p:nvPr/>
        </p:nvSpPr>
        <p:spPr>
          <a:xfrm>
            <a:off x="11953875" y="8277225"/>
            <a:ext cx="207645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Criterion point = 1</a:t>
            </a:r>
            <a:endParaRPr lang="zh-CN" sz="1800"/>
          </a:p>
        </p:txBody>
      </p:sp>
      <p:sp>
        <p:nvSpPr>
          <p:cNvPr id="222" name="TextBox 222"/>
          <p:cNvSpPr txBox="1"/>
          <p:nvPr/>
        </p:nvSpPr>
        <p:spPr>
          <a:xfrm>
            <a:off x="11525250" y="8686800"/>
            <a:ext cx="28194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68737D"/>
                </a:solidFill>
                <a:latin typeface="Arial Narrow"/>
                <a:ea typeface="Arial Narrow"/>
                <a:cs typeface="Arial Narrow"/>
              </a:rPr>
              <a:t>One contribution to the total score</a:t>
            </a:r>
            <a:endParaRPr lang="zh-CN" sz="1300"/>
          </a:p>
        </p:txBody>
      </p:sp>
      <p:sp>
        <p:nvSpPr>
          <p:cNvPr id="223" name="TextBox 223"/>
          <p:cNvSpPr txBox="1"/>
          <p:nvPr/>
        </p:nvSpPr>
        <p:spPr>
          <a:xfrm>
            <a:off x="13144500" y="7705725"/>
            <a:ext cx="1276350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5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480.6 Da ≤ 500 Da</a:t>
            </a:r>
            <a:endParaRPr lang="zh-CN" sz="1075"/>
          </a:p>
        </p:txBody>
      </p:sp>
      <p:sp>
        <p:nvSpPr>
          <p:cNvPr id="224" name="TextBox 224"/>
          <p:cNvSpPr txBox="1"/>
          <p:nvPr/>
        </p:nvSpPr>
        <p:spPr>
          <a:xfrm>
            <a:off x="971550" y="9220200"/>
            <a:ext cx="20478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Records and decisions</a:t>
            </a:r>
            <a:endParaRPr lang="zh-CN" sz="1300"/>
          </a:p>
        </p:txBody>
      </p:sp>
      <p:sp>
        <p:nvSpPr>
          <p:cNvPr id="225" name="TextBox 225"/>
          <p:cNvSpPr txBox="1"/>
          <p:nvPr/>
        </p:nvSpPr>
        <p:spPr>
          <a:xfrm>
            <a:off x="3867150" y="9220200"/>
            <a:ext cx="180975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17212B"/>
                </a:solidFill>
                <a:latin typeface="Arial Narrow"/>
                <a:ea typeface="Arial Narrow"/>
                <a:cs typeface="Arial Narrow"/>
              </a:rPr>
              <a:t>Review feedback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