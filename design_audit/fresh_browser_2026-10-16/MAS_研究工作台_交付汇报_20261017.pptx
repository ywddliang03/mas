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b5ac7a4790437a" /><Relationship Type="http://schemas.openxmlformats.org/officeDocument/2006/relationships/extended-properties" Target="/docProps/app.xml" Id="R596922708b094fd0" /><Relationship Type="http://schemas.openxmlformats.org/officeDocument/2006/relationships/officeDocument" Target="/ppt/presentation.xml" Id="R27605fcf6b9e4e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ded53feee0428c"/>
  </p:sldMasterIdLst>
  <p:notesMasterIdLst>
    <p:notesMasterId xmlns:r="http://schemas.openxmlformats.org/officeDocument/2006/relationships" r:id="R3e16de907122460d"/>
  </p:notesMasterIdLst>
  <p:sldIdLst>
    <p:sldId xmlns:r="http://schemas.openxmlformats.org/officeDocument/2006/relationships" id="256" r:id="R060f2b0639654f55"/>
    <p:sldId xmlns:r="http://schemas.openxmlformats.org/officeDocument/2006/relationships" id="257" r:id="R70a8d765906044b2"/>
    <p:sldId xmlns:r="http://schemas.openxmlformats.org/officeDocument/2006/relationships" id="258" r:id="R925042b3b1b849db"/>
    <p:sldId xmlns:r="http://schemas.openxmlformats.org/officeDocument/2006/relationships" id="259" r:id="R76ad2c88682a41a3"/>
    <p:sldId xmlns:r="http://schemas.openxmlformats.org/officeDocument/2006/relationships" id="260" r:id="R9f4579cee69c43ba"/>
    <p:sldId xmlns:r="http://schemas.openxmlformats.org/officeDocument/2006/relationships" id="261" r:id="Rd4528e4b668a45fe"/>
    <p:sldId xmlns:r="http://schemas.openxmlformats.org/officeDocument/2006/relationships" id="262" r:id="Rdd0261bb3154428c"/>
    <p:sldId xmlns:r="http://schemas.openxmlformats.org/officeDocument/2006/relationships" id="263" r:id="R28b87477460c4f1b"/>
    <p:sldId xmlns:r="http://schemas.openxmlformats.org/officeDocument/2006/relationships" id="264" r:id="R251a3066a8744f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79a84fd26e4754" /><Relationship Type="http://schemas.openxmlformats.org/officeDocument/2006/relationships/slideMaster" Target="/ppt/slideMasters/slideMaster1.xml" Id="Rdbded53feee0428c" /><Relationship Type="http://schemas.openxmlformats.org/officeDocument/2006/relationships/notesMaster" Target="/ppt/notesMasters/notesMaster1.xml" Id="R3e16de907122460d" /><Relationship Type="http://schemas.openxmlformats.org/officeDocument/2006/relationships/presProps" Target="/ppt/presProps.xml" Id="Rcd67ccc1b4d249b9" /><Relationship Type="http://schemas.openxmlformats.org/officeDocument/2006/relationships/tableStyles" Target="/ppt/tableStyles.xml" Id="R6ada7c7670714602" /><Relationship Type="http://schemas.openxmlformats.org/officeDocument/2006/relationships/slide" Target="/ppt/slides/slide1.xml" Id="R060f2b0639654f55" /><Relationship Type="http://schemas.openxmlformats.org/officeDocument/2006/relationships/slide" Target="/ppt/slides/slide2.xml" Id="R70a8d765906044b2" /><Relationship Type="http://schemas.openxmlformats.org/officeDocument/2006/relationships/slide" Target="/ppt/slides/slide3.xml" Id="R925042b3b1b849db" /><Relationship Type="http://schemas.openxmlformats.org/officeDocument/2006/relationships/slide" Target="/ppt/slides/slide4.xml" Id="R76ad2c88682a41a3" /><Relationship Type="http://schemas.openxmlformats.org/officeDocument/2006/relationships/slide" Target="/ppt/slides/slide5.xml" Id="R9f4579cee69c43ba" /><Relationship Type="http://schemas.openxmlformats.org/officeDocument/2006/relationships/slide" Target="/ppt/slides/slide6.xml" Id="Rd4528e4b668a45fe" /><Relationship Type="http://schemas.openxmlformats.org/officeDocument/2006/relationships/slide" Target="/ppt/slides/slide7.xml" Id="Rdd0261bb3154428c" /><Relationship Type="http://schemas.openxmlformats.org/officeDocument/2006/relationships/slide" Target="/ppt/slides/slide8.xml" Id="R28b87477460c4f1b" /><Relationship Type="http://schemas.openxmlformats.org/officeDocument/2006/relationships/slide" Target="/ppt/slides/slide9.xml" Id="R251a3066a8744f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207677d8e046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7a934699034be6" /><Relationship Type="http://schemas.openxmlformats.org/officeDocument/2006/relationships/notesMaster" Target="/ppt/notesMasters/notesMaster1.xml" Id="R595ed2a0bef443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f96acf966046ce" /><Relationship Type="http://schemas.openxmlformats.org/officeDocument/2006/relationships/notesMaster" Target="/ppt/notesMasters/notesMaster1.xml" Id="R1e5fce3d4d864e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271629b4b74cd8" /><Relationship Type="http://schemas.openxmlformats.org/officeDocument/2006/relationships/notesMaster" Target="/ppt/notesMasters/notesMaster1.xml" Id="R3e2c9e874a034c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27eb337be1495b" /><Relationship Type="http://schemas.openxmlformats.org/officeDocument/2006/relationships/notesMaster" Target="/ppt/notesMasters/notesMaster1.xml" Id="R96ba014da33e49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bae0a497974c0b" /><Relationship Type="http://schemas.openxmlformats.org/officeDocument/2006/relationships/notesMaster" Target="/ppt/notesMasters/notesMaster1.xml" Id="R82dfd8eab6b84c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121c5ce8084545" /><Relationship Type="http://schemas.openxmlformats.org/officeDocument/2006/relationships/notesMaster" Target="/ppt/notesMasters/notesMaster1.xml" Id="R6a27a8ffae3b41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f384d818c840c8" /><Relationship Type="http://schemas.openxmlformats.org/officeDocument/2006/relationships/notesMaster" Target="/ppt/notesMasters/notesMaster1.xml" Id="Rce12bbc380d34b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0358852c29427b" /><Relationship Type="http://schemas.openxmlformats.org/officeDocument/2006/relationships/notesMaster" Target="/ppt/notesMasters/notesMaster1.xml" Id="Rc2593b58bfbe41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c15ca967ab4b08" /><Relationship Type="http://schemas.openxmlformats.org/officeDocument/2006/relationships/notesMaster" Target="/ppt/notesMasters/notesMaster1.xml" Id="Rd54507ad83954d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我们从浏览器设置开始，新建了一个空标准集的研究，完成标准生成、审查、全库评估和独立核算。Surufatinib通过了本轮启用的硬条件，在10个合格候选中排名第1。这个结果表示当前固定标准与已有证据下的研究优先级，后续仍需要研究者判断和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本轮于Windows真实浏览器从Settings全Medium新建空CQA任务并完成全流程。任务task_01M52CBE5GYPK9F0MCZYBMPH84，workflow wf_cb4caec3dec348908fb3d34eae5b11d1，run run_01M52Q4VRB00T5Z3QJW08SSV96，snapshot lb_task_01M52CBE5GYPK9F0MCZYBMPH84_2。独立只读核算34/34通过，scientific_target_met=true。来源：C:/Users/admin/Desktop/ai4med/mas-final-goal/var/fresh-browser-20261016/final-audit-snapshot2/summary.json 及 audit.json。排名表示当前冻结准则下的研究优先级。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目标是寻找一个可口服、同时涉及五个指定靶点的候选。我们实际采用Medium文献与教材工作量、4并发，从空标准集开始。这轮使用保存的证据和已有工具事实，没有重新检索文献或运行新的ADMET预测。页面中的设置与最终记录保持对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本轮任务要求一个口服候选同时涉及CSF1R、VEGFR1、VEGFR2、VEGFR3、FGFR1。实际Settings截图：C:/Users/admin/Desktop/ai4med/mas-final-goal/var/fresh-browser-20261016/browser/24-formal-settings-mid.jpg。采用标准设置，文献及教材工作量均Medium，并发4，正式成本上限5.5美元。固定已有证据，从零生成CQA；本轮没有新增文献检索或ADMET预测。来源：results-snapshot2/task.json、run-bindings.json 和 REPORT.draft.md。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标准先充分展开，再经过审查与提炼。同一工作记录口径从0开始，加入6项任务要求，展开到1917条，最后保留53条当前记录。其中18条核心标准真正影响决策，13条提供背景，22条尚未启用。待处理项仍留在工作集中，所以不能把这个变化当作所有问题都已解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同一工作记录口径为0、6、1917、53。1917=6任务要求+1911提议。最终53=45注册+8未注册；31执行=18核心(1hard+17pref)+13背景；22未启用=14注册deferred+8未注册pending。5条review是14deferred子集。四项来源basis改版后数量保持不变。此图是工作记录演化，不是独立性质压缩率。来源：C:/Users/admin/Desktop/ai4med/mas-final-goal/var/fresh-browser-20261016/frozen-criteria-summary.json、browser/44-final-cqa-evolution.jpg及results-snapshot2/stage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服硬条件决定能否进入合格集，五个必需靶点还分别需要直接证据。之后才比较连续偏好，且直接偏好证据覆盖至少达到50%。预测只辅助偏好，不增加直接覆盖。背景观察保留数值与来源，但有值和能否作出判断分开，不参与排名计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硬条件决定资格，五个必需目标均需直接证据；缺证、冲突、未评估和跳过分别记录。合格候选的排名还要求直接偏好覆盖达到50%。预测只辅助偏好，不增加直接覆盖或单独作硬淘汰。背景项不计分，有值不代表有可执行判读。来源：C:/Users/admin/Desktop/ai4med/mas-final-goal/design_audit/fresh_browser_2026-10-16/results-snapshot2/run-bindings.json、cqa.json及独立audi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完整评估3177个候选，10个合格，3167个仍需补证据，没有明确淘汰或未评估候选。Surufatinib在合格集排名第1，分数0.7593，硬条件1/1、必需目标证据5/5，直接偏好证据10/17。其余候选的待定状态表示证据要求尚未满足，不能直接解释为药物效果更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首次snapshot1有6个qualified、0个ranked，Surufatinib直接偏好证据6/17约35%，未达到50%门槛。原失败记录保留。排查后修复已存工具/ADMET事实复用及四项RDKit计算的来源basis；硬条件、方向、权重和覆盖门槛未放宽。新snapshot2中全库3177，qualified/ranked10、pending3167、rejected0、unassessed0。Surufatinib第1/10，score0.7592592592592593，hard1/1，required5/5，直接偏好10/17=58.8235%。独立核算资格、全部分数和排名一致。来源：C:/Users/admin/Desktop/ai4med/mas-final-goal/var/fresh-browser-20261016/final-audit-snapshot1/audit.json、final-audit-snapshot2/summary.json、audit.json，browser/41-final-qualified-board.jpg与42-final-surufatinib.jpg，及design_audit/fresh_browser_2026-10-16/results-snapshot2/snapsho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以FGFR1为例，实际使用的来源报告了34 nM的IC50。工作台可以回到引用原文、前后文和实验条件，并说明证据用于哪条标准和哪个候选。这是体外激酶实验。另一些结构偏好的文献支持较间接，页面会呈现这一限制，不能据此确认临床安全性。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实测证据例子来自已保存的文章Structural basis and selectivity of sulfatinib binding to FGFR and CSF-1R，DOI https://doi.org/10.1038/s42004-023-01084-0 。claim_ref=claim_supp_0fc07290141d48a811fe3d11，定位sec2.1.p1，Results/Potent inhibition of FGFRs and CSF-1R by sulfatinib。原文报告FGFR1 IC50为34 nM、CSF1R为5 nM。该例子是体外激酶实验，不能直接解释为临床效果；方法为ADP-Glo，ATP浓度等仍有未记录条件。截图：C:/Users/admin/Desktop/ai4med/mas-final-goal/var/fresh-browser-20261016/browser/43-final-measured-source.jpg/txt。另36-criterion-research-interpretation.txt明确部分结构偏好与原文关联较间接，不能据BRENK等结构alert推断临床安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浏览器持续展示阶段、当前活动、真实工作量和费用，完成后能直接查看保存结果。第一次运行虽有合格候选，却没有获得排名。核对发现已有事实未正确复用，四项结构计算的来源标签也不准确。修复后另存第二次结果，门槛与权重不变，第一次失败记录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本轮真实浏览器操作覆盖设置、创建、阶段切换、原文定位及最终结果。上图为评估进行中的历史进度，截图时8786/98487；下图为完成后的CQA工作集，两者时间状态不同。来源：C:/Users/admin/Desktop/ai4med/mas-final-goal/var/fresh-browser-20261016/browser/33-corrected-live-progress.jpg、44-final-cqa-evolution.jpg。使用改进及后续建议见design_audit/fresh_browser_2026-10-16/UI_REVIEW.md。 查询使用体验的独立记录：50样本列表请求P95为31–263ms，首次请求7–240ms；这些不是冷构建时间。全量查询库从215万事件重建耗时857.751秒，25项一致性检查通过。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台也支持自带候选与测量CSV，保留候选编号、性质、单位、实验条件和来源。本页是已核验的合成载体工程示例，A、B通过硬条件后分别得到1和0的相对分数，C因硬条件失败不排名。它验证软件流程，不是实际载体实验或疗效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自带候选/测量CSV展示沿用已独立验收的合成载体工程fixture，不是本轮药物实验。DEMO-A/B合格、分数1/0，C硬失败；full/staged在该实际上传fixture的离线对照一致。候选ID、性质、单位、完整条件、声明basis与来源保留。截图与核对：C:/Users/admin/Desktop/ai4med/mas-final-goal/var/workbench-usability/browser/carrier-final-board.jpg、generic-source-audit.json、fixtures/carriers.csv 和carrier-measurements.csv。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付包括可编辑PPT、逐页讲稿、中文报告、完整候选清单和证据记录。人体实测口服利用度F%与Tmax仍未知。四项参考虽有数值，判读方法仍需明确。另外三项仍缺对应证据，分别是F%与Tmax两项排序偏好，以及Food-AUC参考项。下一步可优先改善文献分组、候选并排比较和证据集合命名，帮助研究者继续开展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交付包含可编辑PPT、简洁逐页讲稿、中文报告、全量3177候选导出、标准演化与版本、证据引用和独立核验。原snapshot1失败、旧案例结果与费用记录均保留。四个参考项虽有数值，但未定义qualitative判读方法，不能标为available或通过。另三项缺证为人体实测口服F%和Tmax两项排序偏好，以及Food-AUC一项参考；不能都归入背景项。后续研究者仍需实验及临床判断。来源：C:/Users/admin/Desktop/ai4med/mas-final-goal/var/fresh-browser-20261016/final-audit-snapshot2/summary.json、context-method-explanation-fix-proof.json、REPORT.draf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02604e0afe409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7fe4d6a4f04a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be1e5140e548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7540819ab141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69365ecab0476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d7d5b2f31c4d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60F62E-833E-4CCB-9CCC-A463778BC3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903AE36-4F3A-447A-8DDC-5B8626E412D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B293245-A2A7-4BD3-BC20-845B064A7A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FB738E-E104-48C8-A34C-D15D74855C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B965CD5-D3A9-40EF-8216-8628D4CB9E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5739A87-E292-4BCA-ADC7-76A4D8F1A5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02408A-CC3C-4059-919F-5280C75BBC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A8CB225-7874-4CB1-9BEA-A5144BCE4FA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ADF812-A07C-4AA8-917E-F28D315184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F81079-222D-4C31-81A3-0E522D28E6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85432660984f0d" /><Relationship Type="http://schemas.openxmlformats.org/officeDocument/2006/relationships/slideLayout" Target="/ppt/slideLayouts/slideLayout1.xml" Id="Ree31ccde7bb54796" /><Relationship Type="http://schemas.openxmlformats.org/officeDocument/2006/relationships/slideLayout" Target="/ppt/slideLayouts/slideLayout2.xml" Id="R3340344d989f4d61" /><Relationship Type="http://schemas.openxmlformats.org/officeDocument/2006/relationships/slideLayout" Target="/ppt/slideLayouts/slideLayout3.xml" Id="Rab3779b5f0af48a9" /><Relationship Type="http://schemas.openxmlformats.org/officeDocument/2006/relationships/slideLayout" Target="/ppt/slideLayouts/slideLayout4.xml" Id="R1c296c52d3214f28" /><Relationship Type="http://schemas.openxmlformats.org/officeDocument/2006/relationships/slideLayout" Target="/ppt/slideLayouts/slideLayout5.xml" Id="R211ca37437d54ecb" /><Relationship Type="http://schemas.openxmlformats.org/officeDocument/2006/relationships/slideLayout" Target="/ppt/slideLayouts/slideLayout6.xml" Id="Rd6a469560bc741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31ccde7bb54796"/>
    <p:sldLayoutId xmlns:r="http://schemas.openxmlformats.org/officeDocument/2006/relationships" id="2147483650" r:id="R3340344d989f4d61"/>
    <p:sldLayoutId xmlns:r="http://schemas.openxmlformats.org/officeDocument/2006/relationships" id="2147483651" r:id="Rab3779b5f0af48a9"/>
    <p:sldLayoutId xmlns:r="http://schemas.openxmlformats.org/officeDocument/2006/relationships" id="2147483652" r:id="R1c296c52d3214f28"/>
    <p:sldLayoutId xmlns:r="http://schemas.openxmlformats.org/officeDocument/2006/relationships" id="2147483653" r:id="R211ca37437d54ecb"/>
    <p:sldLayoutId xmlns:r="http://schemas.openxmlformats.org/officeDocument/2006/relationships" id="2147483654" r:id="Rd6a469560bc741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947cad7e4f4dc2" /><Relationship Type="http://schemas.openxmlformats.org/officeDocument/2006/relationships/notesSlide" Target="/ppt/notesSlides/notesSlide1.xml" Id="Rec70ce96318d4f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9fa4c7ef4244b9" /><Relationship Type="http://schemas.openxmlformats.org/officeDocument/2006/relationships/image" Target="/ppt/media/image.jpeg" Id="Rb6c1dcf79b804854" /><Relationship Type="http://schemas.openxmlformats.org/officeDocument/2006/relationships/notesSlide" Target="/ppt/notesSlides/notesSlide2.xml" Id="R6f446fccf7554f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8df07b890f4bc0" /><Relationship Type="http://schemas.openxmlformats.org/officeDocument/2006/relationships/chart" Target="/ppt/slides/charts/chart1.xml" Id="R0231d9d9678443fb" /><Relationship Type="http://schemas.openxmlformats.org/officeDocument/2006/relationships/notesSlide" Target="/ppt/notesSlides/notesSlide3.xml" Id="Rcddac62d30e34d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75642ed2414a9e" /><Relationship Type="http://schemas.openxmlformats.org/officeDocument/2006/relationships/notesSlide" Target="/ppt/notesSlides/notesSlide4.xml" Id="R519f2600c2b44a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17c8eb804e4a68" /><Relationship Type="http://schemas.openxmlformats.org/officeDocument/2006/relationships/chart" Target="/ppt/slides/charts/chart2.xml" Id="R2b028afa64644723" /><Relationship Type="http://schemas.openxmlformats.org/officeDocument/2006/relationships/notesSlide" Target="/ppt/notesSlides/notesSlide5.xml" Id="R6e0ae9145df847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5804e628784a9d" /><Relationship Type="http://schemas.openxmlformats.org/officeDocument/2006/relationships/image" Target="/ppt/media/image2.jpeg" Id="Rb782236f5cb0416f" /><Relationship Type="http://schemas.openxmlformats.org/officeDocument/2006/relationships/notesSlide" Target="/ppt/notesSlides/notesSlide6.xml" Id="Ra95305ce969a44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66e09d67094724" /><Relationship Type="http://schemas.openxmlformats.org/officeDocument/2006/relationships/image" Target="/ppt/media/image3.jpeg" Id="Rdd411366b4714de6" /><Relationship Type="http://schemas.openxmlformats.org/officeDocument/2006/relationships/image" Target="/ppt/media/image4.jpeg" Id="Rd6925a69ca844800" /><Relationship Type="http://schemas.openxmlformats.org/officeDocument/2006/relationships/notesSlide" Target="/ppt/notesSlides/notesSlide7.xml" Id="Re955b22701ff49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02e3cff9ac4270" /><Relationship Type="http://schemas.openxmlformats.org/officeDocument/2006/relationships/image" Target="/ppt/media/image5.jpeg" Id="R4f32124bdaf8417b" /><Relationship Type="http://schemas.openxmlformats.org/officeDocument/2006/relationships/chart" Target="/ppt/slides/charts/chart3.xml" Id="Rabd601cb15e24a21" /><Relationship Type="http://schemas.openxmlformats.org/officeDocument/2006/relationships/notesSlide" Target="/ppt/notesSlides/notesSlide8.xml" Id="Rf4aae93251b44c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a14f5bec904782" /><Relationship Type="http://schemas.openxmlformats.org/officeDocument/2006/relationships/notesSlide" Target="/ppt/notesSlides/notesSlide9.xml" Id="Rdc85d2605edb4c4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数量</c:v>
          </c:tx>
          <c:spPr>
            <a:solidFill xmlns:a="http://schemas.openxmlformats.org/drawingml/2006/main">
              <a:srgbClr val="2D80B9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空标准集</c:v>
                </c:pt>
                <c:pt idx="1">
                  <c:v>任务要求</c:v>
                </c:pt>
                <c:pt idx="2">
                  <c:v>展开完成</c:v>
                </c:pt>
                <c:pt idx="3">
                  <c:v>提炼后工作集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0</c:v>
                </c:pt>
                <c:pt idx="1">
                  <c:v>6</c:v>
                </c:pt>
                <c:pt idx="2">
                  <c:v>1917</c:v>
                </c:pt>
                <c:pt idx="3">
                  <c:v>53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83A5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4D9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4D9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数量</c:v>
          </c:tx>
          <c:spPr>
            <a:solidFill xmlns:a="http://schemas.openxmlformats.org/drawingml/2006/main">
              <a:srgbClr val="2D80B9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合格</c:v>
                </c:pt>
                <c:pt idx="1">
                  <c:v>明确淘汰</c:v>
                </c:pt>
                <c:pt idx="2">
                  <c:v>证据待定</c:v>
                </c:pt>
                <c:pt idx="3">
                  <c:v>未评估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10</c:v>
                </c:pt>
                <c:pt idx="1">
                  <c:v>0</c:v>
                </c:pt>
                <c:pt idx="2">
                  <c:v>3167</c:v>
                </c:pt>
                <c:pt idx="3">
                  <c:v>0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83A5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4D9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4D9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数量</c:v>
          </c:tx>
          <c:spPr>
            <a:solidFill xmlns:a="http://schemas.openxmlformats.org/drawingml/2006/main">
              <a:srgbClr val="2D80B9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载体 A</c:v>
                </c:pt>
                <c:pt idx="1">
                  <c:v>载体 B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83A5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4D9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4D9E8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5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AF4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762C3-6A91-4709-BF93-1E79A07F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MAS Research 研究工作台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75542-DD0E-474B-ACDA-AFB4C8FD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E7294-6AE8-46BE-9AAB-CE616923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浏览器全流程与研究者使用体验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12CCC-147F-4352-BB8E-D9E89DE7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D80B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D80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D80B9"/>
                </a:solidFill>
                <a:latin typeface="Microsoft YaHei"/>
                <a:ea typeface="Microsoft YaHei"/>
                <a:cs typeface="Microsoft YaHei"/>
              </a:rPr>
              <a:t>Surufatinib 位于</a:t>
            </a:r>
          </a:p>
          <a:p xmlns:a="http://schemas.openxmlformats.org/drawingml/2006/main">
            <a:pPr algn="l">
              <a:defRPr sz="3150" b="1">
                <a:solidFill>
                  <a:srgbClr val="2D80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D80B9"/>
                </a:solidFill>
                <a:latin typeface="Microsoft YaHei"/>
                <a:ea typeface="Microsoft YaHei"/>
                <a:cs typeface="Microsoft YaHei"/>
              </a:rPr>
              <a:t>10 个合格候选的第 1 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E6133-1EB5-4749-8FC4-68599CEC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719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rPr>
              <a:t>当前冻结标准下的研究优先级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572C6-1F7E-4E37-A2F3-AC093D32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rPr>
              <a:t>2026 年 10 月 16 日至 17 日</a:t>
            </a:r>
          </a:p>
        </p:txBody>
      </p:sp>
    </p:spTree>
    <p:extLst>
      <p:ext uri="{BB962C8B-B14F-4D97-AF65-F5344CB8AC3E}">
        <p14:creationId xmlns:p14="http://schemas.microsoft.com/office/powerpoint/2010/main" val="3984001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EDB94-4B4C-4511-AB1E-6DAE29E6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研究任务与运行设置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1A7B1-55D9-4F84-9F8F-686169DE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56C44-B7B6-46FC-99B6-3DBB51B5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单一口服候选</a:t>
            </a:r>
          </a:p>
          <a:p xmlns:a="http://schemas.openxmlformats.org/drawingml/2006/main">
            <a:pPr algn="l">
              <a:defRPr sz="2550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同时覆盖五个目标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322FB-6025-422F-B537-E3FE9441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404812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CSF1R</a:t>
            </a:r>
          </a:p>
          <a:p xmlns:a="http://schemas.openxmlformats.org/drawingml/2006/main">
            <a:pPr algn="l">
              <a:defRPr sz="2100" b="0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VEGFR1、VEGFR2、VEGFR3</a:t>
            </a:r>
          </a:p>
          <a:p xmlns:a="http://schemas.openxmlformats.org/drawingml/2006/main">
            <a:pPr algn="l">
              <a:defRPr sz="2100" b="0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FGFR1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16B27-DE53-432D-B1E0-2A2AB86C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400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rPr>
              <a:t>标准从空集合开始</a:t>
            </a:r>
          </a:p>
          <a:p xmlns:a="http://schemas.openxmlformats.org/drawingml/2006/main">
            <a:pPr algn="l">
              <a:defRPr sz="20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rPr>
              <a:t>文献与教材设置均为 Medium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1A884-5A44-467B-82B0-FE320D8CA0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1dcf79b804854"/>
          <a:srcRect xmlns:a="http://schemas.openxmlformats.org/drawingml/2006/main" l="22000" t="45000" r="2000" b="13000"/>
          <a:stretch xmlns:a="http://schemas.openxmlformats.org/drawingml/2006/main"/>
        </p:blipFill>
        <p:spPr>
          <a:xfrm xmlns:a="http://schemas.openxmlformats.org/drawingml/2006/main">
            <a:off x="5000625" y="2411099"/>
            <a:ext cx="6667500" cy="207390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89DCDD-09F5-4A1D-848F-67F42976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561201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rPr>
              <a:t>正式任务使用的 Medium 设置</a:t>
            </a:r>
          </a:p>
        </p:txBody>
      </p:sp>
    </p:spTree>
    <p:extLst>
      <p:ext uri="{BB962C8B-B14F-4D97-AF65-F5344CB8AC3E}">
        <p14:creationId xmlns:p14="http://schemas.microsoft.com/office/powerpoint/2010/main" val="1033797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40BFB-D107-4E27-B777-FDD16DE3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筛选标准的展开与提炼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5DCA3-DDB0-4930-8452-94618440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CEB52BB4-4876-433B-B772-283DA23C7C47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7858125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31d9d9678443f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94ABD-A593-42E6-B33A-56F0B424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24025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2D80B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2D80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2D80B9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46277-EF43-41E9-B2AB-02980BBC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193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核心决策标准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2A7D6-5A5F-4BD9-990C-0B2B27FC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1467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rPr>
              <a:t>1 条硬条件，17 条偏好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00E65-7BEA-45E0-8EB7-C54088DB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5287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13 条背景观察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E8A3C-D602-421D-824A-56626428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6727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22 条待处理记录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2326EF-E7EE-4C71-BFB5-EE15B460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7858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rPr>
              <a:t>工作记录口径包含待处理项，最终 53 条均保留</a:t>
            </a:r>
          </a:p>
        </p:txBody>
      </p:sp>
    </p:spTree>
    <p:extLst>
      <p:ext uri="{BB962C8B-B14F-4D97-AF65-F5344CB8AC3E}">
        <p14:creationId xmlns:p14="http://schemas.microsoft.com/office/powerpoint/2010/main" val="626734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A63B7-DE09-4EAB-AA78-D128BF19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资格与偏好的不同作用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8070C-84A8-41E1-9925-136D1219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376DB-B653-4B4B-ABD0-C5ABFEC5E03B}"/>
              </a:ext>
            </a:extLst>
          </p:cNvPr>
          <p:cNvGraphicFramePr/>
          <p:nvPr/>
        </p:nvGraphicFramePr>
        <p:xfrm>
          <a:off xmlns:a="http://schemas.openxmlformats.org/drawingml/2006/main" x="609600" y="1647825"/>
          <a:ext xmlns:a="http://schemas.openxmlformats.org/drawingml/2006/main" cx="10972800" cy="33718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52625"/>
                <a:gridCol w="4524375"/>
                <a:gridCol w="4495800"/>
              </a:tblGrid>
              <a:tr h="67437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判断层次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4D9E8"/>
                      </a:solidFill>
                      <a:prstDash val="solid"/>
                    </a:lnL>
                    <a:lnR w="9525">
                      <a:solidFill>
                        <a:srgbClr val="C4D9E8"/>
                      </a:solidFill>
                      <a:prstDash val="solid"/>
                    </a:lnR>
                    <a:lnT w="9525">
                      <a:solidFill>
                        <a:srgbClr val="C4D9E8"/>
                      </a:solidFill>
                      <a:prstDash val="solid"/>
                    </a:lnT>
                    <a:lnB w="9525">
                      <a:solidFill>
                        <a:srgbClr val="C4D9E8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研究含义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4D9E8"/>
                      </a:solidFill>
                      <a:prstDash val="solid"/>
                    </a:lnR>
                    <a:lnT w="9525">
                      <a:solidFill>
                        <a:srgbClr val="C4D9E8"/>
                      </a:solidFill>
                      <a:prstDash val="solid"/>
                    </a:lnT>
                    <a:lnB w="9525">
                      <a:solidFill>
                        <a:srgbClr val="C4D9E8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对候选的影响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4D9E8"/>
                      </a:solidFill>
                      <a:prstDash val="solid"/>
                    </a:lnR>
                    <a:lnT w="9525">
                      <a:solidFill>
                        <a:srgbClr val="C4D9E8"/>
                      </a:solidFill>
                      <a:prstDash val="solid"/>
                    </a:lnT>
                    <a:lnB w="9525">
                      <a:solidFill>
                        <a:srgbClr val="C4D9E8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硬条件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4D9E8"/>
                      </a:solidFill>
                      <a:prstDash val="solid"/>
                    </a:lnL>
                    <a:lnR w="9525">
                      <a:solidFill>
                        <a:srgbClr val="C4D9E8"/>
                      </a:solidFill>
                      <a:prstDash val="solid"/>
                    </a:lnR>
                    <a:lnB w="9525">
                      <a:solidFill>
                        <a:srgbClr val="C4D9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满足已核验的任务要求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4D9E8"/>
                      </a:solidFill>
                      <a:prstDash val="solid"/>
                    </a:lnR>
                    <a:lnB w="9525">
                      <a:solidFill>
                        <a:srgbClr val="C4D9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明确失败则淘汰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4D9E8"/>
                      </a:solidFill>
                      <a:prstDash val="solid"/>
                    </a:lnR>
                    <a:lnB w="9525">
                      <a:solidFill>
                        <a:srgbClr val="C4D9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必需目标证据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4D9E8"/>
                      </a:solidFill>
                      <a:prstDash val="solid"/>
                    </a:lnL>
                    <a:lnR w="9525">
                      <a:solidFill>
                        <a:srgbClr val="C4D9E8"/>
                      </a:solidFill>
                      <a:prstDash val="solid"/>
                    </a:lnR>
                    <a:lnB w="9525">
                      <a:solidFill>
                        <a:srgbClr val="C4D9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各目标均有直接证据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4D9E8"/>
                      </a:solidFill>
                      <a:prstDash val="solid"/>
                    </a:lnR>
                    <a:lnB w="9525">
                      <a:solidFill>
                        <a:srgbClr val="C4D9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缺证据保持待定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4D9E8"/>
                      </a:solidFill>
                      <a:prstDash val="solid"/>
                    </a:lnR>
                    <a:lnB w="9525">
                      <a:solidFill>
                        <a:srgbClr val="C4D9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连续偏好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4D9E8"/>
                      </a:solidFill>
                      <a:prstDash val="solid"/>
                    </a:lnL>
                    <a:lnR w="9525">
                      <a:solidFill>
                        <a:srgbClr val="C4D9E8"/>
                      </a:solidFill>
                      <a:prstDash val="solid"/>
                    </a:lnR>
                    <a:lnB w="9525">
                      <a:solidFill>
                        <a:srgbClr val="C4D9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比较可用性质的优劣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4D9E8"/>
                      </a:solidFill>
                      <a:prstDash val="solid"/>
                    </a:lnR>
                    <a:lnB w="9525">
                      <a:solidFill>
                        <a:srgbClr val="C4D9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在合格集内排序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4D9E8"/>
                      </a:solidFill>
                      <a:prstDash val="solid"/>
                    </a:lnR>
                    <a:lnB w="9525">
                      <a:solidFill>
                        <a:srgbClr val="C4D9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背景观察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4D9E8"/>
                      </a:solidFill>
                      <a:prstDash val="solid"/>
                    </a:lnL>
                    <a:lnR w="9525">
                      <a:solidFill>
                        <a:srgbClr val="C4D9E8"/>
                      </a:solidFill>
                      <a:prstDash val="solid"/>
                    </a:lnR>
                    <a:lnB w="9525">
                      <a:solidFill>
                        <a:srgbClr val="C4D9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有值与可判读分开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4D9E8"/>
                      </a:solidFill>
                      <a:prstDash val="solid"/>
                    </a:lnR>
                    <a:lnB w="9525">
                      <a:solidFill>
                        <a:srgbClr val="C4D9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仅作参考，不计分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4D9E8"/>
                      </a:solidFill>
                      <a:prstDash val="solid"/>
                    </a:lnR>
                    <a:lnB w="9525">
                      <a:solidFill>
                        <a:srgbClr val="C4D9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2CF56-DDCD-48F6-82D4-9EA20495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rPr>
              <a:t>排名要求直接偏好证据达到 50%，预测只辅助偏好</a:t>
            </a:r>
          </a:p>
        </p:txBody>
      </p:sp>
    </p:spTree>
    <p:extLst>
      <p:ext uri="{BB962C8B-B14F-4D97-AF65-F5344CB8AC3E}">
        <p14:creationId xmlns:p14="http://schemas.microsoft.com/office/powerpoint/2010/main" val="9858112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D40D18-6BE5-40A6-8C06-F8F94E30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本轮候选筛选与排名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D5D4B-EFBE-46AB-9777-14F417E2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A492D9AF-0AB3-4AB4-A018-67E18A06949B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5715000" cy="3543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028afa6464472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4A405-38D0-4697-9AF0-75C2F870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573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Surufatinib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DA7F6-7C2B-4999-A6A2-3DEE3712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14575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2D80B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2D80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2D80B9"/>
                </a:solidFill>
                <a:latin typeface="Microsoft YaHei"/>
                <a:ea typeface="Microsoft YaHei"/>
                <a:cs typeface="Microsoft YaHei"/>
              </a:rPr>
              <a:t>1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0FD2C-5A7A-4354-AFA9-DE5E9E50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337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rPr>
              <a:t>合格候选中的名次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9339E-B28B-4B2E-BA0F-614E26D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38600"/>
            <a:ext cx="44767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硬条件 1/1</a:t>
            </a:r>
          </a:p>
          <a:p xmlns:a="http://schemas.openxmlformats.org/drawingml/2006/main">
            <a:pPr algn="l">
              <a:defRPr sz="2025" b="0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必需目标直接证据 5/5</a:t>
            </a:r>
          </a:p>
          <a:p xmlns:a="http://schemas.openxmlformats.org/drawingml/2006/main">
            <a:pPr algn="l">
              <a:defRPr sz="2025" b="0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直接偏好证据 10/17（58.8%）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88C04-9779-47AF-8110-7BC55717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4292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rPr>
              <a:t>偏好分数 0.7593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8EABC-5ED7-407F-A90B-D2673765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rPr>
              <a:t>固定候选库 3177 个候选</a:t>
            </a:r>
          </a:p>
        </p:txBody>
      </p:sp>
    </p:spTree>
    <p:extLst>
      <p:ext uri="{BB962C8B-B14F-4D97-AF65-F5344CB8AC3E}">
        <p14:creationId xmlns:p14="http://schemas.microsoft.com/office/powerpoint/2010/main" val="5920741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6D87D-ED10-433D-A014-06E9EC15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证据原文与判断依据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B45E9-13A8-4188-920F-5C11DD53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7FA0A1-8E33-4BEA-B665-72188DC48F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2236f5cb0416f"/>
          <a:srcRect xmlns:a="http://schemas.openxmlformats.org/drawingml/2006/main" l="32500" t="19000" r="2500" b="46000"/>
          <a:stretch xmlns:a="http://schemas.openxmlformats.org/drawingml/2006/main"/>
        </p:blipFill>
        <p:spPr>
          <a:xfrm xmlns:a="http://schemas.openxmlformats.org/drawingml/2006/main">
            <a:off x="609600" y="2425647"/>
            <a:ext cx="7191375" cy="217815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26FD9-B67B-4F9F-A377-68625EF8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0003"/>
            <a:ext cx="719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rPr>
              <a:t>已保存的 FGFR1 抑制实验原文与上下文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5136E-AAF1-4082-A1B9-1003A66C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04975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靶点证据可回到</a:t>
            </a:r>
          </a:p>
          <a:p xmlns:a="http://schemas.openxmlformats.org/drawingml/2006/main">
            <a:pPr algn="l">
              <a:defRPr sz="23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原始报告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2F277-9327-4582-8252-42FD52FF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52750"/>
            <a:ext cx="3333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FGFR1 IC50：34 nM</a:t>
            </a:r>
          </a:p>
          <a:p xmlns:a="http://schemas.openxmlformats.org/drawingml/2006/main">
            <a:pPr algn="l">
              <a:defRPr sz="2025" b="0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体外激酶实验</a:t>
            </a:r>
          </a:p>
          <a:p xmlns:a="http://schemas.openxmlformats.org/drawingml/2006/main">
            <a:pPr algn="l">
              <a:defRPr sz="2025" b="0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原文与实验条件可查看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BB20F-A36D-442D-B573-E122C626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rPr>
              <a:t>部分结构偏好的文献支持较间接，不能据此确认临床安全性</a:t>
            </a:r>
          </a:p>
        </p:txBody>
      </p:sp>
    </p:spTree>
    <p:extLst>
      <p:ext uri="{BB962C8B-B14F-4D97-AF65-F5344CB8AC3E}">
        <p14:creationId xmlns:p14="http://schemas.microsoft.com/office/powerpoint/2010/main" val="13429182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4071B-1CA8-4790-AB02-0906B8CA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研究过程在浏览器中可见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EAD02-3D43-4A44-89FC-5509D7D3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8B6FA-2A22-4E62-AA96-04C01EA5E5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11366b4714de6"/>
          <a:srcRect xmlns:a="http://schemas.openxmlformats.org/drawingml/2006/main" l="22000" t="30000" r="2000" b="44000"/>
          <a:stretch xmlns:a="http://schemas.openxmlformats.org/drawingml/2006/main"/>
        </p:blipFill>
        <p:spPr>
          <a:xfrm xmlns:a="http://schemas.openxmlformats.org/drawingml/2006/main">
            <a:off x="852496" y="1524000"/>
            <a:ext cx="10487009" cy="2019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1769B-8640-4F33-AEC3-4341EA8A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rPr>
              <a:t>评估进行中的活动、单元进度和费用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C003C-B209-4328-8BE3-A49D211F39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25a69ca844800"/>
          <a:srcRect xmlns:a="http://schemas.openxmlformats.org/drawingml/2006/main" l="22000" t="26000" r="2000" b="42000"/>
          <a:stretch xmlns:a="http://schemas.openxmlformats.org/drawingml/2006/main"/>
        </p:blipFill>
        <p:spPr>
          <a:xfrm xmlns:a="http://schemas.openxmlformats.org/drawingml/2006/main">
            <a:off x="1835653" y="4095750"/>
            <a:ext cx="8520694" cy="2019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FDBB1-55F1-404E-8B07-442D0D2B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rPr>
              <a:t>完成后的标准演化与核心、参考、未启用项</a:t>
            </a:r>
          </a:p>
        </p:txBody>
      </p:sp>
    </p:spTree>
    <p:extLst>
      <p:ext uri="{BB962C8B-B14F-4D97-AF65-F5344CB8AC3E}">
        <p14:creationId xmlns:p14="http://schemas.microsoft.com/office/powerpoint/2010/main" val="8489306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AC2EA-2DFF-4865-99DC-E5EE9197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自带候选和测量数据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5C10C-144E-4ED5-A515-3628273C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DD840-18DC-4BAC-A95B-FBE41D6DFB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2124bdaf8417b"/>
          <a:srcRect xmlns:a="http://schemas.openxmlformats.org/drawingml/2006/main" l="22000" t="48000" r="2000" b="12000"/>
          <a:stretch xmlns:a="http://schemas.openxmlformats.org/drawingml/2006/main"/>
        </p:blipFill>
        <p:spPr>
          <a:xfrm xmlns:a="http://schemas.openxmlformats.org/drawingml/2006/main">
            <a:off x="609600" y="1930142"/>
            <a:ext cx="6629400" cy="306439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EB7E7-DED7-4403-A131-384AAEFE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0733"/>
            <a:ext cx="662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rPr>
              <a:t>已验收的合成载体 CSV 示例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BEAEF-5EB7-4332-8335-4AAABC9A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619250"/>
            <a:ext cx="3819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载体 CSV 能力示例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102EACB9-EC2A-4D75-9602-9278B35ED6FB}"/>
              </a:ext>
            </a:extLst>
          </p:cNvPr>
          <p:cNvGraphicFramePr/>
          <p:nvPr/>
        </p:nvGraphicFramePr>
        <p:xfrm>
          <a:off xmlns:a="http://schemas.openxmlformats.org/drawingml/2006/main" x="7667625" y="2457450"/>
          <a:ext xmlns:a="http://schemas.openxmlformats.org/drawingml/2006/main" cx="3952875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d601cb15e24a2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994A7-95F0-4359-824D-9A8AC59D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124450"/>
            <a:ext cx="38195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rPr>
              <a:t>合成工程数据</a:t>
            </a:r>
          </a:p>
          <a:p xmlns:a="http://schemas.openxmlformats.org/drawingml/2006/main">
            <a:pPr algn="l">
              <a:defRPr sz="18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rPr>
              <a:t>通过硬条件后，合格集内排序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D8973-0B19-4266-B685-DC7F0C0F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候选编号、性质、单位、条件和来源完整保留</a:t>
            </a:r>
          </a:p>
        </p:txBody>
      </p:sp>
    </p:spTree>
    <p:extLst>
      <p:ext uri="{BB962C8B-B14F-4D97-AF65-F5344CB8AC3E}">
        <p14:creationId xmlns:p14="http://schemas.microsoft.com/office/powerpoint/2010/main" val="10791573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18384-C7A6-40BA-A4E1-2A4D72BC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交付与适用范围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8F37B-526A-49E1-BC23-29AD6A8F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4B2DC-700A-460B-B2B5-71D3B6EE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5572125" cy="2124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可编辑汇报 PPT</a:t>
            </a:r>
          </a:p>
          <a:p xmlns:a="http://schemas.openxmlformats.org/drawingml/2006/main">
            <a:pPr algn="l">
              <a:defRPr sz="2550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简洁中文结果报告</a:t>
            </a:r>
          </a:p>
          <a:p xmlns:a="http://schemas.openxmlformats.org/drawingml/2006/main">
            <a:pPr algn="l">
              <a:defRPr sz="2550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候选清单与可回查证据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3D08A-0CD2-4789-B675-294DF66C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52600"/>
            <a:ext cx="485775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人体实测 F% 与 Tmax</a:t>
            </a:r>
          </a:p>
          <a:p xmlns:a="http://schemas.openxmlformats.org/drawingml/2006/main">
            <a:pPr algn="l">
              <a:defRPr sz="2400" b="0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A59"/>
                </a:solidFill>
                <a:latin typeface="Microsoft YaHei"/>
                <a:ea typeface="Microsoft YaHei"/>
                <a:cs typeface="Microsoft YaHei"/>
              </a:rPr>
              <a:t>仍缺对应证据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DDDB7-7E63-45AF-B687-8D6F6672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00475"/>
            <a:ext cx="48577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rPr>
              <a:t>4 项背景已有值，仍需判读</a:t>
            </a:r>
          </a:p>
          <a:p xmlns:a="http://schemas.openxmlformats.org/drawingml/2006/main">
            <a:pPr algn="l">
              <a:defRPr sz="20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rPr>
              <a:t>食物影响 AUC 仍缺对应证据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69C49-CE70-4D13-80C0-9B6CDAF4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46C80"/>
                </a:solidFill>
                <a:latin typeface="Microsoft YaHei"/>
                <a:ea typeface="Microsoft YaHei"/>
                <a:cs typeface="Microsoft YaHei"/>
              </a:rPr>
              <a:t>研究筛选与证据核对之后，仍需研究者开展实验和临床判断</a:t>
            </a:r>
          </a:p>
        </p:txBody>
      </p:sp>
    </p:spTree>
    <p:extLst>
      <p:ext uri="{BB962C8B-B14F-4D97-AF65-F5344CB8AC3E}">
        <p14:creationId xmlns:p14="http://schemas.microsoft.com/office/powerpoint/2010/main" val="5128181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2026-10-16T16:58:04.2280000Z</dcterms:created>
  <dcterms:modified xsi:type="dcterms:W3CDTF">2026-10-16T16:58:04.2280000Z</dcterms:modified>
</coreProperties>
</file>