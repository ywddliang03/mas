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1ee1ff60134318" /><Relationship Type="http://schemas.openxmlformats.org/officeDocument/2006/relationships/extended-properties" Target="/docProps/app.xml" Id="R84057a225674457d" /><Relationship Type="http://schemas.openxmlformats.org/officeDocument/2006/relationships/officeDocument" Target="/ppt/presentation.xml" Id="R79608478c9724c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3f0efac7854345"/>
  </p:sldMasterIdLst>
  <p:notesMasterIdLst>
    <p:notesMasterId xmlns:r="http://schemas.openxmlformats.org/officeDocument/2006/relationships" r:id="R62eb0f2e2b744531"/>
  </p:notesMasterIdLst>
  <p:sldIdLst>
    <p:sldId xmlns:r="http://schemas.openxmlformats.org/officeDocument/2006/relationships" id="256" r:id="R8110eb75ed05493b"/>
    <p:sldId xmlns:r="http://schemas.openxmlformats.org/officeDocument/2006/relationships" id="257" r:id="Rbdb8fb8bfb604d9e"/>
    <p:sldId xmlns:r="http://schemas.openxmlformats.org/officeDocument/2006/relationships" id="258" r:id="R93d09113b56f4509"/>
    <p:sldId xmlns:r="http://schemas.openxmlformats.org/officeDocument/2006/relationships" id="259" r:id="R773ef8e5ac244252"/>
    <p:sldId xmlns:r="http://schemas.openxmlformats.org/officeDocument/2006/relationships" id="260" r:id="R2d3e43c65c0c4111"/>
    <p:sldId xmlns:r="http://schemas.openxmlformats.org/officeDocument/2006/relationships" id="261" r:id="Rc5148b41f2144738"/>
    <p:sldId xmlns:r="http://schemas.openxmlformats.org/officeDocument/2006/relationships" id="262" r:id="R990197b2db004b33"/>
    <p:sldId xmlns:r="http://schemas.openxmlformats.org/officeDocument/2006/relationships" id="263" r:id="R187462724c0e4600"/>
    <p:sldId xmlns:r="http://schemas.openxmlformats.org/officeDocument/2006/relationships" id="264" r:id="R25e5e74d2f1a44ce"/>
    <p:sldId xmlns:r="http://schemas.openxmlformats.org/officeDocument/2006/relationships" id="265" r:id="R246e921d2d00485b"/>
    <p:sldId xmlns:r="http://schemas.openxmlformats.org/officeDocument/2006/relationships" id="266" r:id="Reeec4f96356b4640"/>
    <p:sldId xmlns:r="http://schemas.openxmlformats.org/officeDocument/2006/relationships" id="267" r:id="Rc535cdcf251d4bfe"/>
    <p:sldId xmlns:r="http://schemas.openxmlformats.org/officeDocument/2006/relationships" id="268" r:id="R4887caae5bf9448d"/>
    <p:sldId xmlns:r="http://schemas.openxmlformats.org/officeDocument/2006/relationships" id="269" r:id="R4811e105579e4cd4"/>
    <p:sldId xmlns:r="http://schemas.openxmlformats.org/officeDocument/2006/relationships" id="270" r:id="R214f7b00214c418f"/>
    <p:sldId xmlns:r="http://schemas.openxmlformats.org/officeDocument/2006/relationships" id="271" r:id="R17e8dc1d34f64189"/>
    <p:sldId xmlns:r="http://schemas.openxmlformats.org/officeDocument/2006/relationships" id="272" r:id="Rbfbefd82359e4e03"/>
    <p:sldId xmlns:r="http://schemas.openxmlformats.org/officeDocument/2006/relationships" id="273" r:id="R6e47464fdc4f495f"/>
    <p:sldId xmlns:r="http://schemas.openxmlformats.org/officeDocument/2006/relationships" id="274" r:id="Re760680c3dee4c63"/>
    <p:sldId xmlns:r="http://schemas.openxmlformats.org/officeDocument/2006/relationships" id="275" r:id="R6e6037de58354313"/>
    <p:sldId xmlns:r="http://schemas.openxmlformats.org/officeDocument/2006/relationships" id="276" r:id="Rcbb2a7245b6340db"/>
    <p:sldId xmlns:r="http://schemas.openxmlformats.org/officeDocument/2006/relationships" id="277" r:id="R4bc6edeef2394624"/>
    <p:sldId xmlns:r="http://schemas.openxmlformats.org/officeDocument/2006/relationships" id="278" r:id="R03b2001c936d48b0"/>
    <p:sldId xmlns:r="http://schemas.openxmlformats.org/officeDocument/2006/relationships" id="279" r:id="Re2dea8efe01d45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97b6ac2dfc49f7" /><Relationship Type="http://schemas.openxmlformats.org/officeDocument/2006/relationships/slideMaster" Target="/ppt/slideMasters/slideMaster1.xml" Id="R893f0efac7854345" /><Relationship Type="http://schemas.openxmlformats.org/officeDocument/2006/relationships/notesMaster" Target="/ppt/notesMasters/notesMaster1.xml" Id="R62eb0f2e2b744531" /><Relationship Type="http://schemas.openxmlformats.org/officeDocument/2006/relationships/presProps" Target="/ppt/presProps.xml" Id="R58e07586d36b440f" /><Relationship Type="http://schemas.openxmlformats.org/officeDocument/2006/relationships/tableStyles" Target="/ppt/tableStyles.xml" Id="R4b3653a9cb8b48f1" /><Relationship Type="http://schemas.openxmlformats.org/officeDocument/2006/relationships/slide" Target="/ppt/slides/slide1.xml" Id="R8110eb75ed05493b" /><Relationship Type="http://schemas.openxmlformats.org/officeDocument/2006/relationships/slide" Target="/ppt/slides/slide2.xml" Id="Rbdb8fb8bfb604d9e" /><Relationship Type="http://schemas.openxmlformats.org/officeDocument/2006/relationships/slide" Target="/ppt/slides/slide3.xml" Id="R93d09113b56f4509" /><Relationship Type="http://schemas.openxmlformats.org/officeDocument/2006/relationships/slide" Target="/ppt/slides/slide4.xml" Id="R773ef8e5ac244252" /><Relationship Type="http://schemas.openxmlformats.org/officeDocument/2006/relationships/slide" Target="/ppt/slides/slide5.xml" Id="R2d3e43c65c0c4111" /><Relationship Type="http://schemas.openxmlformats.org/officeDocument/2006/relationships/slide" Target="/ppt/slides/slide6.xml" Id="Rc5148b41f2144738" /><Relationship Type="http://schemas.openxmlformats.org/officeDocument/2006/relationships/slide" Target="/ppt/slides/slide7.xml" Id="R990197b2db004b33" /><Relationship Type="http://schemas.openxmlformats.org/officeDocument/2006/relationships/slide" Target="/ppt/slides/slide8.xml" Id="R187462724c0e4600" /><Relationship Type="http://schemas.openxmlformats.org/officeDocument/2006/relationships/slide" Target="/ppt/slides/slide9.xml" Id="R25e5e74d2f1a44ce" /><Relationship Type="http://schemas.openxmlformats.org/officeDocument/2006/relationships/slide" Target="/ppt/slides/slide10.xml" Id="R246e921d2d00485b" /><Relationship Type="http://schemas.openxmlformats.org/officeDocument/2006/relationships/slide" Target="/ppt/slides/slide11.xml" Id="Reeec4f96356b4640" /><Relationship Type="http://schemas.openxmlformats.org/officeDocument/2006/relationships/slide" Target="/ppt/slides/slide12.xml" Id="Rc535cdcf251d4bfe" /><Relationship Type="http://schemas.openxmlformats.org/officeDocument/2006/relationships/slide" Target="/ppt/slides/slide13.xml" Id="R4887caae5bf9448d" /><Relationship Type="http://schemas.openxmlformats.org/officeDocument/2006/relationships/slide" Target="/ppt/slides/slide14.xml" Id="R4811e105579e4cd4" /><Relationship Type="http://schemas.openxmlformats.org/officeDocument/2006/relationships/slide" Target="/ppt/slides/slide15.xml" Id="R214f7b00214c418f" /><Relationship Type="http://schemas.openxmlformats.org/officeDocument/2006/relationships/slide" Target="/ppt/slides/slide16.xml" Id="R17e8dc1d34f64189" /><Relationship Type="http://schemas.openxmlformats.org/officeDocument/2006/relationships/slide" Target="/ppt/slides/slide17.xml" Id="Rbfbefd82359e4e03" /><Relationship Type="http://schemas.openxmlformats.org/officeDocument/2006/relationships/slide" Target="/ppt/slides/slide18.xml" Id="R6e47464fdc4f495f" /><Relationship Type="http://schemas.openxmlformats.org/officeDocument/2006/relationships/slide" Target="/ppt/slides/slide19.xml" Id="Re760680c3dee4c63" /><Relationship Type="http://schemas.openxmlformats.org/officeDocument/2006/relationships/slide" Target="/ppt/slides/slide20.xml" Id="R6e6037de58354313" /><Relationship Type="http://schemas.openxmlformats.org/officeDocument/2006/relationships/slide" Target="/ppt/slides/slide21.xml" Id="Rcbb2a7245b6340db" /><Relationship Type="http://schemas.openxmlformats.org/officeDocument/2006/relationships/slide" Target="/ppt/slides/slide22.xml" Id="R4bc6edeef2394624" /><Relationship Type="http://schemas.openxmlformats.org/officeDocument/2006/relationships/slide" Target="/ppt/slides/slide23.xml" Id="R03b2001c936d48b0" /><Relationship Type="http://schemas.openxmlformats.org/officeDocument/2006/relationships/slide" Target="/ppt/slides/slide24.xml" Id="Re2dea8efe01d45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66cf6728124a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a4b4b5b3e844f8" /><Relationship Type="http://schemas.openxmlformats.org/officeDocument/2006/relationships/notesMaster" Target="/ppt/notesMasters/notesMaster1.xml" Id="R6e353ef8ccba44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4cf19cc1844985" /><Relationship Type="http://schemas.openxmlformats.org/officeDocument/2006/relationships/notesMaster" Target="/ppt/notesMasters/notesMaster1.xml" Id="R7af1ac057cee40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ee9cb012a64334" /><Relationship Type="http://schemas.openxmlformats.org/officeDocument/2006/relationships/notesMaster" Target="/ppt/notesMasters/notesMaster1.xml" Id="Rc285f592266944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8403a5d3d44905" /><Relationship Type="http://schemas.openxmlformats.org/officeDocument/2006/relationships/notesMaster" Target="/ppt/notesMasters/notesMaster1.xml" Id="R20e5b0d06b9c44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368c32b1694f9d" /><Relationship Type="http://schemas.openxmlformats.org/officeDocument/2006/relationships/notesMaster" Target="/ppt/notesMasters/notesMaster1.xml" Id="R04f269f162b147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9dff89e2f849d2" /><Relationship Type="http://schemas.openxmlformats.org/officeDocument/2006/relationships/notesMaster" Target="/ppt/notesMasters/notesMaster1.xml" Id="Raf2312a2a7e042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f1ca4dd8aa4dc1" /><Relationship Type="http://schemas.openxmlformats.org/officeDocument/2006/relationships/notesMaster" Target="/ppt/notesMasters/notesMaster1.xml" Id="R7bc7cb44c9b84c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f5d558f76f4583" /><Relationship Type="http://schemas.openxmlformats.org/officeDocument/2006/relationships/notesMaster" Target="/ppt/notesMasters/notesMaster1.xml" Id="Rd626e3e9f8a64f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1fad653b3c4f2d" /><Relationship Type="http://schemas.openxmlformats.org/officeDocument/2006/relationships/notesMaster" Target="/ppt/notesMasters/notesMaster1.xml" Id="Rb732c3cce61c46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b5289128db4816" /><Relationship Type="http://schemas.openxmlformats.org/officeDocument/2006/relationships/notesMaster" Target="/ppt/notesMasters/notesMaster1.xml" Id="Re787afe5d1364a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3836d1a2d54be8" /><Relationship Type="http://schemas.openxmlformats.org/officeDocument/2006/relationships/notesMaster" Target="/ppt/notesMasters/notesMaster1.xml" Id="R8c1aecf1c4ff47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c33879f7974c02" /><Relationship Type="http://schemas.openxmlformats.org/officeDocument/2006/relationships/notesMaster" Target="/ppt/notesMasters/notesMaster1.xml" Id="Rf68dcd281cf442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b2552926d249f7" /><Relationship Type="http://schemas.openxmlformats.org/officeDocument/2006/relationships/notesMaster" Target="/ppt/notesMasters/notesMaster1.xml" Id="R474f672dbfad4b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a9dbb3ee794428" /><Relationship Type="http://schemas.openxmlformats.org/officeDocument/2006/relationships/notesMaster" Target="/ppt/notesMasters/notesMaster1.xml" Id="R7843002bebbf46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c9a03460d1445e" /><Relationship Type="http://schemas.openxmlformats.org/officeDocument/2006/relationships/notesMaster" Target="/ppt/notesMasters/notesMaster1.xml" Id="Rdbf64475b1bb428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de9f004314248dd" /><Relationship Type="http://schemas.openxmlformats.org/officeDocument/2006/relationships/notesMaster" Target="/ppt/notesMasters/notesMaster1.xml" Id="R7341245c034d494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543227d91542e0" /><Relationship Type="http://schemas.openxmlformats.org/officeDocument/2006/relationships/notesMaster" Target="/ppt/notesMasters/notesMaster1.xml" Id="Rb80a7292e38a4cf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bf79c4e33be46ba" /><Relationship Type="http://schemas.openxmlformats.org/officeDocument/2006/relationships/notesMaster" Target="/ppt/notesMasters/notesMaster1.xml" Id="R04c30ba79f8e411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70708be3a9f4b79" /><Relationship Type="http://schemas.openxmlformats.org/officeDocument/2006/relationships/notesMaster" Target="/ppt/notesMasters/notesMaster1.xml" Id="R242096cb1f8a48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2eb6de47d954326" /><Relationship Type="http://schemas.openxmlformats.org/officeDocument/2006/relationships/notesMaster" Target="/ppt/notesMasters/notesMaster1.xml" Id="R79411851b889431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79051f994b4c01" /><Relationship Type="http://schemas.openxmlformats.org/officeDocument/2006/relationships/notesMaster" Target="/ppt/notesMasters/notesMaster1.xml" Id="R547c5aa6b1a2401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36fb3964d3144ca" /><Relationship Type="http://schemas.openxmlformats.org/officeDocument/2006/relationships/notesMaster" Target="/ppt/notesMasters/notesMaster1.xml" Id="Rf652f3392dea420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e0a05202a634442" /><Relationship Type="http://schemas.openxmlformats.org/officeDocument/2006/relationships/notesMaster" Target="/ppt/notesMasters/notesMaster1.xml" Id="R72d4273b43f3481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f31514e93ef4a5f" /><Relationship Type="http://schemas.openxmlformats.org/officeDocument/2006/relationships/notesMaster" Target="/ppt/notesMasters/notesMaster1.xml" Id="R03c9804bf7cb40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这份汇报先介绍一次研究的完整流程，再说明各组件如何交换任务、证据、标准和结果，最后用最新的口服多靶点研究走完相同流程。研究者可以从候选结论回到逐项结果、实际采用的证据和保存的原文。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设计背景：MAS_MultiAgent_Design_Audit_EN_20261012/01_Concept_Overview_EN.md；design_audit/optimized_design.md §§5、8、9。具体功能按当前实现与下列实际记录解释，历史设计中的计划不作为已成功能力。</a:t>
            </a:r>
          </a:p>
          <a:p xmlns:a="http://schemas.openxmlformats.org/drawingml/2006/main">
            <a:r>
              <a:t>独立核算：design_audit/fresh_browser_2026-10-16/audit/snapshot2-summary.md、snapshot2-audit.json；34/34检查通过。评估3177×31=98487单元；snapshot lb_task_01M52CBE5GYPK9F0MCZYBMPH84_2。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程有八个阶段。研究者先指定目标、候选和材料。系统固定证据，提出标准，通过批评、修订和合并形成工作集。审查与冻结明确本次使用哪些规则。随后系统逐项读取候选事实，先判资格再排序。结果包含未解决项、来源位置和完整导出。修改标准会保存新版本，并据此建立新的评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设计背景：MAS_MultiAgent_Design_Audit_EN_20261012/01_Concept_Overview_EN.md；design_audit/optimized_design.md §§5、8、9。具体功能按当前实现与下列实际记录解释，历史设计中的计划不作为已成功能力。</a:t>
            </a:r>
          </a:p>
          <a:p xmlns:a="http://schemas.openxmlformats.org/drawingml/2006/main">
            <a:r>
              <a:t>实际任务：design_audit/fresh_browser_2026-10-16/results-snapshot2/task.json；task_01M52CBE5GYPK9F0MCZYBMPH84。此任务是reference_disclosed；生成阶段排除了明确提及参考候选的事实。</a:t>
            </a:r>
          </a:p>
          <a:p xmlns:a="http://schemas.openxmlformats.org/drawingml/2006/main">
            <a:r>
              <a:t>当前流程：README.md Research workbench。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范化组件将用户原话转换成明确的任务字段。实际任务要求单一口服药物，并同时涉及五个靶点。口服是明确硬条件，五个靶点构成必须回答的范围。靶点效力可以排序，但任务没有给出统一数值截点。自有数据的性质、条件或单位无法准确对应时，工作台提出具体问题，用户补充回答后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实际任务：design_audit/fresh_browser_2026-10-16/results-snapshot2/task.json；task_01M52CBE5GYPK9F0MCZYBMPH84。此任务是reference_disclosed；生成阶段排除了明确提及参考候选的事实。</a:t>
            </a:r>
          </a:p>
          <a:p xmlns:a="http://schemas.openxmlformats.org/drawingml/2006/main">
            <a:r>
              <a:t>实现：src/mas/core/investigation.py task normalization；上传任务按property catalog核对。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候选库定义评谁，证据集合定义依据什么。本轮从空CQA开始，复用已固定的事实与历史工具结果。生成阶段排除了明确提及参考候选的事实；任务仍披露参考候选及研究范围，采用披露参考候选身份的口径。候选评估按同一事实政策处理全库，保留原来源及证据类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实际任务：design_audit/fresh_browser_2026-10-16/results-snapshot2/task.json；task_01M52CBE5GYPK9F0MCZYBMPH84。此任务是reference_disclosed；生成阶段排除了明确提及参考候选的事实。</a:t>
            </a:r>
          </a:p>
          <a:p xmlns:a="http://schemas.openxmlformats.org/drawingml/2006/main">
            <a:r>
              <a:t>实际CQA：design_audit/fresh_browser_2026-10-16/results-snapshot2/cqa.json、source-cqa-history.json、stages.json；工作记录口径active_registered_plus_unregistered_proposals。</a:t>
            </a:r>
          </a:p>
          <a:p xmlns:a="http://schemas.openxmlformats.org/drawingml/2006/main">
            <a:r>
              <a:t>本轮evidence stage：claims_reused=3021、criteria_copied=0、documents_read=0、new_searches=0。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保存文献中的一条测量为例。原文报告sulfatinib对FGFR1和CSF-1R的IC50分别为34和5nM。系统为两个靶点分别保存结构化事实，并保留同一段原文与位置。这里展示FGFR1的34nM；最终候选值按冻结标准与其他合格记录汇总，在案例后段列出具体计算。该原文是体外激酶实验，实验条件的缺项继续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事实来源：results-snapshot2/surufatinib.json 中 detail.evidence；原文、locator、claim/source hash及reading depth保留。事实manifest为art_dd17f6345b54。</a:t>
            </a:r>
          </a:p>
          <a:p xmlns:a="http://schemas.openxmlformats.org/drawingml/2006/main">
            <a:r>
              <a:t>FGFR1 claim_supp_0fc07290141d48a811fe3d11；source src_doi_10.1038/s42004-023-01084-0；locator sec2.1.p1。原文alias sulfatinib保留。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r根据任务与事实提出属性、用途、来源路线和检验想法。Critic检查证据支持、单位、适用性、重复及反例，给出具体问题。Proposer再回应可修的问题。Adjudicator处理持续争议或来源解释，记录接受、拒绝或未解决的理由。确定性校验负责格式、引用及执行定义，模型同意也要经过这些检查。实际分子量项经历了经验线解释与复核，该决定保留为机器审查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设计背景：MAS_MultiAgent_Design_Audit_EN_20261012/01_Concept_Overview_EN.md；design_audit/optimized_design.md §§5、8、9。具体功能按当前实现与下列实际记录解释，历史设计中的计划不作为已成功能力。</a:t>
            </a:r>
          </a:p>
          <a:p xmlns:a="http://schemas.openxmlformats.org/drawingml/2006/main">
            <a:r>
              <a:t>实际CQA：design_audit/fresh_browser_2026-10-16/results-snapshot2/cqa.json、source-cqa-history.json、stages.json；工作记录口径active_registered_plus_unregistered_proposals。</a:t>
            </a:r>
          </a:p>
          <a:p xmlns:a="http://schemas.openxmlformats.org/drawingml/2006/main">
            <a:r>
              <a:t>MW相关：rule_molecular-weight-da@v1；machine review adj_01M52MB0NDN2S5WEDHXP14CPJ8。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QA在这里是研究中需要测量和判断的性质。属性记录测什么、单位、条件、证据路线和汇总方法；规则记录怎样比较及怎样处理缺失。以分子量为例，结构计算得到Da数值，冻结规则把500Da经验线用于偏好。CSF1R没有数值截点，但有明确连续排序方向，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实际CQA：design_audit/fresh_browser_2026-10-16/results-snapshot2/cqa.json、source-cqa-history.json、stages.json；工作记录口径active_registered_plus_unregistered_proposals。</a:t>
            </a:r>
          </a:p>
          <a:p xmlns:a="http://schemas.openxmlformats.org/drawingml/2006/main">
            <a:r>
              <a:t>分子量attribute/rule_molecular-weight-da@v1；CSF1R attribute/rule_csf1r-curated-potency@v1。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出阶段先保留有依据的候选想法，提炼阶段逐项处理。Filter核对是否已有标准覆盖、是否有支持和有效读取路线，再由Critic批评。Distill明确性质、方向和适用范围。Refine回应已记录的问题。Merge把同一量和用途的提议合成一个项并保留来源谱系。未解决的内容在池内或审查区继续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实际CQA：design_audit/fresh_browser_2026-10-16/results-snapshot2/cqa.json、source-cqa-history.json、stages.json；工作记录口径active_registered_plus_unregistered_proposals。</a:t>
            </a:r>
          </a:p>
          <a:p xmlns:a="http://schemas.openxmlformats.org/drawingml/2006/main">
            <a:r>
              <a:t>当前操作定义：src/mas/core/derivation_stages.py propose/filter_stage/distill_stage/refine_stage/merge_stage。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研究第二轮合并了六个分子量提议，测量性质、路线、单位和方向一致。它们对经验线和汇总方式有不同表述，合并项保留来源，并明确按中位数汇总实际值。这里合并的是提议及来源，候选的实际值按声明方法另外汇总。第三轮Critic指出反例支持不足。Refine补充经验解释与适用性，机器审查随后接受这条偏好线。每一步都保留父项、版本和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实际CQA：design_audit/fresh_browser_2026-10-16/results-snapshot2/cqa.json、source-cqa-history.json、stages.json；工作记录口径active_registered_plus_unregistered_proposals。</a:t>
            </a:r>
          </a:p>
          <a:p xmlns:a="http://schemas.openxmlformats.org/drawingml/2006/main">
            <a:r>
              <a:t>六父项与merge child cri_01M52KSFQBB9B84Y16HNPGBCM2@v1；filter@v2、refine@v3；最终attr/rule_molecular-weight-da@v1。支持claim_01M4YGKFS9V8MZAS1VB9ACXDYD等3条；machine bound interpretation granted。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途决定一项标准怎样影响结果。口服记录是任务明确要求的硬条件；靶点效力和结构性质作为偏好，帮助合格者排序；Food-AUC等参考项提供背景。五个必需靶点的直接证据要求单独核对。参考项有数值和有可执行判读方法也分别记录，四项已有预测值的参考仍等待判读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实际CQA：design_audit/fresh_browser_2026-10-16/results-snapshot2/cqa.json、source-cqa-history.json、stages.json；工作记录口径active_registered_plus_unregistered_proposals。</a:t>
            </a:r>
          </a:p>
          <a:p xmlns:a="http://schemas.openxmlformats.org/drawingml/2006/main">
            <a:r>
              <a:t>实际评分复算：var/usability-score-20261017/new-suruf-score-details.json/.csv；snapshot=lb_task_01M52CBE5GYPK9F0MCZYBMPH84_2；run=run_01M52Q4VRB00T5Z3QJW08SSV96；rules@v2；source score=0.7592592592592593。</a:t>
            </a:r>
          </a:p>
          <a:p xmlns:a="http://schemas.openxmlformats.org/drawingml/2006/main">
            <a:r>
              <a:t>context状态说明：design_audit/fresh_browser_2026-10-16/audit/context-method-explanation-fix-proof.json。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冻结将当前工作标准转换成一次评估固定使用的规则集。它核对任务要求、来源和单位、比较方式、边界解释及未解决复核，输出启用项和延后清单。实际logP提议原称2到4最佳区间，却一度只有大于等于2；后续修订的依据与执行定义仍未一致，因此两条最佳区间提议最终没有进入这次评分。它们的失败版本和理由仍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实际CQA：design_audit/fresh_browser_2026-10-16/results-snapshot2/cqa.json、source-cqa-history.json、stages.json；工作记录口径active_registered_plus_unregistered_proposals。</a:t>
            </a:r>
          </a:p>
          <a:p xmlns:a="http://schemas.openxmlformats.org/drawingml/2006/main">
            <a:r>
              <a:t>design_audit/fresh_browser_2026-10-16/cqa-logp-evolution.md；pool cri_01M52ERBH5STHY9ZZXR1C9JSBM；rule_predicted-lipophilicity与rule_lipophilicity-logp-within-optimal-kinase-inhibitor-range最终deferred。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具组件接到标准的具体问题，再读取相应候选事实。读取结果携带单位、输入、方法、实现版本及来源。记录中的实测、结构计算和训练模型预测分别保留。实际四个RDKit描述符原被统一标成预测，复核算法后用新版本改为结构计算；原数值、方向、阈值和旧快照均保留。同量有直接证据时优先使用，预测辅助偏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事实来源：results-snapshot2/surufatinib.json 中 detail.evidence；原文、locator、claim/source hash及reading depth保留。事实manifest为art_dd17f6345b54。</a:t>
            </a:r>
          </a:p>
          <a:p xmlns:a="http://schemas.openxmlformats.org/drawingml/2006/main">
            <a:r>
              <a:t>ADMET-AI 2.0.1官方physchem源码审阅与机械迁移：scripts/correct_descriptor_basis.py；tool_compute_admet_descriptors implementation admet-ai-2.0.1-rdkit-descriptor-projection-1。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筛选首先核对适用且经过审查的硬条件和必需直接证据。明确硬失败进入淘汰；缺证、冲突或未解决硬审查进入待补；没有有效硬条件时为未就绪。分阶段模式（staged）只在确认硬失败后跳过后续昂贵评估并记录原因；未知仍继续检查其他门槛。合成载体例子中C的细胞活率55%低于80%硬要求，随后四格明确跳过。该例已经离线核对完整模式（full）和分阶段模式的合格集与排序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合成工程示例：design_audit/workbench_usability_2026-10-16/FINAL_ACCEPTANCE.md；var/workbench-usability/fixtures/carriers.csv与carrier-measurements.csv。数据明确为synthetic engineering fixture，不是实验证据。</a:t>
            </a:r>
          </a:p>
          <a:p xmlns:a="http://schemas.openxmlformats.org/drawingml/2006/main">
            <a:r>
              <a:t>规则语义：src/mas/core/assessor.py qualification；Controller staged skip。载体示例15cells，staged实际11evaluated+4skipped。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阈值偏好按通过或失败给1或0。连续偏好先在有值的合格候选中排序，换成0到1的经验分位；并列取平均位置，比较组包含该项有值的合格候选。分数用有可用值的偏好加权平均。直接证据覆盖率另算，分母包含全部适用偏好。实际BRENK中两个候选更差、八个候选并列，比较分为0.611111，对本轮总分贡献0.040741。NIH和PAINS都是十个候选同为零，各比较分0.5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实际评分复算：var/usability-score-20261017/new-suruf-score-details.json/.csv；snapshot=lb_task_01M52CBE5GYPK9F0MCZYBMPH84_2；run=run_01M52Q4VRB00T5Z3QJW08SSV96；rules@v2；source score=0.7592592592592593。</a:t>
            </a:r>
          </a:p>
          <a:p xmlns:a="http://schemas.openxmlformats.org/drawingml/2006/main">
            <a:r>
              <a:t>冻结ranking_coverage_floor=0.5；qualified_tied_empirical_percentile；所有17偏好权重均为1。n=1时实现比较分为1。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台把任务输入、持续进度、标准历史、候选结果与证据回查放在同一个研究上下文。用户切换页面后仍能看到当前阶段和活动。暂停在活动边界保存状态；标准编辑保留新版本，历史快照继续可读。阶段轨道显示当前活动与已完成阶段。研究者可以进入标准历史核对变化，或从候选逐项结果进入实际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实际UI记录：README.md Research workbench；design_audit/fresh_browser_2026-10-16/UI_REVIEW.md；最终截图见assets.json。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最新实例从浏览器Settings和New research开始。配置均为mid，四个并发工作者。候选库有3177个药物。口服是硬条件，CSF1R、VEGFR1、VEGFR2、VEGFR3和FGFR1是必需范围。新任务没有继承旧标准，固定证据后重新提出CQA。原输入披露Surufatinib为参考候选；生成排除明确提及它的事实，候选评估仍按统一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实际任务：design_audit/fresh_browser_2026-10-16/results-snapshot2/task.json；task_01M52CBE5GYPK9F0MCZYBMPH84。此任务是reference_disclosed；生成阶段排除了明确提及参考候选的事实。</a:t>
            </a:r>
          </a:p>
          <a:p xmlns:a="http://schemas.openxmlformats.org/drawingml/2006/main">
            <a:r>
              <a:t>配置原始截图24-formal-settings-mid.jpg；正式科学运行记录费用约$4.2101，费用记录保持。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始6项任务绑定包含五靶点与口服。按目标覆盖、口服相关性质、代谢稳定性和安全性提出1911条提议，加上任务绑定达到1917工作项。三轮提炼后依次剩147、68和53个当前工作项。这里每个数量都采用同一工作记录口径，含尚待处理的记录。数量变化可回到具体修改、合并和移除，例如前述分子量六父合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实际CQA：design_audit/fresh_browser_2026-10-16/results-snapshot2/cqa.json、source-cqa-history.json、stages.json；工作记录口径active_registered_plus_unregistered_proposals。</a:t>
            </a:r>
          </a:p>
          <a:p xmlns:a="http://schemas.openxmlformats.org/drawingml/2006/main">
            <a:r>
              <a:t>精确stage after：0,6,293,504,1192,1917,1373,1337,291,147,109,97,78,68,63,62,53,53；promote=53。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53个工作项包括45个已注册和8个未注册提议。本次评估启用31条，即1个硬条件、17个偏好与13个参考。其余22个没有进入评估，包括14个已注册延后和8个未注册待处理。5个未解决复核是14中的子集。延后原因包括执行定义不完整和审查未解。最佳logP区间与机制engagement项给出了具体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实际CQA：design_audit/fresh_browser_2026-10-16/results-snapshot2/cqa.json、source-cqa-history.json、stages.json；工作记录口径active_registered_plus_unregistered_proposals。</a:t>
            </a:r>
          </a:p>
          <a:p xmlns:a="http://schemas.openxmlformats.org/drawingml/2006/main">
            <a:r>
              <a:t>var/fresh-browser-20261016/frozen-criteria-summary.json/.csv；53refs唯一。规则集rules@v2保留同样计数，四描述符仅版本迁移。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服硬条件由保存的人类临床给药句支持。句中的250mg是给药信息，是否口服的判断来自明确的orally表述及候选归属。五个必需靶点都有直接测量记录，任务范围5/5已回答。表中的pChEMBL是按冻结属性汇总的值，有的来自多条测量。它们进入效力排序；本任务把这些效力值用于排序，未设置统一的效力硬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事实来源：results-snapshot2/surufatinib.json 中 detail.evidence；原文、locator、claim/source hash及reading depth保留。事实manifest为art_dd17f6345b54。</a:t>
            </a:r>
          </a:p>
          <a:p xmlns:a="http://schemas.openxmlformats.org/drawingml/2006/main">
            <a:r>
              <a:t>口服示例claim_01M52QZFZHBESVFSHMK8TX8AGV，DOI10.1080/07853890.2026.2698360，sec2.3.p1。实际评分复算：var/usability-score-20261017/new-suruf-score-details.json/.csv；snapshot=lb_task_01M52CBE5GYPK9F0MCZYBMPH84_2；run=run_01M52Q4VRB00T5Z3QJW08SSV96；rules@v2；source score=0.7592592592592593。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表列出17个偏好中的9个。每项权重都为1。总分贡献为该项标准化比较分除以15。五个靶点按合格且有值者计算分位数。分子量480.6Da满足500Da偏好线，所以比较分为1。RDKit和结构警报是确定性计算。BRENK有八人并列，因此比较分为0.6111；NIH的十个候选同为零，比较分为0.5。准确值、路线和每条原始观察都在附带评分表和保存记录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实际评分复算：var/usability-score-20261017/new-suruf-score-details.json/.csv；snapshot=lb_task_01M52CBE5GYPK9F0MCZYBMPH84_2；run=run_01M52Q4VRB00T5Z3QJW08SSV96；rules@v2；source score=0.7592592592592593。</a:t>
            </a:r>
          </a:p>
          <a:p xmlns:a="http://schemas.openxmlformats.org/drawingml/2006/main">
            <a:r>
              <a:t>rule_csf1r-curated-potency@v1</a:t>
            </a:r>
          </a:p>
          <a:p xmlns:a="http://schemas.openxmlformats.org/drawingml/2006/main">
            <a:r>
              <a:t>rule_vegfr1-curated-potency@v1</a:t>
            </a:r>
          </a:p>
          <a:p xmlns:a="http://schemas.openxmlformats.org/drawingml/2006/main">
            <a:r>
              <a:t>rule_vegfr2-curated-potency@v1</a:t>
            </a:r>
          </a:p>
          <a:p xmlns:a="http://schemas.openxmlformats.org/drawingml/2006/main">
            <a:r>
              <a:t>rule_vegfr3-curated-potency@v1</a:t>
            </a:r>
          </a:p>
          <a:p xmlns:a="http://schemas.openxmlformats.org/drawingml/2006/main">
            <a:r>
              <a:t>rule_fgfr1-curated-potency@v1</a:t>
            </a:r>
          </a:p>
          <a:p xmlns:a="http://schemas.openxmlformats.org/drawingml/2006/main">
            <a:r>
              <a:t>rule_molecular-weight-da@v1</a:t>
            </a:r>
          </a:p>
          <a:p xmlns:a="http://schemas.openxmlformats.org/drawingml/2006/main">
            <a:r>
              <a:t>rule_predicted-logp-rdkit@v2</a:t>
            </a:r>
          </a:p>
          <a:p xmlns:a="http://schemas.openxmlformats.org/drawingml/2006/main">
            <a:r>
              <a:t>rule_predicted-brenk-alert-count@v2</a:t>
            </a:r>
          </a:p>
          <a:p xmlns:a="http://schemas.openxmlformats.org/drawingml/2006/main">
            <a:r>
              <a:t>rule_predicted-nih-alert-count@v2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表列余下8个偏好。五项模型预测参与辅助分数，但不增加直接证据覆盖。F%和Tmax缺证，保留在适用偏好的17项分母中；它们不进入本轮有值项的分数分母。15个有值项的比较分合计11.3888888889，除以权重总和15得到0.7592592593。直接证据另有10项，除以17得到58.82%，高于冻结的50%排位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实际评分复算：var/usability-score-20261017/new-suruf-score-details.json/.csv；snapshot=lb_task_01M52CBE5GYPK9F0MCZYBMPH84_2；run=run_01M52Q4VRB00T5Z3QJW08SSV96；rules@v2；source score=0.7592592592592593。</a:t>
            </a:r>
          </a:p>
          <a:p xmlns:a="http://schemas.openxmlformats.org/drawingml/2006/main">
            <a:r>
              <a:t>rule_predicted-pains-alert-count@v2</a:t>
            </a:r>
          </a:p>
          <a:p xmlns:a="http://schemas.openxmlformats.org/drawingml/2006/main">
            <a:r>
              <a:t>rule_predicted-blood-brain-barrier-penetration-probability-bbb-ma@v1</a:t>
            </a:r>
          </a:p>
          <a:p xmlns:a="http://schemas.openxmlformats.org/drawingml/2006/main">
            <a:r>
              <a:t>rule_predicted-cyp1a2-inhibition-probability@v1</a:t>
            </a:r>
          </a:p>
          <a:p xmlns:a="http://schemas.openxmlformats.org/drawingml/2006/main">
            <a:r>
              <a:t>rule_predicted-cyp2c19-inhibition-probability@v1</a:t>
            </a:r>
          </a:p>
          <a:p xmlns:a="http://schemas.openxmlformats.org/drawingml/2006/main">
            <a:r>
              <a:t>rule_predicted-cyp2c9-inhibition-probability@v1</a:t>
            </a:r>
          </a:p>
          <a:p xmlns:a="http://schemas.openxmlformats.org/drawingml/2006/main">
            <a:r>
              <a:t>rule_predicted-cyp2c9-substrate-probability@v1</a:t>
            </a:r>
          </a:p>
          <a:p xmlns:a="http://schemas.openxmlformats.org/drawingml/2006/main">
            <a:r>
              <a:t>rule_oral-bioavailability-human-measured-f@v1</a:t>
            </a:r>
          </a:p>
          <a:p xmlns:a="http://schemas.openxmlformats.org/drawingml/2006/main">
            <a:r>
              <a:t>rule_time-to-maximum-plasma-concentration-tmax-median-of-reported@v1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3177个候选中10个合格并排名，3167个待补证据，明确淘汰和未评估均为零。Surufatinib排名1/10，分数0.7593。首次保存结果有6个合格候选，均未达到排位要求；Surufatinib的直接偏好覆盖为6/17，约35%，因此没有名次。后续纠正了已有事实复用与四个结构描述符的证据分类，另存第二快照。硬条件、权重和覆盖要求未改。排名表示当前冻结标准下的研究优先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独立核算：design_audit/fresh_browser_2026-10-16/audit/snapshot2-summary.md、snapshot2-audit.json；34/34检查通过。评估3177×31=98487单元；snapshot lb_task_01M52CBE5GYPK9F0MCZYBMPH84_2。</a:t>
            </a:r>
          </a:p>
          <a:p xmlns:a="http://schemas.openxmlformats.org/drawingml/2006/main">
            <a:r>
              <a:t>首次snapshot1保留：direct6/17；最终snapshot2 direct10/17；所有旧artifact hashes核对。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候选逐项结果连接实际采用的证据，证据再连接保存的原文和上下文。FGFR1汇总采用四条记录：34nM原文转换为pChEMBL约7.4685，另有7.82、7.82及7.2800，按中位数得到7.6443。新的证据分组将测量数值、结构计算和支持研究用途的文献分开展示。部分结构偏好的用途依据较间接，研究者可以据此判断下一步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事实来源：results-snapshot2/surufatinib.json 中 detail.evidence；原文、locator、claim/source hash及reading depth保留。事实manifest为art_dd17f6345b54。</a:t>
            </a:r>
          </a:p>
          <a:p xmlns:a="http://schemas.openxmlformats.org/drawingml/2006/main">
            <a:r>
              <a:t>实际评分复算：var/usability-score-20261017/new-suruf-score-details.json/.csv；snapshot=lb_task_01M52CBE5GYPK9F0MCZYBMPH84_2；run=run_01M52Q4VRB00T5Z3QJW08SSV96；rules@v2；source score=0.7592592592592593。</a:t>
            </a:r>
          </a:p>
          <a:p xmlns:a="http://schemas.openxmlformats.org/drawingml/2006/main">
            <a:r>
              <a:t>FGFR1 raw values:[34nM,7.82pChEMBL,7.82pChEMBL,7.28000020980835pChEMBL]；34nM转换=-log10(34e-9)；median=7.6442605414788725。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有数据入口接受稳定候选ID及逐条观测，保留性质、值、单位、条件和来源。合成载体示例里，粒径来自DLS条件，细胞活率是硬要求，递送效率用于排序，表面电荷只有记录要求而无方向偏好。上传的依据类型保留用户的声明。药物实例后续可补人F%、Tmax和Food-AUC，明确四项参考的判读方法，并检验间接结构偏好的研究价值。交付包括可编辑汇报、讲稿、完整候选、评分明细及标准和证据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合成工程示例：design_audit/workbench_usability_2026-10-16/FINAL_ACCEPTANCE.md；var/workbench-usability/fixtures/carriers.csv与carrier-measurements.csv。数据明确为synthetic engineering fixture，不是实验证据。</a:t>
            </a:r>
          </a:p>
          <a:p xmlns:a="http://schemas.openxmlformats.org/drawingml/2006/main">
            <a:r>
              <a:t>原药物未知项与context状态：独立核算：design_audit/fresh_browser_2026-10-16/audit/snapshot2-summary.md、snapshot2-audit.json；34/34检查通过。评估3177×31=98487单元；snapshot lb_task_01M52CBE5GYPK9F0MCZYBMPH84_2。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9ef6b32c3945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82314f9d824a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45a952ba242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1c71951e04e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d9a7ed26d4e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6d47f3b6b48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8684D9-139F-46FA-81EE-BC26FD8916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9845C7-94D0-47EA-9B8E-5B1C8096DB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F7729C0-78FC-44CA-9820-45E355387F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1B1486-F78E-4F97-8D11-981E1F5842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86BD11-A0BF-40B6-8EFE-C4B8261220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913091-2C31-4501-9235-B1AB78A97B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869D1E-8E10-41B6-A544-5A7FAACEFE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A1B5D3-E7AF-4E41-94BA-9D93C0E7A0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4EDCF0-B9CF-482D-A421-CF5B987AF9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EF21B7-15C2-44F9-A471-001ED74865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20e35ba9b247d9" /><Relationship Type="http://schemas.openxmlformats.org/officeDocument/2006/relationships/slideLayout" Target="/ppt/slideLayouts/slideLayout1.xml" Id="R095b223d04e0468f" /><Relationship Type="http://schemas.openxmlformats.org/officeDocument/2006/relationships/slideLayout" Target="/ppt/slideLayouts/slideLayout2.xml" Id="Racb6b7ce52a14155" /><Relationship Type="http://schemas.openxmlformats.org/officeDocument/2006/relationships/slideLayout" Target="/ppt/slideLayouts/slideLayout3.xml" Id="R5952b054321a47b8" /><Relationship Type="http://schemas.openxmlformats.org/officeDocument/2006/relationships/slideLayout" Target="/ppt/slideLayouts/slideLayout4.xml" Id="Ra6ac8f748ca8406d" /><Relationship Type="http://schemas.openxmlformats.org/officeDocument/2006/relationships/slideLayout" Target="/ppt/slideLayouts/slideLayout5.xml" Id="R26175adbb45c408a" /><Relationship Type="http://schemas.openxmlformats.org/officeDocument/2006/relationships/slideLayout" Target="/ppt/slideLayouts/slideLayout6.xml" Id="R93c190a4798647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5b223d04e0468f"/>
    <p:sldLayoutId xmlns:r="http://schemas.openxmlformats.org/officeDocument/2006/relationships" id="2147483650" r:id="Racb6b7ce52a14155"/>
    <p:sldLayoutId xmlns:r="http://schemas.openxmlformats.org/officeDocument/2006/relationships" id="2147483651" r:id="R5952b054321a47b8"/>
    <p:sldLayoutId xmlns:r="http://schemas.openxmlformats.org/officeDocument/2006/relationships" id="2147483652" r:id="Ra6ac8f748ca8406d"/>
    <p:sldLayoutId xmlns:r="http://schemas.openxmlformats.org/officeDocument/2006/relationships" id="2147483653" r:id="R26175adbb45c408a"/>
    <p:sldLayoutId xmlns:r="http://schemas.openxmlformats.org/officeDocument/2006/relationships" id="2147483654" r:id="R93c190a4798647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a6320a941b4cd7" /><Relationship Type="http://schemas.openxmlformats.org/officeDocument/2006/relationships/notesSlide" Target="/ppt/notesSlides/notesSlide1.xml" Id="R657a92dc22ae42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0198a6d0264fe7" /><Relationship Type="http://schemas.openxmlformats.org/officeDocument/2006/relationships/notesSlide" Target="/ppt/notesSlides/notesSlide2.xml" Id="R9af77266cbe446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65016e62c349c4" /><Relationship Type="http://schemas.openxmlformats.org/officeDocument/2006/relationships/notesSlide" Target="/ppt/notesSlides/notesSlide3.xml" Id="R9413326ea53547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7f2065fe564057" /><Relationship Type="http://schemas.openxmlformats.org/officeDocument/2006/relationships/notesSlide" Target="/ppt/notesSlides/notesSlide4.xml" Id="Re90267fddbde42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41f6a39d5a41f1" /><Relationship Type="http://schemas.openxmlformats.org/officeDocument/2006/relationships/notesSlide" Target="/ppt/notesSlides/notesSlide5.xml" Id="R67d3fe0a66674d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194027720046f8" /><Relationship Type="http://schemas.openxmlformats.org/officeDocument/2006/relationships/notesSlide" Target="/ppt/notesSlides/notesSlide6.xml" Id="R081619cd233148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44965b569343ad" /><Relationship Type="http://schemas.openxmlformats.org/officeDocument/2006/relationships/notesSlide" Target="/ppt/notesSlides/notesSlide7.xml" Id="R07b77b5795c84e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ff3be945a04b66" /><Relationship Type="http://schemas.openxmlformats.org/officeDocument/2006/relationships/notesSlide" Target="/ppt/notesSlides/notesSlide8.xml" Id="R7f411bbd494943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1a78f21f1b4c07" /><Relationship Type="http://schemas.openxmlformats.org/officeDocument/2006/relationships/notesSlide" Target="/ppt/notesSlides/notesSlide9.xml" Id="R9c5202f29afe4d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27c450a5d642ea" /><Relationship Type="http://schemas.openxmlformats.org/officeDocument/2006/relationships/notesSlide" Target="/ppt/notesSlides/notesSlide10.xml" Id="Reeca9c0c8f5b44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c7ed2cbfc44891" /><Relationship Type="http://schemas.openxmlformats.org/officeDocument/2006/relationships/notesSlide" Target="/ppt/notesSlides/notesSlide11.xml" Id="Re73f83aa477f49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294c6f5fd44290" /><Relationship Type="http://schemas.openxmlformats.org/officeDocument/2006/relationships/notesSlide" Target="/ppt/notesSlides/notesSlide12.xml" Id="Rdf59a210c6cc48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2df7beaa3e4449" /><Relationship Type="http://schemas.openxmlformats.org/officeDocument/2006/relationships/notesSlide" Target="/ppt/notesSlides/notesSlide13.xml" Id="R6fc38c65125941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ec613c1d07415c" /><Relationship Type="http://schemas.openxmlformats.org/officeDocument/2006/relationships/notesSlide" Target="/ppt/notesSlides/notesSlide14.xml" Id="R87944850e5d14c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5cfe22a518413a" /><Relationship Type="http://schemas.openxmlformats.org/officeDocument/2006/relationships/image" Target="/ppt/media/image.jpeg" Id="Re9daa8ae59f84ec9" /><Relationship Type="http://schemas.openxmlformats.org/officeDocument/2006/relationships/notesSlide" Target="/ppt/notesSlides/notesSlide15.xml" Id="R13b747fd779947b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6baa51132c4987" /><Relationship Type="http://schemas.openxmlformats.org/officeDocument/2006/relationships/image" Target="/ppt/media/image2.jpeg" Id="R4b04016e38914ac7" /><Relationship Type="http://schemas.openxmlformats.org/officeDocument/2006/relationships/notesSlide" Target="/ppt/notesSlides/notesSlide16.xml" Id="Rbfec713d462640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398dcb4c584123" /><Relationship Type="http://schemas.openxmlformats.org/officeDocument/2006/relationships/chart" Target="/ppt/slides/charts/chart1.xml" Id="Rda457999436f4185" /><Relationship Type="http://schemas.openxmlformats.org/officeDocument/2006/relationships/notesSlide" Target="/ppt/notesSlides/notesSlide17.xml" Id="R99a4c19c173842b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123e2021184159" /><Relationship Type="http://schemas.openxmlformats.org/officeDocument/2006/relationships/notesSlide" Target="/ppt/notesSlides/notesSlide18.xml" Id="R8a5ba0efdca3478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7abec3c65b4d14" /><Relationship Type="http://schemas.openxmlformats.org/officeDocument/2006/relationships/notesSlide" Target="/ppt/notesSlides/notesSlide19.xml" Id="R45bae762f82a40f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fc995a71d44fe" /><Relationship Type="http://schemas.openxmlformats.org/officeDocument/2006/relationships/notesSlide" Target="/ppt/notesSlides/notesSlide20.xml" Id="R530162c1cfdc455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87183e9ee54463" /><Relationship Type="http://schemas.openxmlformats.org/officeDocument/2006/relationships/notesSlide" Target="/ppt/notesSlides/notesSlide21.xml" Id="R8b3e04251a0b452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88cf4d6d624273" /><Relationship Type="http://schemas.openxmlformats.org/officeDocument/2006/relationships/notesSlide" Target="/ppt/notesSlides/notesSlide22.xml" Id="Rb5c0cfecb8b24e4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222eb74a46419e" /><Relationship Type="http://schemas.openxmlformats.org/officeDocument/2006/relationships/image" Target="/ppt/media/image3.jpeg" Id="R6aba023211d947c9" /><Relationship Type="http://schemas.openxmlformats.org/officeDocument/2006/relationships/notesSlide" Target="/ppt/notesSlides/notesSlide23.xml" Id="R6c54b0c07848430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0abee283034ae6" /><Relationship Type="http://schemas.openxmlformats.org/officeDocument/2006/relationships/notesSlide" Target="/ppt/notesSlides/notesSlide24.xml" Id="R436fd14e5ffb4e0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工作记录</c:v>
          </c:tx>
          <c:spPr>
            <a:solidFill xmlns:a="http://schemas.openxmlformats.org/drawingml/2006/main">
              <a:srgbClr val="397DB1"/>
            </a:solidFill>
          </c:spPr>
          <c:invertIfNegative val="0"/>
          <c:cat>
            <c:strRef>
              <c:f>'Chart Data'!$A$2:$A$10</c:f>
              <c:strCache>
                <c:ptCount val="9"/>
                <c:pt idx="0">
                  <c:v>起点</c:v>
                </c:pt>
                <c:pt idx="1">
                  <c:v>任务绑定</c:v>
                </c:pt>
                <c:pt idx="2">
                  <c:v>目标覆盖</c:v>
                </c:pt>
                <c:pt idx="3">
                  <c:v>口服性质</c:v>
                </c:pt>
                <c:pt idx="4">
                  <c:v>代谢稳定</c:v>
                </c:pt>
                <c:pt idx="5">
                  <c:v>安全性</c:v>
                </c:pt>
                <c:pt idx="6">
                  <c:v>第一轮后</c:v>
                </c:pt>
                <c:pt idx="7">
                  <c:v>第二轮后</c:v>
                </c:pt>
                <c:pt idx="8">
                  <c:v>第三轮后</c:v>
                </c:pt>
              </c:strCache>
            </c:strRef>
          </c:cat>
          <c:val>
            <c:numRef>
              <c:f>'Chart Data'!$B$2:$B$10</c:f>
              <c:numCache>
                <c:formatCode>0</c:formatCode>
                <c:ptCount val="9"/>
                <c:pt idx="0">
                  <c:v>0</c:v>
                </c:pt>
                <c:pt idx="1">
                  <c:v>6</c:v>
                </c:pt>
                <c:pt idx="2">
                  <c:v>293</c:v>
                </c:pt>
                <c:pt idx="3">
                  <c:v>504</c:v>
                </c:pt>
                <c:pt idx="4">
                  <c:v>1192</c:v>
                </c:pt>
                <c:pt idx="5">
                  <c:v>1917</c:v>
                </c:pt>
                <c:pt idx="6">
                  <c:v>147</c:v>
                </c:pt>
                <c:pt idx="7">
                  <c:v>68</c:v>
                </c:pt>
                <c:pt idx="8">
                  <c:v>53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02D37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D9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CFD9E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767C8-D880-435F-82B8-6860168D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MAS 研究工作台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DFAFF-5071-4D39-B9F2-088CA06B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D750B-12E1-4EEE-97F2-AB6717C0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流程、组件与一次完整研究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79DA1-77E7-4F23-8481-33144530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1104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研究目标与候选库输入后，系统建立有证据来源的标准，</a:t>
            </a:r>
          </a:p>
          <a:p xmlns:a="http://schemas.openxmlformats.org/drawingml/2006/main">
            <a:pPr algn="l">
              <a:defRPr sz="240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完成审查、逐项评估和排序，并保存修改理由与未知项。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DF9DE-5042-43A7-AE69-203A2E20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768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397DB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397D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397DB1"/>
                </a:solidFill>
                <a:latin typeface="Microsoft YaHei"/>
                <a:ea typeface="Microsoft YaHei"/>
                <a:cs typeface="Microsoft YaHei"/>
              </a:rPr>
              <a:t>实例：单一口服药物的多靶点研究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666C5-B7F4-4636-92CB-5E2C93E4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2026 年 10 月 17 日</a:t>
            </a:r>
          </a:p>
        </p:txBody>
      </p:sp>
    </p:spTree>
    <p:extLst>
      <p:ext uri="{BB962C8B-B14F-4D97-AF65-F5344CB8AC3E}">
        <p14:creationId xmlns:p14="http://schemas.microsoft.com/office/powerpoint/2010/main" val="188534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9B2E4-7F55-45EF-BED7-96EA7DB3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完整研究流程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01955-B9AF-4B06-9CB3-A8EA1E67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F19DB-9D09-460E-9DDB-7F37E021491B}"/>
              </a:ext>
            </a:extLst>
          </p:cNvPr>
          <p:cNvGraphicFramePr/>
          <p:nvPr/>
        </p:nvGraphicFramePr>
        <p:xfrm>
          <a:off xmlns:a="http://schemas.openxmlformats.org/drawingml/2006/main" x="571500" y="1257300"/>
          <a:ext xmlns:a="http://schemas.openxmlformats.org/drawingml/2006/main" cx="11049000" cy="4695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43125"/>
                <a:gridCol w="5334000"/>
                <a:gridCol w="3571875"/>
              </a:tblGrid>
              <a:tr h="52175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输入与处理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产物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</a:tr>
              <a:tr h="52175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设置与任务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目标、条件、范围、候选库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结构化任务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175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证据准备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固定来源、事实与可用工具记录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可回查的事实集合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175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标准提出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按研究维度提出属性及用途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候选标准（CQA）池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175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批评与提炼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检查、明确、修订、合并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带谱系的当前工作集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175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审查与冻结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处理争议，核对可执行规则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固定评估方案及延后清单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175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逐项评估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为候选读取事实并应用规则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值、判定、原因和证据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175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资格与排序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先满足门槛，再计算偏好分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合格榜与待补清单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175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回查与继续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看原文、改标准、补充材料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新版本和新结果快照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52930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5D714-FD95-49D1-BDF1-A38EE080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任务输入与规范化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627E5-54FC-4EA1-993D-C8CBB757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1D712-D3B9-4560-AE9F-60E44CB7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1049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“寻找可口服、同时涉及 CSF1R、VEGFR1、VEGFR2、</a:t>
            </a:r>
          </a:p>
          <a:p xmlns:a="http://schemas.openxmlformats.org/drawingml/2006/main">
            <a:pPr algn="l">
              <a:defRPr sz="232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VEGFR3 和 FGFR1 的单一药物。”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9C639-5627-4557-A4EE-724E57273F28}"/>
              </a:ext>
            </a:extLst>
          </p:cNvPr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3238500"/>
                <a:gridCol w="4953000"/>
              </a:tblGrid>
              <a:tr h="571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原始要求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规范化后的用途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口服给药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硬条件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有明确产品或人类临床口服记录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五个靶点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必需研究范围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每个靶点均要有直接证据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更合适的药理性质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排序偏好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从证据提出可比较的性质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含糊的性质或条件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待回答问题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具体补问后重新核对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49CE6-724E-43E4-A638-1F9D3F45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输出固定研究范围，后续标准与评估都引用这一任务版本。</a:t>
            </a:r>
          </a:p>
        </p:txBody>
      </p:sp>
    </p:spTree>
    <p:extLst>
      <p:ext uri="{BB962C8B-B14F-4D97-AF65-F5344CB8AC3E}">
        <p14:creationId xmlns:p14="http://schemas.microsoft.com/office/powerpoint/2010/main" val="4074600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0BC73-8D9A-4106-A2C9-B23B2929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证据集合与候选库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39080-A275-464A-A2E4-EDEB5261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2B9A2-84A0-4D24-89B4-6F0F95EB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候选库定义评谁，证据集合定义依据什么。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B4AD4-7EA6-4F94-9AEE-8A97E7E37CAF}"/>
              </a:ext>
            </a:extLst>
          </p:cNvPr>
          <p:cNvGraphicFramePr/>
          <p:nvPr/>
        </p:nvGraphicFramePr>
        <p:xfrm>
          <a:off xmlns:a="http://schemas.openxmlformats.org/drawingml/2006/main" x="571500" y="2095500"/>
          <a:ext xmlns:a="http://schemas.openxmlformats.org/drawingml/2006/main" cx="11049000" cy="3067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4953000"/>
                <a:gridCol w="3810000"/>
              </a:tblGrid>
              <a:tr h="6134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包含的内容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本轮处理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稳定身份与可读名称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 3,177 个药物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文献事实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发现、数值、单位、条件与原文位置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复用已保存材料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工具事实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登记字段、测量、结构计算或预测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保留原方法与版本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标准生成材料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按目标与研究维度分配事实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排除明确提及参考候选的事实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5CFAF-9813-45BF-8356-9473FF8F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本轮复用既有文献与计算记录，CQA 从空集合重新建立。</a:t>
            </a:r>
          </a:p>
        </p:txBody>
      </p:sp>
    </p:spTree>
    <p:extLst>
      <p:ext uri="{BB962C8B-B14F-4D97-AF65-F5344CB8AC3E}">
        <p14:creationId xmlns:p14="http://schemas.microsoft.com/office/powerpoint/2010/main" val="8195910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2CC92-15A2-4537-BB65-6F7DD6CB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一条证据记录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FC2DE-4152-41C7-9CA8-20A8055C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ABEE4-C6E9-42A1-9E74-8FF03FED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104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“sulfatinib demonstrated potent inhibition of FGFR1 and CSF-1R,</a:t>
            </a:r>
          </a:p>
          <a:p xmlns:a="http://schemas.openxmlformats.org/drawingml/2006/main">
            <a: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with IC50 values of 34 and 5 nM, respectively”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0BEA5-0736-45A5-A476-8B4819499281}"/>
              </a:ext>
            </a:extLst>
          </p:cNvPr>
          <p:cNvGraphicFramePr/>
          <p:nvPr/>
        </p:nvGraphicFramePr>
        <p:xfrm>
          <a:off xmlns:a="http://schemas.openxmlformats.org/drawingml/2006/main" x="571500" y="2733675"/>
          <a:ext xmlns:a="http://schemas.openxmlformats.org/drawingml/2006/main" cx="11049000" cy="2914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8191500"/>
              </a:tblGrid>
              <a:tr h="4857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记录字段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FGFR1 例子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研究对象与性质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Surufatinib，FGFR1 的 IC50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值与单位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 nM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实验背景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体外激酶实验，条件缺项继续保留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原文位置与来源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期刊论文的已保存段落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后续使用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按标准转换与汇总，连同原始记录回查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72AAA-2DBC-49BF-815B-B0FA7B8D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原文报告、计算使用的数值与研究解释分别保存。</a:t>
            </a:r>
          </a:p>
        </p:txBody>
      </p:sp>
    </p:spTree>
    <p:extLst>
      <p:ext uri="{BB962C8B-B14F-4D97-AF65-F5344CB8AC3E}">
        <p14:creationId xmlns:p14="http://schemas.microsoft.com/office/powerpoint/2010/main" val="10173793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67A6C-1ECE-4A2C-A33E-425283A7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提出、批评与裁决的分工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898BB-860E-40E5-9BF2-A117BCBC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914E9-A89F-4135-BC2B-4CF8B7435EF5}"/>
              </a:ext>
            </a:extLst>
          </p:cNvPr>
          <p:cNvGraphicFramePr/>
          <p:nvPr/>
        </p:nvGraphicFramePr>
        <p:xfrm>
          <a:off xmlns:a="http://schemas.openxmlformats.org/drawingml/2006/main" x="571500" y="1362075"/>
          <a:ext xmlns:a="http://schemas.openxmlformats.org/drawingml/2006/main" cx="11049000" cy="28289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2857500"/>
                <a:gridCol w="3429000"/>
                <a:gridCol w="2762250"/>
              </a:tblGrid>
              <a:tr h="70723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收到什么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做什么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交回什么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</a:tr>
              <a:tr h="70723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Proposer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任务、事实与属性模板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提出属性、规则并修订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提议与依据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23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Critic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提议及其可引用材料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指出支持、条件或反例问题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具体发现与处理建议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23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Adjudicator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争议、原文和解释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核对推断及适用性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决定、理由与剩余争议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52631-F3EB-4476-B1FD-F7FCAA04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76775"/>
            <a:ext cx="1104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分子量例子：500 Da 来自经验范围。</a:t>
            </a:r>
          </a:p>
          <a:p xmlns:a="http://schemas.openxmlformats.org/drawingml/2006/main">
            <a: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批评后，修订明确其偏好用途与适用性，再由机器复核。</a:t>
            </a:r>
          </a:p>
        </p:txBody>
      </p:sp>
    </p:spTree>
    <p:extLst>
      <p:ext uri="{BB962C8B-B14F-4D97-AF65-F5344CB8AC3E}">
        <p14:creationId xmlns:p14="http://schemas.microsoft.com/office/powerpoint/2010/main" val="12948276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2A938-BA85-470D-B54B-33039898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属性与决策规则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56EF1-6662-44CA-93AB-A80BD904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9E59A-698C-4598-A61A-9675AFB0EBC0}"/>
              </a:ext>
            </a:extLst>
          </p:cNvPr>
          <p:cNvGraphicFramePr/>
          <p:nvPr/>
        </p:nvGraphicFramePr>
        <p:xfrm>
          <a:off xmlns:a="http://schemas.openxmlformats.org/drawingml/2006/main" x="571500" y="1362075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4238625"/>
                <a:gridCol w="4429125"/>
              </a:tblGrid>
              <a:tr h="650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分子量实例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CSF1R 实例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属性是什么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结构计算分子量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直接效力测量的 pChEMBL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单位与汇总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Da，按声明的中位数汇总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pChEMBL，中位数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规则用途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偏好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偏好，兼具必需范围绑定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比较方式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≤500 Da 的阈值比较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越高越优的连续排序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缺失处理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保留缺证状态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缺直接证据阻断本任务资格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2137E-F533-42E0-B520-2144DF3E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CQA 指研究中需要判断的性质。属性定义测什么，规则说明怎样使用。</a:t>
            </a:r>
          </a:p>
        </p:txBody>
      </p:sp>
    </p:spTree>
    <p:extLst>
      <p:ext uri="{BB962C8B-B14F-4D97-AF65-F5344CB8AC3E}">
        <p14:creationId xmlns:p14="http://schemas.microsoft.com/office/powerpoint/2010/main" val="541921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6DC5F-2498-47C1-BEB8-FA7F7369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CQA 池的提炼操作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CAD89-A6C8-4AAD-B2D5-83B96472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A5CBF-8F77-4F19-B2EC-D0E3E53CDCBB}"/>
              </a:ext>
            </a:extLst>
          </p:cNvPr>
          <p:cNvGraphicFramePr/>
          <p:nvPr/>
        </p:nvGraphicFramePr>
        <p:xfrm>
          <a:off xmlns:a="http://schemas.openxmlformats.org/drawingml/2006/main" x="571500" y="1400175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33625"/>
                <a:gridCol w="4381500"/>
                <a:gridCol w="4333875"/>
              </a:tblGrid>
              <a:tr h="6953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一个具体例子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Filter 检查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识别缺支持、无效路线及已有覆盖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已注册靶点效力覆盖相同测量提议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Distill 明确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把宽泛表述变成具体测量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logP 区间提议补出 2–4 上下界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Refine 修订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回应单位、来源或解释问题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分子量经验线补明适用依据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Merge 合并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整合同量、同用途的提议与来源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多个分子量提议合成一个项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BB144-48E5-49C5-B46E-07CE3688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每次修改、合并和移除都有理由，原提议与父版本仍可查。</a:t>
            </a:r>
          </a:p>
        </p:txBody>
      </p:sp>
    </p:spTree>
    <p:extLst>
      <p:ext uri="{BB962C8B-B14F-4D97-AF65-F5344CB8AC3E}">
        <p14:creationId xmlns:p14="http://schemas.microsoft.com/office/powerpoint/2010/main" val="11198733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F12B4-D8D9-4ED8-8A6D-D366D9D2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实际谱系：分子量的合并与修订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AF1B4-CAAF-4F64-B645-CF354A9E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E0084-A3E1-434E-9202-406DBCB8998B}"/>
              </a:ext>
            </a:extLst>
          </p:cNvPr>
          <p:cNvGraphicFramePr/>
          <p:nvPr/>
        </p:nvGraphicFramePr>
        <p:xfrm>
          <a:off xmlns:a="http://schemas.openxmlformats.org/drawingml/2006/main" x="571500" y="1371600"/>
          <a:ext xmlns:a="http://schemas.openxmlformats.org/drawingml/2006/main" cx="11049000" cy="3381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43125"/>
                <a:gridCol w="5191125"/>
                <a:gridCol w="3714750"/>
              </a:tblGrid>
              <a:tr h="6762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发生了什么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保存的结果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第二轮 Merge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六个同量/用途提议整合来源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合并提议与六个原提议关联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第三轮 Critic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追问反例与经验线的依据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具体发现和待修问题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第三轮 Refine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 500 Da 为偏好经验解释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新版本、引用和适用说明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审查与冻结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核对解释及支持记录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机器复核接受后启用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46264-0325-43CE-BACC-F2F3D291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候选结构计算值为 480.6 Da。数值汇总与提议合并分别记录。</a:t>
            </a:r>
          </a:p>
        </p:txBody>
      </p:sp>
    </p:spTree>
    <p:extLst>
      <p:ext uri="{BB962C8B-B14F-4D97-AF65-F5344CB8AC3E}">
        <p14:creationId xmlns:p14="http://schemas.microsoft.com/office/powerpoint/2010/main" val="18805771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7F30A-4541-47EA-A0AD-12349617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硬条件、偏好与参考项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1668C-4AD8-4029-8192-C7A20520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01EA6-05AB-4FEE-94A7-CEBF9C4917AC}"/>
              </a:ext>
            </a:extLst>
          </p:cNvPr>
          <p:cNvGraphicFramePr/>
          <p:nvPr/>
        </p:nvGraphicFramePr>
        <p:xfrm>
          <a:off xmlns:a="http://schemas.openxmlformats.org/drawingml/2006/main" x="571500" y="137160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2571750"/>
                <a:gridCol w="3333750"/>
                <a:gridCol w="3143250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实际例子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有值后怎样使用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缺失的影响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硬条件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明确口服给药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核验是否满足要求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本例阻断资格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必需范围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五个靶点的直接证据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逐个确认范围已回答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进入待补证据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排序偏好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效力、分子量等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比较分进入加权平均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保留缺证与覆盖率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Food-AUC 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显示值、条件和判读状态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保留参考缺项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9F2CC-D676-4EEB-9EBA-2799F29B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连续偏好有值后参与比较，硬条件另作资格判断。</a:t>
            </a:r>
          </a:p>
        </p:txBody>
      </p:sp>
    </p:spTree>
    <p:extLst>
      <p:ext uri="{BB962C8B-B14F-4D97-AF65-F5344CB8AC3E}">
        <p14:creationId xmlns:p14="http://schemas.microsoft.com/office/powerpoint/2010/main" val="9002232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84EB8-7A57-409C-B648-21770B70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审查与冻结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672F6-E1CE-4466-B35B-8238A997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2A842-BD87-40D1-A4A8-07A19893F495}"/>
              </a:ext>
            </a:extLst>
          </p:cNvPr>
          <p:cNvGraphicFramePr/>
          <p:nvPr/>
        </p:nvGraphicFramePr>
        <p:xfrm>
          <a:off xmlns:a="http://schemas.openxmlformats.org/drawingml/2006/main" x="571500" y="1362075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715000"/>
                <a:gridCol w="5334000"/>
              </a:tblGrid>
              <a:tr h="5715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冻结核对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任务要求是否完整绑定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固定硬条件与必需范围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测量和单位是否可执行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确切属性、规则及证据路线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阈值和解释是否有支持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来源、适用性和审查理由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争议和未完成定义是否结清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启用或明确延后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A2000-4386-4196-8298-B03E9582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57725"/>
            <a:ext cx="1104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logP 实例：描述 2–4 最佳区间，原提议只写 ≥2。</a:t>
            </a:r>
          </a:p>
          <a:p xmlns:a="http://schemas.openxmlformats.org/drawingml/2006/main">
            <a: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后续定义与支持仍未一致，最终进入延后清单。</a:t>
            </a:r>
          </a:p>
        </p:txBody>
      </p:sp>
    </p:spTree>
    <p:extLst>
      <p:ext uri="{BB962C8B-B14F-4D97-AF65-F5344CB8AC3E}">
        <p14:creationId xmlns:p14="http://schemas.microsoft.com/office/powerpoint/2010/main" val="12357583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BA2DF-8017-4B69-8724-BF867120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工具执行与证据类型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A575A-AA9F-458B-923F-0B84E5ED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27FFB-DA87-47DD-9C44-E78498764396}"/>
              </a:ext>
            </a:extLst>
          </p:cNvPr>
          <p:cNvGraphicFramePr/>
          <p:nvPr/>
        </p:nvGraphicFramePr>
        <p:xfrm>
          <a:off xmlns:a="http://schemas.openxmlformats.org/drawingml/2006/main" x="571500" y="1390650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4286250"/>
                <a:gridCol w="3810000"/>
              </a:tblGrid>
              <a:tr h="7143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实际例子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证据含义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实测或整理的测量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靶点 IC50、pChEMBL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保留实验来源、单位和条件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确定性结构计算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分子量、RDKit logP、结构警报计数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从分子结构按固定算法计算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训练模型预测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CYP 抑制概率、BBB 概率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保存模型输出及方法版本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D59FA-1732-4FBE-A6C4-5F9B3048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95825"/>
            <a:ext cx="110490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缺少工具、读不到事实或单位与条件不匹配时，</a:t>
            </a:r>
          </a:p>
          <a:p xmlns:a="http://schemas.openxmlformats.org/drawingml/2006/main">
            <a: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结果保留具体未知原因。</a:t>
            </a:r>
          </a:p>
        </p:txBody>
      </p:sp>
    </p:spTree>
    <p:extLst>
      <p:ext uri="{BB962C8B-B14F-4D97-AF65-F5344CB8AC3E}">
        <p14:creationId xmlns:p14="http://schemas.microsoft.com/office/powerpoint/2010/main" val="18585172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36B50-BA9F-4080-930D-2AF60546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逐层筛选与两种评估模式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BB9C7-C3D6-4E89-97CA-68542A81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2C048-F9E0-4BD1-A5C1-84B0C969E661}"/>
              </a:ext>
            </a:extLst>
          </p:cNvPr>
          <p:cNvGraphicFramePr/>
          <p:nvPr/>
        </p:nvGraphicFramePr>
        <p:xfrm>
          <a:off xmlns:a="http://schemas.openxmlformats.org/drawingml/2006/main" x="571500" y="1400175"/>
          <a:ext xmlns:a="http://schemas.openxmlformats.org/drawingml/2006/main" cx="110490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667250"/>
                <a:gridCol w="1809750"/>
                <a:gridCol w="4572000"/>
              </a:tblGrid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当前事实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资格状态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后续处理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硬条件直接通过，必需证据齐全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计算全部可用偏好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硬条件有明确直接失败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淘汰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分阶段记录原因并跳过后续项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硬条件或必需证据缺失、冲突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继续检查其他门槛，列出缺项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缺少适用且已审查的硬条件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未就绪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先完成硬条件定义与审查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126C2-5E85-47AB-AFB0-77ED8964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8632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合成载体 C：细胞活率 55% &lt; 80%，明确淘汰，后续 4 格跳过。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EA8DA-6B74-4F8E-8F08-A99F259F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完整模式评完全部单元。分阶段模式节省硬失败后的工作，保留跳过原因。</a:t>
            </a:r>
          </a:p>
        </p:txBody>
      </p:sp>
    </p:spTree>
    <p:extLst>
      <p:ext uri="{BB962C8B-B14F-4D97-AF65-F5344CB8AC3E}">
        <p14:creationId xmlns:p14="http://schemas.microsoft.com/office/powerpoint/2010/main" val="3462772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477BB-2FAC-4686-8939-8E8D01E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偏好分数与直接证据覆盖率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56852-8F01-4E22-A7BC-F305B395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5E86B-8A28-4E05-92CB-A604B67F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连续偏好比较分 d = [较差候选数 + (并列候选数 − 1) / 2] / (n − 1)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5E9BD-880B-4411-8345-8B58FEAB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n 为该项有值的合格候选数，并列取平均位置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454CE-64E9-4B1A-9B97-2DED563B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最终分数 = Σ(w × d) / Σ(有可用值的 w)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F2C34-2631-40E6-9CA4-0E3BC50A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28975"/>
            <a:ext cx="1104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直接覆盖率 = 直接证据权重 / 全部适用偏好权重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FB9E1-CD50-4D54-898B-0B20FCB8B317}"/>
              </a:ext>
            </a:extLst>
          </p:cNvPr>
          <p:cNvGraphicFramePr/>
          <p:nvPr/>
        </p:nvGraphicFramePr>
        <p:xfrm>
          <a:off xmlns:a="http://schemas.openxmlformats.org/drawingml/2006/main" x="571500" y="4029075"/>
          <a:ext xmlns:a="http://schemas.openxmlformats.org/drawingml/2006/main" cx="11049000" cy="15906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048250"/>
                <a:gridCol w="6000750"/>
              </a:tblGrid>
              <a:tr h="530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BRENK 实际算例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n=10，2 个更差，8 个并列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= (2 + 3.5) / 9 = 0.611111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本轮可用偏好权重合计 15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对总分贡献 = d / 15 = 0.040741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C0C53-7F3A-4555-B0E6-06E18F95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本轮直接覆盖须达到 50% 才排位，预测仅辅助分数。</a:t>
            </a:r>
          </a:p>
        </p:txBody>
      </p:sp>
    </p:spTree>
    <p:extLst>
      <p:ext uri="{BB962C8B-B14F-4D97-AF65-F5344CB8AC3E}">
        <p14:creationId xmlns:p14="http://schemas.microsoft.com/office/powerpoint/2010/main" val="13194683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1AE74-269D-43C0-B0C5-7B7F0242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研究者工作台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1A9F7-EAF4-456F-82C1-653AE828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93626-D8D0-49E1-9740-80B9CEFB70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aa8ae59f84ec9"/>
          <a:srcRect xmlns:a="http://schemas.openxmlformats.org/drawingml/2006/main" l="0" t="0" r="1500" b="35000"/>
          <a:stretch xmlns:a="http://schemas.openxmlformats.org/drawingml/2006/main"/>
        </p:blipFill>
        <p:spPr>
          <a:xfrm xmlns:a="http://schemas.openxmlformats.org/drawingml/2006/main">
            <a:off x="1379787" y="1247775"/>
            <a:ext cx="9432425" cy="432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C0BA8-C1D2-45DF-B4D0-A398F995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常驻阶段与活动进度；标准历史、候选结果和证据在同一任务中连接。</a:t>
            </a:r>
          </a:p>
        </p:txBody>
      </p:sp>
    </p:spTree>
    <p:extLst>
      <p:ext uri="{BB962C8B-B14F-4D97-AF65-F5344CB8AC3E}">
        <p14:creationId xmlns:p14="http://schemas.microsoft.com/office/powerpoint/2010/main" val="6992373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31DE7-13A6-4B05-9C16-00BBCADE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实例起点：口服多靶点研究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7138E-DEFA-48EC-88BE-42A989AF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8E1E7-26B2-41E8-A8C1-740B2842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研究目标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5BBD3-ACA6-4CD4-8A94-16304B5D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4238625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单一口服候选</a:t>
            </a:r>
          </a:p>
          <a:p xmlns:a="http://schemas.openxmlformats.org/drawingml/2006/main">
            <a: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同时涉及五个靶点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候选库 3,177 个药物</a:t>
            </a:r>
          </a:p>
          <a:p xmlns:a="http://schemas.openxmlformats.org/drawingml/2006/main">
            <a: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标准从空集合开始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7877F-34C8-4CAD-903A-F66940292E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4016e38914ac7"/>
          <a:stretch xmlns:a="http://schemas.openxmlformats.org/drawingml/2006/main"/>
        </p:blipFill>
        <p:spPr>
          <a:xfrm xmlns:a="http://schemas.openxmlformats.org/drawingml/2006/main">
            <a:off x="5048250" y="1436543"/>
            <a:ext cx="6572250" cy="369916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0FA3D-5E8C-47B2-B878-66698BC0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977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本轮配置均为 mid，4 并发，复用固定已有证据。</a:t>
            </a:r>
          </a:p>
        </p:txBody>
      </p:sp>
    </p:spTree>
    <p:extLst>
      <p:ext uri="{BB962C8B-B14F-4D97-AF65-F5344CB8AC3E}">
        <p14:creationId xmlns:p14="http://schemas.microsoft.com/office/powerpoint/2010/main" val="4648993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18D7F-572F-4290-80EF-8C1812C8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实例中的标准展开与三轮提炼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F5620-896C-4EBB-BEFA-640805CA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F63AAC1D-9AAB-4FCA-896D-E4613E14BAE0}"/>
              </a:ext>
            </a:extLst>
          </p:cNvPr>
          <p:cNvGraphicFramePr/>
          <p:nvPr/>
        </p:nvGraphicFramePr>
        <p:xfrm>
          <a:off xmlns:a="http://schemas.openxmlformats.org/drawingml/2006/main" x="571500" y="1323975"/>
          <a:ext xmlns:a="http://schemas.openxmlformats.org/drawingml/2006/main" cx="1104900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457999436f418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33369-C311-48C1-B3C0-1411C650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1,917 = 6 项任务绑定 + 1,911 条提议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9CA84-9653-45E0-9180-6866D6E6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口径为当前注册标准与未注册提议合计，含待处理项。</a:t>
            </a:r>
          </a:p>
        </p:txBody>
      </p:sp>
    </p:spTree>
    <p:extLst>
      <p:ext uri="{BB962C8B-B14F-4D97-AF65-F5344CB8AC3E}">
        <p14:creationId xmlns:p14="http://schemas.microsoft.com/office/powerpoint/2010/main" val="2608652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B6814-C34D-4A34-998C-7488E18A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实例中的冻结方案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F78CC-3CAA-4D37-AA23-741B028D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5243C-DF94-47F5-B42A-3B488F52EB32}"/>
              </a:ext>
            </a:extLst>
          </p:cNvPr>
          <p:cNvGraphicFramePr/>
          <p:nvPr/>
        </p:nvGraphicFramePr>
        <p:xfrm>
          <a:off xmlns:a="http://schemas.openxmlformats.org/drawingml/2006/main" x="571500" y="1352550"/>
          <a:ext xmlns:a="http://schemas.openxmlformats.org/drawingml/2006/main" cx="11049000" cy="3552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1333500"/>
                <a:gridCol w="6667500"/>
              </a:tblGrid>
              <a:tr h="5921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当前用途或状态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这次怎样处理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硬条件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评估口服要求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排序偏好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其中有值项用于分数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显示观测及判读状态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已注册延后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项执行定义未全，5 项审查未解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未注册待处理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保留问题与原提议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44C5F-4615-45E7-8890-0AA19DFF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4352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31 条启用 + 22 条待处理 = 53 个当前工作项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DAF1C-8B84-4DB4-8019-63DCED4F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5 项审查未解属于 14 项已注册延后标准。</a:t>
            </a:r>
          </a:p>
        </p:txBody>
      </p:sp>
    </p:spTree>
    <p:extLst>
      <p:ext uri="{BB962C8B-B14F-4D97-AF65-F5344CB8AC3E}">
        <p14:creationId xmlns:p14="http://schemas.microsoft.com/office/powerpoint/2010/main" val="8978294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D6F36-C7D7-4B56-8D78-6987FDE2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实例中的口服与必需靶点证据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5D0A8-48A0-4B45-B591-D713F7E5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D0AFD-C7B0-431C-8649-D2DE3228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“In both cohorts, surufatinib was administered orally</a:t>
            </a:r>
          </a:p>
          <a:p xmlns:a="http://schemas.openxmlformats.org/drawingml/2006/main">
            <a: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at 250 mg once daily.”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AEE71-1134-4A85-B930-0A2C7765BFCF}"/>
              </a:ext>
            </a:extLst>
          </p:cNvPr>
          <p:cNvGraphicFramePr/>
          <p:nvPr/>
        </p:nvGraphicFramePr>
        <p:xfrm>
          <a:off xmlns:a="http://schemas.openxmlformats.org/drawingml/2006/main" x="571500" y="2647950"/>
          <a:ext xmlns:a="http://schemas.openxmlformats.org/drawingml/2006/main" cx="11049000" cy="2886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4000500"/>
                <a:gridCol w="3905250"/>
              </a:tblGrid>
              <a:tr h="48101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必需靶点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汇总效力（pChEMBL）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CSF1R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8.3010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直接测量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VEGFR1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8.8500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直接测量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VEGFR2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7.6800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直接测量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VEGFR3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9.0000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直接测量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FGFR1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7.6443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条直接记录汇总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FFBA3-EB91-4D70-91AB-B169F614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口服要求 1/1，五靶点直接记录 5/5，实验条件随来源保留。</a:t>
            </a:r>
          </a:p>
        </p:txBody>
      </p:sp>
    </p:spTree>
    <p:extLst>
      <p:ext uri="{BB962C8B-B14F-4D97-AF65-F5344CB8AC3E}">
        <p14:creationId xmlns:p14="http://schemas.microsoft.com/office/powerpoint/2010/main" val="9989002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473F9-8B95-40C7-AEAB-97BC2A5B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实例评分明细：靶点与结构性质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D11E4-AB03-4D04-B797-0BB23AB4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3B807-44CB-4CBC-8E00-820BA637D019}"/>
              </a:ext>
            </a:extLst>
          </p:cNvPr>
          <p:cNvGraphicFramePr/>
          <p:nvPr/>
        </p:nvGraphicFramePr>
        <p:xfrm>
          <a:off xmlns:a="http://schemas.openxmlformats.org/drawingml/2006/main" x="571500" y="1304925"/>
          <a:ext xmlns:a="http://schemas.openxmlformats.org/drawingml/2006/main" cx="11049000" cy="4171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14625"/>
                <a:gridCol w="2238375"/>
                <a:gridCol w="1905000"/>
                <a:gridCol w="1905000"/>
                <a:gridCol w="2286000"/>
              </a:tblGrid>
              <a:tr h="41719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偏好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证据类型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比较分 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总分贡献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CSF1R 效力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8.301 pChEMBL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实测汇总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0.06667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VEGFR1 效力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8.85 pChEMBL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实测汇总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0.8889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0.05926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VEGFR2 效力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7.68 pChEMBL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实测汇总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0.7778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0.05185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VEGFR3 效力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pChEMBL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实测汇总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0.8889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0.05926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FGFR1 效力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7.6443 pChEMBL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实测汇总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0.06667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分子量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480.6 Da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结构计算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0.06667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RDKit logP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3.7832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结构计算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0.6667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0.04444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BRENK 结构警报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个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结构计算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0.6111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0.04074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NIH 结构警报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个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结构计算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0.03333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1098A-AF72-427C-8C14-6C385370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0072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本轮权重 w 均为 1；总分贡献 = w × d / 15。</a:t>
            </a:r>
          </a:p>
        </p:txBody>
      </p:sp>
    </p:spTree>
    <p:extLst>
      <p:ext uri="{BB962C8B-B14F-4D97-AF65-F5344CB8AC3E}">
        <p14:creationId xmlns:p14="http://schemas.microsoft.com/office/powerpoint/2010/main" val="126826228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28A4D-01C4-479C-9C03-358D510D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实例评分明细：预测与缺证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4ECD3-DE26-4A28-ADDF-5F8E7B22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85D45-33B6-49A8-BE47-6BDB7E43A10C}"/>
              </a:ext>
            </a:extLst>
          </p:cNvPr>
          <p:cNvGraphicFramePr/>
          <p:nvPr/>
        </p:nvGraphicFramePr>
        <p:xfrm>
          <a:off xmlns:a="http://schemas.openxmlformats.org/drawingml/2006/main" x="571500" y="1247775"/>
          <a:ext xmlns:a="http://schemas.openxmlformats.org/drawingml/2006/main" cx="11049000" cy="3667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14625"/>
                <a:gridCol w="2238375"/>
                <a:gridCol w="1905000"/>
                <a:gridCol w="1905000"/>
                <a:gridCol w="2286000"/>
              </a:tblGrid>
              <a:tr h="40745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偏好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证据类型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比较分 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总分贡献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</a:tr>
              <a:tr h="4074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PAINS 结构警报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个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结构计算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0.03333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4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血脑屏障渗透概率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0.5975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模型预测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0.4444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0.02963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4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CYP1A2 抑制概率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0.3827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模型预测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0.5556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0.03704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4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CYP2C19 抑制概率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0.1404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模型预测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0.7778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0.05185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4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CYP2C9 抑制概率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0.0999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模型预测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0.7778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0.05185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4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CYP2C9 底物概率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0.1821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模型预测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0.06667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4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人体实测 F%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4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人体实测 Tmax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8F578-1078-466C-8D35-7286F524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720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分数 = 11.3888889 / 15 = 0.7592593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FB580-B2A4-4B2F-977F-2060E4C0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直接覆盖率 = 10 / 17 = 58.82%　　5 项预测仅辅助分数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CD319-B3CE-4F04-B19A-A14FC422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00775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表中数值四舍五入，最终总分按原精度计算。</a:t>
            </a:r>
          </a:p>
        </p:txBody>
      </p:sp>
    </p:spTree>
    <p:extLst>
      <p:ext uri="{BB962C8B-B14F-4D97-AF65-F5344CB8AC3E}">
        <p14:creationId xmlns:p14="http://schemas.microsoft.com/office/powerpoint/2010/main" val="9072713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7ABA2-3B64-4EA1-A8BD-C5E08C64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实例结果与保留的首次记录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E8333-2E36-4E8D-9502-BBC5DAC0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5F660-571F-48A5-85FF-CA194DB21671}"/>
              </a:ext>
            </a:extLst>
          </p:cNvPr>
          <p:cNvGraphicFramePr/>
          <p:nvPr/>
        </p:nvGraphicFramePr>
        <p:xfrm>
          <a:off xmlns:a="http://schemas.openxmlformats.org/drawingml/2006/main" x="571500" y="1371600"/>
          <a:ext xmlns:a="http://schemas.openxmlformats.org/drawingml/2006/main" cx="11049000" cy="23907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1714500"/>
                <a:gridCol w="6286500"/>
              </a:tblGrid>
              <a:tr h="597694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候选状态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结果含义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</a:tr>
              <a:tr h="597694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合格并排名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硬条件及必需证据齐全，达到排名覆盖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7694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待补证据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3,167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列出缺失或未解决的要求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7694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明确淘汰 / 未评估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按本次固定方案记录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159FF-88AA-4D1B-A7F3-0D2148BD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Surufatinib：1 / 10，分数 0.7593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0B4C8-6D2C-4C4A-ACB0-DCAB2AA8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首次快照：6 个合格、0 个排位，Suruf 直接覆盖 6/17。</a:t>
            </a:r>
          </a:p>
          <a:p xmlns:a="http://schemas.openxmlformats.org/drawingml/2006/main">
            <a:pPr algn="l">
              <a:defRPr sz="202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纠正已有事实复用与描述符分类后，第二快照直接覆盖 10/17。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52377-1815-4DD5-A07E-F66547D6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626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当前冻结标准下的研究优先级。部分结构偏好的用途依据较间接。</a:t>
            </a:r>
          </a:p>
        </p:txBody>
      </p:sp>
    </p:spTree>
    <p:extLst>
      <p:ext uri="{BB962C8B-B14F-4D97-AF65-F5344CB8AC3E}">
        <p14:creationId xmlns:p14="http://schemas.microsoft.com/office/powerpoint/2010/main" val="143116859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4987E-12E0-4204-A2E6-3F36FE92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结果怎样回到来源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B8683-DCC8-4DA6-9EA3-39124878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D1712-4A9B-4039-80CE-10A24B65DA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a023211d947c9"/>
          <a:srcRect xmlns:a="http://schemas.openxmlformats.org/drawingml/2006/main" l="20500" t="22500" r="4500" b="2400"/>
          <a:stretch xmlns:a="http://schemas.openxmlformats.org/drawingml/2006/main"/>
        </p:blipFill>
        <p:spPr>
          <a:xfrm xmlns:a="http://schemas.openxmlformats.org/drawingml/2006/main">
            <a:off x="2460782" y="1133475"/>
            <a:ext cx="7270437" cy="50577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53579-AFC4-465D-9D89-D864838D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原文、34 nM 发现与实际评估关联</a:t>
            </a:r>
          </a:p>
        </p:txBody>
      </p:sp>
    </p:spTree>
    <p:extLst>
      <p:ext uri="{BB962C8B-B14F-4D97-AF65-F5344CB8AC3E}">
        <p14:creationId xmlns:p14="http://schemas.microsoft.com/office/powerpoint/2010/main" val="23588373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803D6-7009-42F2-B110-CD1BDBC2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自有数据与下一步研究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D272B-C0BB-4476-B3E2-3B4358BA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16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1E21D-CC70-46BC-B8B8-E48C15E71A56}"/>
              </a:ext>
            </a:extLst>
          </p:cNvPr>
          <p:cNvGraphicFramePr/>
          <p:nvPr/>
        </p:nvGraphicFramePr>
        <p:xfrm>
          <a:off xmlns:a="http://schemas.openxmlformats.org/drawingml/2006/main" x="571500" y="1371600"/>
          <a:ext xmlns:a="http://schemas.openxmlformats.org/drawingml/2006/main" cx="11049000" cy="28289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7715250"/>
              </a:tblGrid>
              <a:tr h="56578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自有测量字段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合成载体例子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T w="6668">
                      <a:solidFill>
                        <a:srgbClr val="CFD9E1"/>
                      </a:solidFill>
                      <a:prstDash val="solid"/>
                    </a:lnT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EAF3F9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 ID、性质与数值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DEMO-A，粒径，100 nm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实验条件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DLS，水分散液，25 °C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来源及位置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上传文件与行号，明确标注合成来源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标准用途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FD9E1"/>
                      </a:solidFill>
                      <a:prstDash val="solid"/>
                    </a:lnL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D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活率硬条件，粒径与递送效率排序，电荷参考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FD9E1"/>
                      </a:solidFill>
                      <a:prstDash val="solid"/>
                    </a:lnR>
                    <a:lnB w="6668">
                      <a:solidFill>
                        <a:srgbClr val="CF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24836-A9B5-4F89-BA39-3A88C6B4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104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药物研究下一步：补 F%、Tmax、Food-AUC 证据，</a:t>
            </a:r>
          </a:p>
          <a:p xmlns:a="http://schemas.openxmlformats.org/drawingml/2006/main">
            <a:pPr algn="l">
              <a:def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2D37"/>
                </a:solidFill>
                <a:latin typeface="Microsoft YaHei"/>
                <a:ea typeface="Microsoft YaHei"/>
                <a:cs typeface="Microsoft YaHei"/>
              </a:rPr>
              <a:t>明确参考项判读，并验证间接结构偏好的实际价值。</a:t>
            </a:r>
          </a:p>
        </p:txBody>
      </p:sp>
    </p:spTree>
    <p:extLst>
      <p:ext uri="{BB962C8B-B14F-4D97-AF65-F5344CB8AC3E}">
        <p14:creationId xmlns:p14="http://schemas.microsoft.com/office/powerpoint/2010/main" val="7732436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2026-10-16T21:22:06.9510000Z</dcterms:created>
  <dcterms:modified xsi:type="dcterms:W3CDTF">2026-10-16T21:22:06.9510000Z</dcterms:modified>
</coreProperties>
</file>