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4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6beb8af96840b9" /><Relationship Type="http://schemas.openxmlformats.org/officeDocument/2006/relationships/extended-properties" Target="/docProps/app.xml" Id="R7adb09b329e64cde" /><Relationship Type="http://schemas.openxmlformats.org/officeDocument/2006/relationships/officeDocument" Target="/ppt/presentation.xml" Id="R82ff4198bfc346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6bc7651b354e9b"/>
  </p:sldMasterIdLst>
  <p:notesMasterIdLst>
    <p:notesMasterId xmlns:r="http://schemas.openxmlformats.org/officeDocument/2006/relationships" r:id="Rc8207344e5dd4348"/>
  </p:notesMasterIdLst>
  <p:sldIdLst>
    <p:sldId xmlns:r="http://schemas.openxmlformats.org/officeDocument/2006/relationships" id="256" r:id="R3e472dfefc8c4020"/>
    <p:sldId xmlns:r="http://schemas.openxmlformats.org/officeDocument/2006/relationships" id="257" r:id="R7af8048941fc42e0"/>
    <p:sldId xmlns:r="http://schemas.openxmlformats.org/officeDocument/2006/relationships" id="258" r:id="R111b735d02e74744"/>
    <p:sldId xmlns:r="http://schemas.openxmlformats.org/officeDocument/2006/relationships" id="259" r:id="Rb2739fcb0278414b"/>
    <p:sldId xmlns:r="http://schemas.openxmlformats.org/officeDocument/2006/relationships" id="260" r:id="Rcc1955c9284c4075"/>
    <p:sldId xmlns:r="http://schemas.openxmlformats.org/officeDocument/2006/relationships" id="261" r:id="Rc332d24f01494ee7"/>
    <p:sldId xmlns:r="http://schemas.openxmlformats.org/officeDocument/2006/relationships" id="262" r:id="Rb8de00381bee4191"/>
    <p:sldId xmlns:r="http://schemas.openxmlformats.org/officeDocument/2006/relationships" id="263" r:id="Rf32583fed2d24bdd"/>
    <p:sldId xmlns:r="http://schemas.openxmlformats.org/officeDocument/2006/relationships" id="264" r:id="R9cbb197a728241f7"/>
    <p:sldId xmlns:r="http://schemas.openxmlformats.org/officeDocument/2006/relationships" id="265" r:id="R7ab9ef636b024f11"/>
    <p:sldId xmlns:r="http://schemas.openxmlformats.org/officeDocument/2006/relationships" id="266" r:id="R4f4264886e1543dd"/>
    <p:sldId xmlns:r="http://schemas.openxmlformats.org/officeDocument/2006/relationships" id="267" r:id="R8b97ded296834169"/>
    <p:sldId xmlns:r="http://schemas.openxmlformats.org/officeDocument/2006/relationships" id="268" r:id="Rc3082143942b4bc8"/>
    <p:sldId xmlns:r="http://schemas.openxmlformats.org/officeDocument/2006/relationships" id="269" r:id="Re3556797a87e48b0"/>
    <p:sldId xmlns:r="http://schemas.openxmlformats.org/officeDocument/2006/relationships" id="270" r:id="Rb29e13b648d14855"/>
    <p:sldId xmlns:r="http://schemas.openxmlformats.org/officeDocument/2006/relationships" id="271" r:id="R2fd025cf15414e7c"/>
    <p:sldId xmlns:r="http://schemas.openxmlformats.org/officeDocument/2006/relationships" id="272" r:id="R59f4b95fba8541e7"/>
    <p:sldId xmlns:r="http://schemas.openxmlformats.org/officeDocument/2006/relationships" id="273" r:id="Ra8c3757c5b554d54"/>
    <p:sldId xmlns:r="http://schemas.openxmlformats.org/officeDocument/2006/relationships" id="274" r:id="Rdec22a08d0c54776"/>
    <p:sldId xmlns:r="http://schemas.openxmlformats.org/officeDocument/2006/relationships" id="275" r:id="Rc8d5470fbfef47c6"/>
    <p:sldId xmlns:r="http://schemas.openxmlformats.org/officeDocument/2006/relationships" id="276" r:id="R8c545db968334408"/>
    <p:sldId xmlns:r="http://schemas.openxmlformats.org/officeDocument/2006/relationships" id="277" r:id="Rae7c99ab7b614695"/>
    <p:sldId xmlns:r="http://schemas.openxmlformats.org/officeDocument/2006/relationships" id="278" r:id="R1ce78118da1d4717"/>
    <p:sldId xmlns:r="http://schemas.openxmlformats.org/officeDocument/2006/relationships" id="279" r:id="Rcdaf42fc79a8447d"/>
    <p:sldId xmlns:r="http://schemas.openxmlformats.org/officeDocument/2006/relationships" id="280" r:id="R08e892a647804fa2"/>
    <p:sldId xmlns:r="http://schemas.openxmlformats.org/officeDocument/2006/relationships" id="281" r:id="R586abb55509b40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bc8600467740bc" /><Relationship Type="http://schemas.openxmlformats.org/officeDocument/2006/relationships/slideMaster" Target="/ppt/slideMasters/slideMaster1.xml" Id="R236bc7651b354e9b" /><Relationship Type="http://schemas.openxmlformats.org/officeDocument/2006/relationships/notesMaster" Target="/ppt/notesMasters/notesMaster1.xml" Id="Rc8207344e5dd4348" /><Relationship Type="http://schemas.openxmlformats.org/officeDocument/2006/relationships/presProps" Target="/ppt/presProps.xml" Id="Rf834c02938c34320" /><Relationship Type="http://schemas.openxmlformats.org/officeDocument/2006/relationships/tableStyles" Target="/ppt/tableStyles.xml" Id="R3529c794cc5a42fa" /><Relationship Type="http://schemas.openxmlformats.org/officeDocument/2006/relationships/slide" Target="/ppt/slides/slide1.xml" Id="R3e472dfefc8c4020" /><Relationship Type="http://schemas.openxmlformats.org/officeDocument/2006/relationships/slide" Target="/ppt/slides/slide2.xml" Id="R7af8048941fc42e0" /><Relationship Type="http://schemas.openxmlformats.org/officeDocument/2006/relationships/slide" Target="/ppt/slides/slide3.xml" Id="R111b735d02e74744" /><Relationship Type="http://schemas.openxmlformats.org/officeDocument/2006/relationships/slide" Target="/ppt/slides/slide4.xml" Id="Rb2739fcb0278414b" /><Relationship Type="http://schemas.openxmlformats.org/officeDocument/2006/relationships/slide" Target="/ppt/slides/slide5.xml" Id="Rcc1955c9284c4075" /><Relationship Type="http://schemas.openxmlformats.org/officeDocument/2006/relationships/slide" Target="/ppt/slides/slide6.xml" Id="Rc332d24f01494ee7" /><Relationship Type="http://schemas.openxmlformats.org/officeDocument/2006/relationships/slide" Target="/ppt/slides/slide7.xml" Id="Rb8de00381bee4191" /><Relationship Type="http://schemas.openxmlformats.org/officeDocument/2006/relationships/slide" Target="/ppt/slides/slide8.xml" Id="Rf32583fed2d24bdd" /><Relationship Type="http://schemas.openxmlformats.org/officeDocument/2006/relationships/slide" Target="/ppt/slides/slide9.xml" Id="R9cbb197a728241f7" /><Relationship Type="http://schemas.openxmlformats.org/officeDocument/2006/relationships/slide" Target="/ppt/slides/slide10.xml" Id="R7ab9ef636b024f11" /><Relationship Type="http://schemas.openxmlformats.org/officeDocument/2006/relationships/slide" Target="/ppt/slides/slide11.xml" Id="R4f4264886e1543dd" /><Relationship Type="http://schemas.openxmlformats.org/officeDocument/2006/relationships/slide" Target="/ppt/slides/slide12.xml" Id="R8b97ded296834169" /><Relationship Type="http://schemas.openxmlformats.org/officeDocument/2006/relationships/slide" Target="/ppt/slides/slide13.xml" Id="Rc3082143942b4bc8" /><Relationship Type="http://schemas.openxmlformats.org/officeDocument/2006/relationships/slide" Target="/ppt/slides/slide14.xml" Id="Re3556797a87e48b0" /><Relationship Type="http://schemas.openxmlformats.org/officeDocument/2006/relationships/slide" Target="/ppt/slides/slide15.xml" Id="Rb29e13b648d14855" /><Relationship Type="http://schemas.openxmlformats.org/officeDocument/2006/relationships/slide" Target="/ppt/slides/slide16.xml" Id="R2fd025cf15414e7c" /><Relationship Type="http://schemas.openxmlformats.org/officeDocument/2006/relationships/slide" Target="/ppt/slides/slide17.xml" Id="R59f4b95fba8541e7" /><Relationship Type="http://schemas.openxmlformats.org/officeDocument/2006/relationships/slide" Target="/ppt/slides/slide18.xml" Id="Ra8c3757c5b554d54" /><Relationship Type="http://schemas.openxmlformats.org/officeDocument/2006/relationships/slide" Target="/ppt/slides/slide19.xml" Id="Rdec22a08d0c54776" /><Relationship Type="http://schemas.openxmlformats.org/officeDocument/2006/relationships/slide" Target="/ppt/slides/slide20.xml" Id="Rc8d5470fbfef47c6" /><Relationship Type="http://schemas.openxmlformats.org/officeDocument/2006/relationships/slide" Target="/ppt/slides/slide21.xml" Id="R8c545db968334408" /><Relationship Type="http://schemas.openxmlformats.org/officeDocument/2006/relationships/slide" Target="/ppt/slides/slide22.xml" Id="Rae7c99ab7b614695" /><Relationship Type="http://schemas.openxmlformats.org/officeDocument/2006/relationships/slide" Target="/ppt/slides/slide23.xml" Id="R1ce78118da1d4717" /><Relationship Type="http://schemas.openxmlformats.org/officeDocument/2006/relationships/slide" Target="/ppt/slides/slide24.xml" Id="Rcdaf42fc79a8447d" /><Relationship Type="http://schemas.openxmlformats.org/officeDocument/2006/relationships/slide" Target="/ppt/slides/slide25.xml" Id="R08e892a647804fa2" /><Relationship Type="http://schemas.openxmlformats.org/officeDocument/2006/relationships/slide" Target="/ppt/slides/slide26.xml" Id="R586abb55509b40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e59139de445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9b9381e892431d" /><Relationship Type="http://schemas.openxmlformats.org/officeDocument/2006/relationships/notesMaster" Target="/ppt/notesMasters/notesMaster1.xml" Id="R59543f73b4c643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2d386f55d949e2" /><Relationship Type="http://schemas.openxmlformats.org/officeDocument/2006/relationships/notesMaster" Target="/ppt/notesMasters/notesMaster1.xml" Id="Rab49299dead843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46e83c4e864bd3" /><Relationship Type="http://schemas.openxmlformats.org/officeDocument/2006/relationships/notesMaster" Target="/ppt/notesMasters/notesMaster1.xml" Id="R1fe0ebf3505341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d030311db742bb" /><Relationship Type="http://schemas.openxmlformats.org/officeDocument/2006/relationships/notesMaster" Target="/ppt/notesMasters/notesMaster1.xml" Id="Rf9d773f714bd4a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4b50f4aa1a434a" /><Relationship Type="http://schemas.openxmlformats.org/officeDocument/2006/relationships/notesMaster" Target="/ppt/notesMasters/notesMaster1.xml" Id="Rfb6641b9c4f14b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36984af2364fce" /><Relationship Type="http://schemas.openxmlformats.org/officeDocument/2006/relationships/notesMaster" Target="/ppt/notesMasters/notesMaster1.xml" Id="R670e787d512a45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999f6298294ed8" /><Relationship Type="http://schemas.openxmlformats.org/officeDocument/2006/relationships/notesMaster" Target="/ppt/notesMasters/notesMaster1.xml" Id="Ra3f426992a5746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62e504055f40e2" /><Relationship Type="http://schemas.openxmlformats.org/officeDocument/2006/relationships/notesMaster" Target="/ppt/notesMasters/notesMaster1.xml" Id="R4f9e057e204743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31b9ee82594745" /><Relationship Type="http://schemas.openxmlformats.org/officeDocument/2006/relationships/notesMaster" Target="/ppt/notesMasters/notesMaster1.xml" Id="R778e763fb6524c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f7d70be9844845" /><Relationship Type="http://schemas.openxmlformats.org/officeDocument/2006/relationships/notesMaster" Target="/ppt/notesMasters/notesMaster1.xml" Id="R8264ded7da7d4f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7013df6d7c448b" /><Relationship Type="http://schemas.openxmlformats.org/officeDocument/2006/relationships/notesMaster" Target="/ppt/notesMasters/notesMaster1.xml" Id="R335e704be6c44e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cab20318464587" /><Relationship Type="http://schemas.openxmlformats.org/officeDocument/2006/relationships/notesMaster" Target="/ppt/notesMasters/notesMaster1.xml" Id="R2145bab2e02f4c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dfac437be04ed2" /><Relationship Type="http://schemas.openxmlformats.org/officeDocument/2006/relationships/notesMaster" Target="/ppt/notesMasters/notesMaster1.xml" Id="R0b2ceb7d315b44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ed015ce1ee46ca" /><Relationship Type="http://schemas.openxmlformats.org/officeDocument/2006/relationships/notesMaster" Target="/ppt/notesMasters/notesMaster1.xml" Id="R7340af8d85c44e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294f0d562444a4" /><Relationship Type="http://schemas.openxmlformats.org/officeDocument/2006/relationships/notesMaster" Target="/ppt/notesMasters/notesMaster1.xml" Id="Rcb677d3b965745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a2010f584a493a" /><Relationship Type="http://schemas.openxmlformats.org/officeDocument/2006/relationships/notesMaster" Target="/ppt/notesMasters/notesMaster1.xml" Id="R1460e29a572845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3dec4002134303" /><Relationship Type="http://schemas.openxmlformats.org/officeDocument/2006/relationships/notesMaster" Target="/ppt/notesMasters/notesMaster1.xml" Id="Reffce751842b46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d2d0345672449c" /><Relationship Type="http://schemas.openxmlformats.org/officeDocument/2006/relationships/notesMaster" Target="/ppt/notesMasters/notesMaster1.xml" Id="Rbb5d3bc2f97e40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f5d4cef321435d" /><Relationship Type="http://schemas.openxmlformats.org/officeDocument/2006/relationships/notesMaster" Target="/ppt/notesMasters/notesMaster1.xml" Id="Rdb303662586840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068517e6a14a03" /><Relationship Type="http://schemas.openxmlformats.org/officeDocument/2006/relationships/notesMaster" Target="/ppt/notesMasters/notesMaster1.xml" Id="R0c46c17cd211461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70d8d0646c41dc" /><Relationship Type="http://schemas.openxmlformats.org/officeDocument/2006/relationships/notesMaster" Target="/ppt/notesMasters/notesMaster1.xml" Id="R3355162f46a34b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3e18444d456493c" /><Relationship Type="http://schemas.openxmlformats.org/officeDocument/2006/relationships/notesMaster" Target="/ppt/notesMasters/notesMaster1.xml" Id="R7542e7bde9e24d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999f861ba024652" /><Relationship Type="http://schemas.openxmlformats.org/officeDocument/2006/relationships/notesMaster" Target="/ppt/notesMasters/notesMaster1.xml" Id="R693a3ec1ac064c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968647efced4a27" /><Relationship Type="http://schemas.openxmlformats.org/officeDocument/2006/relationships/notesMaster" Target="/ppt/notesMasters/notesMaster1.xml" Id="R1f4c6404543047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2ee164e54044b67" /><Relationship Type="http://schemas.openxmlformats.org/officeDocument/2006/relationships/notesMaster" Target="/ppt/notesMasters/notesMaster1.xml" Id="R09781f3df66c481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32a1de424244573" /><Relationship Type="http://schemas.openxmlformats.org/officeDocument/2006/relationships/notesMaster" Target="/ppt/notesMasters/notesMaster1.xml" Id="R458103e725e24a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研究者最终要决定先验证哪些候选。MAS把这个决定拆成可检查的步骤：明确研究目标，依据证据形成标准，再判断候选资格和优先顺序。每个结论都保留回到标准和原文的路径。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先看这类研究为什么需要建立共同的判断依据。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同一项研究会同时遇到体外效力、临床给药记录、结构性质和模型预测。这些观察的单位、适用条件和用途不同。只有先明确哪些决定资格、哪些用于排序，候选之间的比较才有一致含义。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共同依据怎样建立，决定了后续整个流程。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流程从研究目标和固定证据开始。系统先充分提出候选标准，经过质疑、修改与合并形成工作集，再审查哪些标准可以执行。候选评估使用固定方案，先判资格再算偏好，最后给出结果及其来源。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首先需要把研究者的原话转成明确的要求。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以口服多靶点研究为例。口服给药是明确的硬条件。CSF1R、VEGFR1、VEGFR2、VEGFR3和FGFR1要求都有直接证据，效力值再参与偏好比较。任务没有给出统一效力截点，系统因此保留连续排序的含义。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要求明确后，还需要把分散材料整理成可引用的证据。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保存文献报告sulfatinib抑制FGFR1的IC50为34 nM。系统把靶点和数值分别绑定，并保留体外激酶实验、原文及段落位置。同一段还报告CSF1R为5 nM，两项分别记录，不能因为共享引文就混为一个测量。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形成事实记录后，多智能体才能讨论它支持什么样的标准。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  <a:p xmlns:a="http://schemas.openxmlformats.org/drawingml/2006/main">
            <a:r>
              <a:t>原文：DOI 10.1038/s42004-023-01084-0，sec2.1.p1；FGFR1绑定值34 nM。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提出者先根据任务和事实给出标准。批评者追问依据和适用性，提出者再回应问题并修改。持续争议交给裁决角色，决定和理由一起保存。分子量例子中，500 Da最终被解释为偏好经验线；另一条logP提议则没有通过这一过程。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这些反馈必须落到明确的属性和决策规则中。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CQA在这里指研究中需要判断的性质。属性规定测量和汇总方式，规则规定怎样影响决定。本次分子量使用500 Da阈值偏好，满足即得比较分1；CSF1R使用连续排序。两个均低于500 Da的候选不会因这一阈值继续拉开分差。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提炼过程要把含糊或重复的提议整理成这样的完整定义。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ter先识别支持不足、读取路线无效或已有覆盖的问题。Distill把宽泛表述变成具体测量。Refine回应审查意见。Merge整合同一性质和用途的提议及来源。不同条件或不同决策含义继续区分，每次修改都能找到原提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分子量的六条提议提供了一个可回查的合并实例。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第二轮中，六条分子量提议在测量性质和用途上重合，因此合成一个项并保留父项来源。第三轮批评指出反例支持不足，修订补充500 Da的经验解释及适用性。机器复核接受后进入本次方案。候选数值的中位数汇总是另一项已声明计算。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合并后仍可能存在未解决问题，因此还需要冻结前审查。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一条logP提议描述2到4的最佳区间，但曾只写了大于等于2。两者对大于4的候选给出不同解释。后续定义与支持仍未一致，所以这条最佳区间提议保留在待处理区。本次采用的另一个RDKit logP连续偏好是不同规则。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完成审查的标准固定下来，随后才能对所有候选应用相同判断。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标准先确定需要什么性质、单位和条件，工具再寻找相应记录。已有测量、结构计算与模型预测分别保存。取得数值表示已有数据，是否满足硬条件仍需按规则判断。同一性质已有直接值时，预测保留为旁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取得这些观测以后，系统才能逐项判断资格。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先检查已启用的硬条件，再检查任务要求的直接证据。明确硬失败才淘汰；缺证或冲突进入待补。满足资格后，偏好覆盖率决定能否排位。本轮五个靶点要求直接记录齐全，并没有额外统一效力截点。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资格解决能否进入比较，评分解决合格候选之间怎样比较。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连续偏好在合格且有值的候选中排序，相同值取平均位置。以BRENK为例，10个有值候选中2个更差、8个并列，比较分是0.6111。各项按权重平均得到总分。直接覆盖率另按全部适用偏好计算，模型预测不增加其分子。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这两种计算会在最新运行的首次结果和最终结果中产生可见差别。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实际运行画面中，目标和证据两个阶段已经完成，系统正在生成标准。当前安全性任务完成17个证据批次，共18个。局部94%的批次进度与全流程完成比例不同，研究者还可以查看最近活动与消耗。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用这个工作台，下面走完最新一次口服多靶点研究。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  <a:p xmlns:a="http://schemas.openxmlformats.org/drawingml/2006/main">
            <a:r>
              <a:t>截图：本次运行期间保存的24-formal-settings-mid.jpg，未重构界面。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从浏览器Settings和新建研究开始，设置均为mid，四个并发工作者。候选库固定为3177个药物，输入事实集合包含3157条事实、164个来源。标准从空集合重新建立。任务披露Surufatinib为参考候选，生成阶段排除明确提及它的事实，候选评估仍采用统一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空标准集会先展开，再通过数轮处理收敛。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开始时只有六项任务绑定。按研究维度提出1911条候选提议，总工作记录达到1917。三轮提炼后依次剩147、68和53个工作项。这一口径始终包含已注册标准和未注册提议，下一页再区分它们的最终用途。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53个工作项并不都参加筛选或评分。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18条核心标准包括口服硬条件和17条偏好，五靶点已包含在偏好中。13条参考项保存观察和判读状态。22条未启用项中，14条已注册但延后，8条尚未注册。五项未解决复核属于14条延后的子集。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核心方案固定后，可以具体查看Surufatinib怎样通过资格核验。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人类临床记录明确写明Surufatinib口服给药，因此口服硬条件通过。五个必需靶点均有直接效力记录，覆盖要求也满足。图中为固定标准汇总的pChEMBL，用于后续偏好比较；本任务没有统一的效力硬阈值。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通过资格后，还要检查直接证据是否足以支撑排名。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  <a:p xmlns:a="http://schemas.openxmlformats.org/drawingml/2006/main">
            <a:r>
              <a:t>口服来源：DOI 10.1080/07853890.2026.2698360，sec2.3.p1；数值来自score-details相应规则。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保存时，Surufatinib只有6项直接偏好证据，低于50%的排位要求，因此没有名次。检查发现已有事实未被正确复用，四项确定性结构描述符又被归入预测。修正后另存结果，直接覆盖达到10/17。合格比较组也随可用事实发生变化，最终分位数按新的合格组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最终分数可以继续拆到各类偏好的实际贡献。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本轮偏好权重均为1。有值的15项进入平均，缺值的F%和Tmax没有补零。五靶点、五项结构计算和五项模型预测分别贡献约0.30370、0.21852和0.23704，合计0.75926。直接证据覆盖另算10/17，完整逐项数值在附录。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由此得到的是当前方案下合格候选的相对优先级。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完整候选库有3177项。最终10项符合资格且达到排位要求，Surufatinib排在第一。其他3167项仍待补证据，明确淘汰和未评估均为零。这里展示工作台实际合格榜前三名，完整列表可导出。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研究者还可以从这一名次回查实际采用的证据。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  <a:p xmlns:a="http://schemas.openxmlformats.org/drawingml/2006/main">
            <a:r>
              <a:t>截图：本轮制作时只读打开已保存snapshot2，未重跑。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FGFR1原文报告34 nM，换算为pChEMBL约7.4685。本次固定标准还采用7.2800、7.82和7.82三条直接记录。四条值排序后取中位数，得到7.6443。研究者可以回看原文、实验条件和其他来源，再判断这种汇总是否适合后续验证。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同样的记录方式也适用于研究者上传自己的测量。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  <a:p xmlns:a="http://schemas.openxmlformats.org/drawingml/2006/main">
            <a:r>
              <a:t>FGFR1数值严格取score-details中rule_fgfr1-curated-potency@v1的raw_observations，未按共用引文混入CSF1R 5 nM。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有数据入口分别接收候选名单和逐条观测。每条测量需要候选身份、性质、数值、单位和依据，并保留条件与来源。换成载体时，研究问题可以是粒径、细胞活率和递送效率；后续仍经历标准形成、资格筛选和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当前药物结果接下来需要补充哪些材料，也应从这些具体缺项出发。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研究形成了18条核心标准，并把Surufatinib排到10个合格候选的第一位。它给出了可回查的研究优先顺序。下一步应补人类实测F%、Tmax和Food-AUC，明确四项参考观察的判读方式，并检验间接结构偏好是否真能区分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附录保留全部17项评分明细，供需要逐项核对时查阅。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表中各项权重均为1。比较分按本次合格且有值的候选计算，总分贡献为比较分除以15。缺值项仍保留在17项直接覆盖分母中。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数值经显示舍入，实际总分使用原始精度。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表中各项权重均为1。比较分按本次合格且有值的候选计算，总分贡献为比较分除以15。缺值项仍保留在17项直接覆盖分母中。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数值经显示舍入，实际总分使用原始精度。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来源：本项目已保存的最新研究 task_01M52CBE5GYPK9F0MCZYBMPH84，snapshot2，rules@v2。完整材料：design_audit/fresh_browser_2026-10-16/results-snapshot2/；本汇报固定输入见 presentation_source/data。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8dc5c357546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76ffb1cd243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9f73e5afb4c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34776cc004c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b7523bc064a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d12f134b840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217575-111C-4096-83D9-FC030C0E1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87AF9B-1A44-4BD2-8DC0-FB5288DE64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B9D159-71B8-419D-B333-DC6E366440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33114B-1686-4B20-A97E-8B55B5F3C6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5D8315-1587-40EA-B36B-20C3238FAD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648886-E7C9-4ED1-B70D-27DE7153D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57EDDF-DC85-478D-B496-EDE8EE7BC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56E1DB-50A0-4FB2-AFB8-979F812F14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3A5363-3EA0-4F6C-AF10-8379C95AB4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94FBAA-E080-4F0D-B7B1-0C4148A3EF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5a1811ce14281" /><Relationship Type="http://schemas.openxmlformats.org/officeDocument/2006/relationships/slideLayout" Target="/ppt/slideLayouts/slideLayout1.xml" Id="Rdee87f60b50e4b59" /><Relationship Type="http://schemas.openxmlformats.org/officeDocument/2006/relationships/slideLayout" Target="/ppt/slideLayouts/slideLayout2.xml" Id="R3f037ecc13ba4d18" /><Relationship Type="http://schemas.openxmlformats.org/officeDocument/2006/relationships/slideLayout" Target="/ppt/slideLayouts/slideLayout3.xml" Id="R4396b0181fb74fc8" /><Relationship Type="http://schemas.openxmlformats.org/officeDocument/2006/relationships/slideLayout" Target="/ppt/slideLayouts/slideLayout4.xml" Id="Rb4f80b15fd324744" /><Relationship Type="http://schemas.openxmlformats.org/officeDocument/2006/relationships/slideLayout" Target="/ppt/slideLayouts/slideLayout5.xml" Id="R4dfa00f87cde4c9f" /><Relationship Type="http://schemas.openxmlformats.org/officeDocument/2006/relationships/slideLayout" Target="/ppt/slideLayouts/slideLayout6.xml" Id="R7bd02509049944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e87f60b50e4b59"/>
    <p:sldLayoutId xmlns:r="http://schemas.openxmlformats.org/officeDocument/2006/relationships" id="2147483650" r:id="R3f037ecc13ba4d18"/>
    <p:sldLayoutId xmlns:r="http://schemas.openxmlformats.org/officeDocument/2006/relationships" id="2147483651" r:id="R4396b0181fb74fc8"/>
    <p:sldLayoutId xmlns:r="http://schemas.openxmlformats.org/officeDocument/2006/relationships" id="2147483652" r:id="Rb4f80b15fd324744"/>
    <p:sldLayoutId xmlns:r="http://schemas.openxmlformats.org/officeDocument/2006/relationships" id="2147483653" r:id="R4dfa00f87cde4c9f"/>
    <p:sldLayoutId xmlns:r="http://schemas.openxmlformats.org/officeDocument/2006/relationships" id="2147483654" r:id="R7bd02509049944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5d77a19064ba3" /><Relationship Type="http://schemas.openxmlformats.org/officeDocument/2006/relationships/notesSlide" Target="/ppt/notesSlides/notesSlide1.xml" Id="R9ac71d0739fb40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4e3b8d1d9d4e6f" /><Relationship Type="http://schemas.openxmlformats.org/officeDocument/2006/relationships/notesSlide" Target="/ppt/notesSlides/notesSlide2.xml" Id="Rf49b8693ee3f46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490e3f3f84cd6" /><Relationship Type="http://schemas.openxmlformats.org/officeDocument/2006/relationships/notesSlide" Target="/ppt/notesSlides/notesSlide3.xml" Id="Rfd11d9f5547c4a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6e0825d13449a" /><Relationship Type="http://schemas.openxmlformats.org/officeDocument/2006/relationships/notesSlide" Target="/ppt/notesSlides/notesSlide4.xml" Id="Raebb510144fe4c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8164ab7ba54d04" /><Relationship Type="http://schemas.openxmlformats.org/officeDocument/2006/relationships/notesSlide" Target="/ppt/notesSlides/notesSlide5.xml" Id="Rd6efa489f99c46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97920618f4b07" /><Relationship Type="http://schemas.openxmlformats.org/officeDocument/2006/relationships/notesSlide" Target="/ppt/notesSlides/notesSlide6.xml" Id="R571ae091cdfd48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dba050c114140" /><Relationship Type="http://schemas.openxmlformats.org/officeDocument/2006/relationships/notesSlide" Target="/ppt/notesSlides/notesSlide7.xml" Id="R766e3b57abbb45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9c756f2ce4fe5" /><Relationship Type="http://schemas.openxmlformats.org/officeDocument/2006/relationships/notesSlide" Target="/ppt/notesSlides/notesSlide8.xml" Id="R1977717df5b246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63997529f4f92" /><Relationship Type="http://schemas.openxmlformats.org/officeDocument/2006/relationships/notesSlide" Target="/ppt/notesSlides/notesSlide9.xml" Id="R6ce9d9f3556e49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34cd5a5de4e6d" /><Relationship Type="http://schemas.openxmlformats.org/officeDocument/2006/relationships/notesSlide" Target="/ppt/notesSlides/notesSlide10.xml" Id="R283d805e08bc48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474459b374398" /><Relationship Type="http://schemas.openxmlformats.org/officeDocument/2006/relationships/notesSlide" Target="/ppt/notesSlides/notesSlide11.xml" Id="R750f171b0bc34a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433f123384347" /><Relationship Type="http://schemas.openxmlformats.org/officeDocument/2006/relationships/notesSlide" Target="/ppt/notesSlides/notesSlide12.xml" Id="R2978ac2cae684a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9376f18b94d9f" /><Relationship Type="http://schemas.openxmlformats.org/officeDocument/2006/relationships/notesSlide" Target="/ppt/notesSlides/notesSlide13.xml" Id="Rc18d197ddc784e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be6812aac4b1b" /><Relationship Type="http://schemas.openxmlformats.org/officeDocument/2006/relationships/image" Target="/ppt/media/image.jpeg" Id="Rd29cc4a52e7d4ad7" /><Relationship Type="http://schemas.openxmlformats.org/officeDocument/2006/relationships/notesSlide" Target="/ppt/notesSlides/notesSlide14.xml" Id="R7791a859886149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a950e54f642d7" /><Relationship Type="http://schemas.openxmlformats.org/officeDocument/2006/relationships/notesSlide" Target="/ppt/notesSlides/notesSlide15.xml" Id="Rf8e1ac9db5a545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d4bddaa9d4353" /><Relationship Type="http://schemas.openxmlformats.org/officeDocument/2006/relationships/chart" Target="/ppt/slides/charts/chart1.xml" Id="R1307b0b4127c4a2a" /><Relationship Type="http://schemas.openxmlformats.org/officeDocument/2006/relationships/chart" Target="/ppt/slides/charts/chart2.xml" Id="R0d287f84179c4571" /><Relationship Type="http://schemas.openxmlformats.org/officeDocument/2006/relationships/notesSlide" Target="/ppt/notesSlides/notesSlide16.xml" Id="Re1459918966e44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b822368b04e9f" /><Relationship Type="http://schemas.openxmlformats.org/officeDocument/2006/relationships/notesSlide" Target="/ppt/notesSlides/notesSlide17.xml" Id="Rf3e55dc65f4643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09579d8c542bb" /><Relationship Type="http://schemas.openxmlformats.org/officeDocument/2006/relationships/chart" Target="/ppt/slides/charts/chart3.xml" Id="Re27e44fbc9e94b11" /><Relationship Type="http://schemas.openxmlformats.org/officeDocument/2006/relationships/notesSlide" Target="/ppt/notesSlides/notesSlide18.xml" Id="Raa813192290a4a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b40d6e372d45ed" /><Relationship Type="http://schemas.openxmlformats.org/officeDocument/2006/relationships/notesSlide" Target="/ppt/notesSlides/notesSlide19.xml" Id="R7830700b579a463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45cfea15d94e09" /><Relationship Type="http://schemas.openxmlformats.org/officeDocument/2006/relationships/chart" Target="/ppt/slides/charts/chart4.xml" Id="R5fd52fae25254748" /><Relationship Type="http://schemas.openxmlformats.org/officeDocument/2006/relationships/notesSlide" Target="/ppt/notesSlides/notesSlide20.xml" Id="Rb4c3b0811f464cf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bb7afff0e4119" /><Relationship Type="http://schemas.openxmlformats.org/officeDocument/2006/relationships/image" Target="/ppt/media/image2.jpeg" Id="Ref7f5c4756a54aaa" /><Relationship Type="http://schemas.openxmlformats.org/officeDocument/2006/relationships/notesSlide" Target="/ppt/notesSlides/notesSlide21.xml" Id="Rfe7902e9875d45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50e1d78984569" /><Relationship Type="http://schemas.openxmlformats.org/officeDocument/2006/relationships/image" Target="/ppt/media/image3.jpeg" Id="R1e23ee60b0fb4842" /><Relationship Type="http://schemas.openxmlformats.org/officeDocument/2006/relationships/notesSlide" Target="/ppt/notesSlides/notesSlide22.xml" Id="Re15862e7a6af415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b2f10dd86472b" /><Relationship Type="http://schemas.openxmlformats.org/officeDocument/2006/relationships/image" Target="/ppt/media/image4.jpeg" Id="R37c83f8e53a7450e" /><Relationship Type="http://schemas.openxmlformats.org/officeDocument/2006/relationships/notesSlide" Target="/ppt/notesSlides/notesSlide23.xml" Id="R4287309521574e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b8d5670744c28" /><Relationship Type="http://schemas.openxmlformats.org/officeDocument/2006/relationships/notesSlide" Target="/ppt/notesSlides/notesSlide24.xml" Id="R04afb79a7e5447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fd9296fc3741de" /><Relationship Type="http://schemas.openxmlformats.org/officeDocument/2006/relationships/notesSlide" Target="/ppt/notesSlides/notesSlide25.xml" Id="Rf35b003e84c9473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df66385594c61" /><Relationship Type="http://schemas.openxmlformats.org/officeDocument/2006/relationships/notesSlide" Target="/ppt/notesSlides/notesSlide26.xml" Id="Racc2192c76454b9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工作项</c:v>
          </c:tx>
          <c:spPr>
            <a:solidFill xmlns:a="http://schemas.openxmlformats.org/drawingml/2006/main">
              <a:srgbClr val="367DA9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任务绑定</c:v>
                </c:pt>
                <c:pt idx="1">
                  <c:v>目标覆盖</c:v>
                </c:pt>
                <c:pt idx="2">
                  <c:v>口服性质</c:v>
                </c:pt>
                <c:pt idx="3">
                  <c:v>代谢稳定</c:v>
                </c:pt>
                <c:pt idx="4">
                  <c:v>安全性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6</c:v>
                </c:pt>
                <c:pt idx="1">
                  <c:v>293</c:v>
                </c:pt>
                <c:pt idx="2">
                  <c:v>504</c:v>
                </c:pt>
                <c:pt idx="3">
                  <c:v>1192</c:v>
                </c:pt>
                <c:pt idx="4">
                  <c:v>1917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031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B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CEDBE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工作项</c:v>
          </c:tx>
          <c:spPr>
            <a:solidFill xmlns:a="http://schemas.openxmlformats.org/drawingml/2006/main">
              <a:srgbClr val="367DA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提炼前</c:v>
                </c:pt>
                <c:pt idx="1">
                  <c:v>第一轮</c:v>
                </c:pt>
                <c:pt idx="2">
                  <c:v>第二轮</c:v>
                </c:pt>
                <c:pt idx="3">
                  <c:v>第三轮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1917</c:v>
                </c:pt>
                <c:pt idx="1">
                  <c:v>147</c:v>
                </c:pt>
                <c:pt idx="2">
                  <c:v>68</c:v>
                </c:pt>
                <c:pt idx="3">
                  <c:v>53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031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B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CEDBE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pChEMBL</c:v>
          </c:tx>
          <c:spPr>
            <a:solidFill xmlns:a="http://schemas.openxmlformats.org/drawingml/2006/main">
              <a:srgbClr val="367DA9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CSF1R</c:v>
                </c:pt>
                <c:pt idx="1">
                  <c:v>VEGFR1</c:v>
                </c:pt>
                <c:pt idx="2">
                  <c:v>VEGFR2</c:v>
                </c:pt>
                <c:pt idx="3">
                  <c:v>VEGFR3</c:v>
                </c:pt>
                <c:pt idx="4">
                  <c:v>FGFR1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8.30102999566</c:v>
                </c:pt>
                <c:pt idx="1">
                  <c:v>8.85</c:v>
                </c:pt>
                <c:pt idx="2">
                  <c:v>7.67999982834</c:v>
                </c:pt>
                <c:pt idx="3">
                  <c:v>9</c:v>
                </c:pt>
                <c:pt idx="4">
                  <c:v>7.64426054148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31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B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CEDBE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总分贡献</c:v>
          </c:tx>
          <c:spPr>
            <a:solidFill xmlns:a="http://schemas.openxmlformats.org/drawingml/2006/main">
              <a:srgbClr val="367DA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五靶点</c:v>
                </c:pt>
                <c:pt idx="1">
                  <c:v>五项结构计算</c:v>
                </c:pt>
                <c:pt idx="2">
                  <c:v>五项模型预测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0.303703703704</c:v>
                </c:pt>
                <c:pt idx="1">
                  <c:v>0.218518518519</c:v>
                </c:pt>
                <c:pt idx="2">
                  <c:v>0.237037037037</c:v>
                </c:pt>
              </c:numCache>
            </c:numRef>
          </c:val>
        </c:ser>
        <c:dLbls>
          <c:numFmt formatCode="0.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31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B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CEDBE4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959F9-53A5-46A5-AE7B-CE928B7F47F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53250" y="45958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0B14A-2399-4A8C-8E70-3CA6B742241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52750" y="45958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78BAA-7DF6-4FEB-B1ED-C9512713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MAS 研究工作台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6C43B-E128-4644-85AA-2797C468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177C-803F-49E5-A001-FDD80557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先形成研究标准</a:t>
            </a:r>
          </a:p>
          <a:p xmlns:a="http://schemas.openxmlformats.org/drawingml/2006/main">
            <a:pPr algn="l">
              <a:defRPr sz="42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再筛选和排序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A61CF-39B9-461E-93F9-1CA03030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190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D5450-EEE7-4F5E-909C-7FD8DB0B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可执行标准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1AEAF-C653-4CD4-935C-CF5E10A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候选优先名单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9AE61-1C3C-4F82-9BA4-106D8882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目标与证据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C8E81-DC08-494B-BE99-03B9FC01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资格与偏好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84D62-5873-4473-ACBC-9F2BEEA3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口服多靶点研究实例 · 2026 年 10 月 17 日</a:t>
            </a:r>
          </a:p>
        </p:txBody>
      </p:sp>
    </p:spTree>
    <p:extLst>
      <p:ext uri="{BB962C8B-B14F-4D97-AF65-F5344CB8AC3E}">
        <p14:creationId xmlns:p14="http://schemas.microsoft.com/office/powerpoint/2010/main" val="625197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DC295-7ABB-485F-B58F-13CEACC5E0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476750" y="3143250"/>
            <a:ext cx="1714500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29002-F910-4E67-92A0-06CBE07A12D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2990850"/>
            <a:ext cx="1714500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C261D-BF51-4C65-9F68-9CFA8465148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1943100"/>
            <a:ext cx="1714500" cy="1200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9D096-0B16-4F5D-A27E-BBA133C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候选比较需要共同的判断依据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723A0-9671-46A3-B9A0-0C27A3F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8DA88-C937-4C84-9578-19F49649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文献：体外 IC50、实验条件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2801C-01AF-4364-8C98-B1FE3C3B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记录：给药途径、研究对象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65D3F-5283-48AB-A329-239FE80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计算：结构性质、预测概率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8D82E-DCA6-4F16-A745-5FD51C69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0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0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统一到研究问题</a:t>
            </a:r>
          </a:p>
          <a:p xmlns:a="http://schemas.openxmlformats.org/drawingml/2006/main">
            <a:pPr algn="ctr">
              <a:defRPr sz="240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明确性质、条件与用途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96BDE-6EDF-47EE-94CD-554DDB4F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这些观察回答的问题不同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A3220-295E-4491-973E-A911CC2E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研究目标：在满足要求的候选中，确定优先验证对象</a:t>
            </a:r>
          </a:p>
        </p:txBody>
      </p:sp>
    </p:spTree>
    <p:extLst>
      <p:ext uri="{BB962C8B-B14F-4D97-AF65-F5344CB8AC3E}">
        <p14:creationId xmlns:p14="http://schemas.microsoft.com/office/powerpoint/2010/main" val="29776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81075-7714-4FE4-8524-6E057FE84557}"/>
              </a:ext>
            </a:extLst>
          </p:cNvPr>
          <p:cNvCxnSpPr>
            <a:stCxn xmlns:a="http://schemas.openxmlformats.org/drawingml/2006/main" id="5" idx="0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4452938" y="1809750"/>
            <a:ext cx="28098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47583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5D6F2-DFDE-42C6-8236-FACE56D3EEEB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524500" y="4429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5EB84-F469-4964-B23D-E96F3621C46B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334375" y="4429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68A2B-53AE-49D0-ACB3-92EB50B7281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072688" y="2762250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E3D91-6C41-454C-8DDB-599EB02D5FC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34375" y="2286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D5AB4-728A-4489-ADF7-B0B5A5B5688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2286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2FA12-22AA-400F-8D8B-3CBFF5E95BD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14625" y="2286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6C07C-A13A-4707-8FC2-09FF6FD9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完整研究流程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5A629-CE56-4457-8B30-10747039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E807F-1F53-4807-9042-800A50ED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目标与证据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8BC3B-D56C-4AE7-B8B1-D956F64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提出标准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280DB-E660-4A52-B807-2CBA81F2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批评与提炼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F5886-07DA-41BC-95E2-4F9735FB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09750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审查并固定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72D2D-E61A-425B-A5E8-7C45368A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52875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候选评估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92BFF-4ECA-4D04-9BA0-9A3BD795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资格与排序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AB7FC-D88D-40C9-8B6B-F5D5FE5D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52875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结果与来源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D5130-448C-44BD-AE0C-211B9971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20015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回应问题，继续修订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01FF9-6F6E-4305-976D-21F040D9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AFBF8-9429-4354-BE21-7C76545D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435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9C390-FA56-4048-9C48-B91804D1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实质修改产生新版本；已保存结果仍能回查</a:t>
            </a:r>
          </a:p>
        </p:txBody>
      </p:sp>
    </p:spTree>
    <p:extLst>
      <p:ext uri="{BB962C8B-B14F-4D97-AF65-F5344CB8AC3E}">
        <p14:creationId xmlns:p14="http://schemas.microsoft.com/office/powerpoint/2010/main" val="1728826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E839A-D0F3-46CA-B194-838841EF3BA1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953125" y="3000375"/>
            <a:ext cx="30480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5B77D-E76A-434D-82A3-BAA464F39A1D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809875" y="3000375"/>
            <a:ext cx="3143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67100-16C2-4864-BBA4-6EDF58A1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研究目标如何变成明确要求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7B69F-D088-46F7-BFA9-D551D9C0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38C67-EC4E-4EBA-A8ED-9963A287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寻找可口服、同时涉及五个靶点的单一药物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95133-3C2A-473F-8654-231E2436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原始研究目标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F4DAE-ACEB-4306-9B8B-AF202FDB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口服给药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硬条件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B14DE-5A71-4BCC-BE31-2B6A0CCA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667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CSF1R · VEGFR1/2/3 · FGFR1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必需直接证据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D6615-14F1-45F0-9978-6B904D8D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性质、单位或条件存在关键歧义时，再请求补充</a:t>
            </a:r>
          </a:p>
        </p:txBody>
      </p:sp>
    </p:spTree>
    <p:extLst>
      <p:ext uri="{BB962C8B-B14F-4D97-AF65-F5344CB8AC3E}">
        <p14:creationId xmlns:p14="http://schemas.microsoft.com/office/powerpoint/2010/main" val="711467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16FB7-E115-48FE-B70D-9D10CBD0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一条证据同时保留数值和实验背景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FDFCF-11AE-4865-A16F-FDFBD3A0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FDC97-138E-45E3-BE98-FFAD462A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Surufatinib → FGFR1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45F56-631B-4BD4-ADFC-647481DB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IC50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00E2D-BC2C-4633-9687-643759AB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34 nM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5B4D6-FCA8-4BD3-9FFC-FB871D28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B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1DC67-18C6-4540-A850-A35FEC23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体外激酶实验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45CA3-481B-4E99-8D44-8D18A543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ADP-Glo · 三倍稀释 · 三次重复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928A2-1824-4291-88FF-31616E9B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C428D-E905-4F79-B1B8-6232302C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524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“...potent inhibition of FGFR1</a:t>
            </a:r>
          </a:p>
          <a:p xmlns:a="http://schemas.openxmlformats.org/drawingml/2006/main">
            <a:pPr algn="l">
              <a:defRPr sz="18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and CSF-1R, with IC50 values</a:t>
            </a:r>
          </a:p>
          <a:p xmlns:a="http://schemas.openxmlformats.org/drawingml/2006/main">
            <a:pPr algn="l">
              <a:defRPr sz="18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of 34 and 5 nM, respectively”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5F093-AD79-45DB-AA1E-75789C22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同一句原文，两条靶点记录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E6562-8DD0-4164-85B4-39C8118D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原文位置、实验条件和缺失条件随证据保存</a:t>
            </a:r>
          </a:p>
        </p:txBody>
      </p:sp>
    </p:spTree>
    <p:extLst>
      <p:ext uri="{BB962C8B-B14F-4D97-AF65-F5344CB8AC3E}">
        <p14:creationId xmlns:p14="http://schemas.microsoft.com/office/powerpoint/2010/main" val="839403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463C2-C27E-40C4-A2AE-2A82E7E84C43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2143125" y="2857500"/>
            <a:ext cx="2381250" cy="1785938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647583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5A26E-6411-4A1B-B0CF-DCFB8E5081E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4643438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00DAE-DAAF-4DE0-9A0D-4502CA16A4F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285750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4514D-D025-409D-8BB6-C00C3E08D38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714750" y="230981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02040-C2B8-483A-BFCF-8753A431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多智能体通过反馈修改同一条提议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130A3-ECA6-4152-AEB4-4F8C17BE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9C806-AAF7-4FC9-A738-DBD0D7FD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3143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Proposer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提出 500 Da 偏好线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A2665-F283-4D2B-A9BB-5F09AEB4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追问经验线的适用依据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599AD-B7B3-4205-B5E9-04D5B70B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3143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Proposer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补充解释与用途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79848-AF02-4B08-BF72-C27E597C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3143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Adjudicator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复核争议与来源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C548B-25EE-4F24-9A95-41E9F766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需要回答的问题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2BEFD-517D-4C44-BE7F-4C344E3A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这条经验范围</a:t>
            </a:r>
          </a:p>
          <a:p xmlns:a="http://schemas.openxmlformats.org/drawingml/2006/main">
            <a:pPr algn="l">
              <a:defRPr sz="24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为什么适合当前用途？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46381-920A-478B-832F-2D192012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接受、拒绝和未解决都保留理由；模型意见还需经过规则校验</a:t>
            </a:r>
          </a:p>
        </p:txBody>
      </p:sp>
    </p:spTree>
    <p:extLst>
      <p:ext uri="{BB962C8B-B14F-4D97-AF65-F5344CB8AC3E}">
        <p14:creationId xmlns:p14="http://schemas.microsoft.com/office/powerpoint/2010/main" val="1175396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6206D-77F6-4DF5-8A5A-002BEFED471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72000" y="471487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12B98-994F-4A5C-9790-C282546E93A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290512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F861D-F97E-44AE-9921-4804EABE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CQA 与规则：测什么，怎样用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15BEE-A5DC-4E5A-A52C-5BE52BBB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00350-D83B-4B14-84EC-83C86681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测量与条件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05F8F-46D2-46B4-9B7C-964FBDB9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763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固定决策规则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20A94-BFEF-4C81-B8C7-FE46D928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90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分子量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结构计算 · 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5AAEC-9D5F-4A3A-B3F5-FDB30D65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4524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≤ 500 Da：比较分为 1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阈值偏好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7370C-807C-429D-AD26-5DD42762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90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CSF1R 效力</a:t>
            </a:r>
          </a:p>
          <a:p xmlns:a="http://schemas.openxmlformats.org/drawingml/2006/main">
            <a: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直接测量汇总 · pChEMBL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9C0A3-24C1-42BF-9A7C-1B4F0296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91000"/>
            <a:ext cx="4524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数值越高，比较分越高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连续排序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BBEBE-89BA-4AB2-A4F4-0A79571E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CQA 定义研究性质；决策规则规定怎样使用该性质</a:t>
            </a:r>
          </a:p>
        </p:txBody>
      </p:sp>
    </p:spTree>
    <p:extLst>
      <p:ext uri="{BB962C8B-B14F-4D97-AF65-F5344CB8AC3E}">
        <p14:creationId xmlns:p14="http://schemas.microsoft.com/office/powerpoint/2010/main" val="1856097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4DB1C-1F5C-416C-9E8B-3285999625B2}"/>
              </a:ext>
            </a:extLst>
          </p:cNvPr>
          <p:cNvCxnSpPr>
            <a:stCxn xmlns:a="http://schemas.openxmlformats.org/drawingml/2006/main" id="6" idx="0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1643063" y="2247900"/>
            <a:ext cx="8429625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647583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32161-693F-4D3C-A7FA-E6D631B434E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34375" y="3048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A4F9A-A27B-4AC1-9F9F-80B01F2F55C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3048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1ED94-D9D2-475E-9FF0-547FFE7F2BA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14625" y="3048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BC109-E636-4265-AD34-5911030B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提炼分别处理支持、定义、问题和重复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CFE6B-529C-404F-8085-1EAF5054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2E945-BA7B-46D0-BB50-181A6364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143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Filter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筛查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B0B44-480B-4E2B-B890-931576E7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2143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Distill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86C06-3C9F-4464-AA2F-22D9FE02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143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Refine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修订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1B44F-A176-4792-BE24-3C1525D1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76500"/>
            <a:ext cx="2143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Merge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合并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56B4E-8886-41EA-B11A-73CA7ADB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核验证据支持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6A77E-0C4B-4AE5-A63A-FE5DBE7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95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定义测量与范围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895FE-1C90-44D0-8CC0-7093CE7C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回应审查意见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78A3D-0D59-46BD-A98C-6CFEE465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95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整合同量同用途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72CFA-04BF-47BE-8F9A-8DA6CD44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复核仍有问题的项，进入下一轮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D7B4E-097F-48AD-A148-A52F59C2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原始提议、每次修订及合并去向均保留</a:t>
            </a:r>
          </a:p>
        </p:txBody>
      </p:sp>
    </p:spTree>
    <p:extLst>
      <p:ext uri="{BB962C8B-B14F-4D97-AF65-F5344CB8AC3E}">
        <p14:creationId xmlns:p14="http://schemas.microsoft.com/office/powerpoint/2010/main" val="19306305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65E8F-BFA9-43F6-AC5E-6DB878F23A42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025063" y="3190875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40060-BA8B-4ABB-9BC0-A8B50674EC9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905625" y="2643188"/>
            <a:ext cx="1524000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BBD8A-49EF-4175-B7C0-6CE9F4201E4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09875" y="3524250"/>
            <a:ext cx="1238250" cy="1604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071EE-F444-4901-A900-D834DF91CAA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09875" y="3524250"/>
            <a:ext cx="12382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02F7B-E855-4E74-B5C0-6851F7C2601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09875" y="3524250"/>
            <a:ext cx="1238250" cy="442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BF391-5FF0-41A2-A513-F66E4F27762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09875" y="3386138"/>
            <a:ext cx="1238250" cy="138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5B0FE-2788-4FC2-B46E-1580F0870B3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09875" y="2805113"/>
            <a:ext cx="1238250" cy="719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4D0A9-31A5-4481-BB21-22C6DB9022B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09875" y="2224088"/>
            <a:ext cx="1238250" cy="1300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095B2-4F94-4FD4-B008-4D8E7802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分子量：六条提议合成一个判断项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FB471-0E4A-4A2E-917B-31920794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BD2C0-4E08-4D5D-9F62-2680D5FC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第二轮合并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C2FDB-8C40-4698-8BF6-336D629B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分子量提议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F75CB-97A7-46B2-9F26-7AA99A02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分子量提议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73067-DA81-4D43-88DB-0EE0DD56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分子量提议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BBE07-8617-42E9-A805-7D3ACC77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分子量提议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7723B-3B49-477D-B09C-EF2A1B6C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分子量提议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48D12-4033-48B4-97E5-20BB881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4425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分子量提议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F6905-3896-461E-911F-5CF16890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003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分子量</a:t>
            </a:r>
          </a:p>
          <a:p xmlns:a="http://schemas.openxmlformats.org/drawingml/2006/main">
            <a:pPr algn="ctr">
              <a:defRPr sz="21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来源与父项保留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88CE9-2926-43A3-A87B-9BCDF83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190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第三轮修订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明确 500 Da 的偏好解释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5D9C0-721D-4B55-B19A-8BF50640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3190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复核后启用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≤500 Da 的阈值偏好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C7B24-11F2-4CEC-9A48-0FCC5F09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候选结构计算值：480.6 Da；观测汇总按标准另行计算</a:t>
            </a:r>
          </a:p>
        </p:txBody>
      </p:sp>
    </p:spTree>
    <p:extLst>
      <p:ext uri="{BB962C8B-B14F-4D97-AF65-F5344CB8AC3E}">
        <p14:creationId xmlns:p14="http://schemas.microsoft.com/office/powerpoint/2010/main" val="494967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5604BA-8030-421B-BA5D-7B5038C4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比较方式不完整的提议暂缓启用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C33F9-D0BF-4C4B-B956-03DCE176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A9A22-8B0F-40ED-9A47-1B7BF0E2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logP 提议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D93CC-9B1B-4773-A8EB-AE4D659C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提议描述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621C5-3093-4B08-85E7-A94135B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2–4 最佳区间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4B7F4-C266-4920-B203-2A562262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57425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9102D-E2E6-4D67-9193-E564A84E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5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24EB9-B3A4-44F4-A6C7-CA126FDA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57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310DC-1AFF-4CD9-ACA4-7A754BFE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57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77404-8E60-4B40-AACF-9DFD6F49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57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F17E0-7C7C-4FBE-8EB0-0E32755D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57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BAE4A-6332-4DF7-BFC5-72AA7A39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57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9E81B-2FA9-4832-A653-66C76B4C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857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7DAB0-9973-4381-83CF-6BAED451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曾有的规则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E9D3E-3B83-4312-83F6-8188443D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只写 ≥2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FB4D4-B185-42B0-B35A-45F6C3C4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A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287A3-C343-4CC8-BD5B-5FA38920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00575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58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0F31D-D6DB-481E-8516-F008F02E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7148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BE66B-0F6D-45CA-87DF-201344D9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148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003F3-B358-4795-8CF6-2EC60A58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148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44649-A6BC-4D21-A5E4-C4DB8F4B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148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8DAB2-056C-4BFD-A440-47D860FF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7148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97872-0464-4435-B2A7-80A306E6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47148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90BCD-00FB-4570-8FAD-6E6E4F88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14800"/>
            <a:ext cx="42862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DAC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56743-A93D-4252-BC78-DA4A0858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本例结果：暂缓启用，保留提议、修改过程与待解问题</a:t>
            </a:r>
          </a:p>
        </p:txBody>
      </p:sp>
    </p:spTree>
    <p:extLst>
      <p:ext uri="{BB962C8B-B14F-4D97-AF65-F5344CB8AC3E}">
        <p14:creationId xmlns:p14="http://schemas.microsoft.com/office/powerpoint/2010/main" val="7544206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21A52-F8A1-49BC-8658-0E8460D55C0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48125" y="3429000"/>
            <a:ext cx="2381250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192DE-D6CD-43F8-BF6C-532FFB313D6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48125" y="3429000"/>
            <a:ext cx="2381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07DC8-C8C4-4E66-823F-5A9D1C01178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48125" y="2047875"/>
            <a:ext cx="2381250" cy="1381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D4472-3BA4-4572-A746-85C96DE2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工具把标准变成候选的可用观测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E7F0A-FC83-484A-BA01-3E707086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195A9-0580-47C8-A198-38D2063B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476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实验与数据库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例：靶点 IC50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B3F70-B7BF-4555-89BC-4CDC66A5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3476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确定性结构计算</a:t>
            </a:r>
          </a:p>
          <a:p xmlns:a="http://schemas.openxmlformats.org/drawingml/2006/main">
            <a: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例：分子量、RDKit 警报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CA271-5B3E-4E40-A069-9710F75C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3476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模型预测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例：CYP 抑制概率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02F23-D40D-4259-BBB2-B028B75F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5191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3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逐项观测</a:t>
            </a:r>
          </a:p>
          <a:p xmlns:a="http://schemas.openxmlformats.org/drawingml/2006/main">
            <a:pPr algn="ctr">
              <a:defRPr sz="23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数值 · 单位 · 条件 · 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B30DB-9609-4E8C-8DCE-5908182C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101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缺证或工具失败 → 记录具体未知原因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7F821-253C-43F6-9502-5D7B528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同一性质已有直接证据时，预测只作旁证</a:t>
            </a:r>
          </a:p>
        </p:txBody>
      </p:sp>
    </p:spTree>
    <p:extLst>
      <p:ext uri="{BB962C8B-B14F-4D97-AF65-F5344CB8AC3E}">
        <p14:creationId xmlns:p14="http://schemas.microsoft.com/office/powerpoint/2010/main" val="217762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DFE58-54E6-4A84-AC06-979BE65A313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10120313" y="2619375"/>
            <a:ext cx="261938" cy="1238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0AF0B-403C-4F1C-96E0-8CFC80FA80E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715000" y="261937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47583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454F2-BB2A-4DEE-B772-2FF961E5979A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666875" y="2619375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47583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0D983-4EF4-4B0A-A665-D1C0AD458B6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166938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CA07E-C588-45C3-A56A-514206FE010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62250" y="2166938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ED642-F5B7-4CAA-BD66-883B8555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先判资格，再给合格者排名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DC1CA-54F1-4843-B407-7746E5D9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4B195-9F9F-447E-8809-AB2F89F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190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有效硬条件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已就绪？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CA03E-E9C3-4F87-941E-FDF10BC3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1450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硬条件通过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且必需证据齐全？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34CB0-73F0-4158-882F-4D565FAC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合格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31181-CADB-492A-A5DA-20723EF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3E9CB-65E8-467A-B322-101AE356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B49DD-6DCC-423D-8DFC-4A0722C4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条件未就绪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0F8FA-E48E-467A-8088-0CDEB227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57625"/>
            <a:ext cx="3524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硬条件明确失败 → 淘汰</a:t>
            </a:r>
          </a:p>
          <a:p xmlns:a="http://schemas.openxmlformats.org/drawingml/2006/main">
            <a:pPr algn="ctr">
              <a:def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缺证或冲突 → 待补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201B0-FB52-463F-87C2-49935EEC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3000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覆盖达到要求 → 排名</a:t>
            </a:r>
          </a:p>
          <a:p xmlns:a="http://schemas.openxmlformats.org/drawingml/2006/main">
            <a:pPr algn="ctr">
              <a:defRPr sz="18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覆盖不足 → 暂无名次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73783-6611-4688-8522-76020723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逐层模式：明确硬失败后跳过后续昂贵评估，并记录原因</a:t>
            </a:r>
          </a:p>
        </p:txBody>
      </p:sp>
    </p:spTree>
    <p:extLst>
      <p:ext uri="{BB962C8B-B14F-4D97-AF65-F5344CB8AC3E}">
        <p14:creationId xmlns:p14="http://schemas.microsoft.com/office/powerpoint/2010/main" val="4556898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EAC38-7170-4E55-BB9C-D15B9C5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分数说明相对偏好，覆盖率说明证据充分程度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AD521-AC7E-433F-9A19-8E133898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11AC1-496A-4D95-86EA-0D01A254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一项偏好怎样变成分数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67970-2251-4E27-9CE6-80F18428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BRENK：0 个结构警报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15465-1F4D-49A5-AEAB-712A9F25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10 个有值合格候选</a:t>
            </a:r>
          </a:p>
          <a:p xmlns:a="http://schemas.openxmlformats.org/drawingml/2006/main">
            <a:pPr algn="l">
              <a:def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2 个更差，8 个并列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19125-F8FF-44A1-9CF0-E219E6AD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比较分 = (2 + 7/2) ÷ 9 = 0.6111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4881D-5DDC-4EDB-8AB1-6130244D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B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F4DE6-877F-496E-9EAD-C17844CC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另一个问题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6309D-CBA6-482F-9AEB-0F887DD6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直接证据</a:t>
            </a:r>
          </a:p>
          <a:p xmlns:a="http://schemas.openxmlformats.org/drawingml/2006/main">
            <a:pPr algn="l">
              <a:defRPr sz="29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是否足够？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0076C-50F4-427A-9925-E74B8B5D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直接证据权重</a:t>
            </a:r>
          </a:p>
          <a:p xmlns:a="http://schemas.openxmlformats.org/drawingml/2006/main">
            <a:pPr algn="l">
              <a:def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÷ 全部适用偏好权重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FDE04-DE78-4D2E-9F76-F83A8A20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本次排位门槛：50%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62DB8-1B90-4F23-9FCF-81E57B45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阈值偏好满足时取 1，不满足取 0；最终分数为有值偏好的加权平均</a:t>
            </a:r>
          </a:p>
        </p:txBody>
      </p:sp>
    </p:spTree>
    <p:extLst>
      <p:ext uri="{BB962C8B-B14F-4D97-AF65-F5344CB8AC3E}">
        <p14:creationId xmlns:p14="http://schemas.microsoft.com/office/powerpoint/2010/main" val="7284253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BC062-1669-4E81-B8FD-E2B749B4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进度同时说明当前阶段和当前工作量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0390C-9EDA-4B32-BB3A-2AF13C5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4ADC1-72BA-41C9-95AE-2D17FB277D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cc4a52e7d4ad7"/>
          <a:srcRect xmlns:a="http://schemas.openxmlformats.org/drawingml/2006/main" l="21976" t="1124" r="3557" b="56320"/>
          <a:stretch xmlns:a="http://schemas.openxmlformats.org/drawingml/2006/main"/>
        </p:blipFill>
        <p:spPr>
          <a:xfrm xmlns:a="http://schemas.openxmlformats.org/drawingml/2006/main">
            <a:off x="571500" y="1437699"/>
            <a:ext cx="11049000" cy="355397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19251-29E9-4BC2-AC6C-1F226E69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全流程：已完成 2 / 8 个阶段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9FB87-87F9-432D-87C1-A0D8B80C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当前工作：17 / 18 个批次</a:t>
            </a:r>
          </a:p>
        </p:txBody>
      </p:sp>
    </p:spTree>
    <p:extLst>
      <p:ext uri="{BB962C8B-B14F-4D97-AF65-F5344CB8AC3E}">
        <p14:creationId xmlns:p14="http://schemas.microsoft.com/office/powerpoint/2010/main" val="4278751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B5E55-E6B3-4AAA-B900-CA59D25A92D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4000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B91A5-9F69-4778-A753-AB146537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本次运行：口服、多靶点、已有证据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EBE6E-F88A-4149-A838-F393094B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4947E-7862-41E0-8A77-9DF90840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单一口服候选</a:t>
            </a:r>
          </a:p>
          <a:p xmlns:a="http://schemas.openxmlformats.org/drawingml/2006/main">
            <a:pPr algn="l">
              <a:defRPr sz="27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同时涉及 CSF1R、VEGFR1/2/3、FGFR1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575B7-C2A1-4AAB-B09C-B253133D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3,177 个候选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固定候选库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A260B-DB31-423C-81D3-19F2390E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290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3,157 条事实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164 个来源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1FBFA-8B68-4726-B304-C76CD2BE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空标准集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重新提出与提炼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6A8B0-7771-4D01-B5C7-12210D60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设置：mid · 4 并发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046C7-E0F0-46B4-A597-0DD17A0D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身份已披露；3,157 条事实中有 136 条点名参考候选，提议阶段排除这些事实</a:t>
            </a:r>
          </a:p>
        </p:txBody>
      </p:sp>
    </p:spTree>
    <p:extLst>
      <p:ext uri="{BB962C8B-B14F-4D97-AF65-F5344CB8AC3E}">
        <p14:creationId xmlns:p14="http://schemas.microsoft.com/office/powerpoint/2010/main" val="18420566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77501-4BB4-49A6-AFAA-D7530D4E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标准先充分展开，再经过三轮提炼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DDC62-5B49-4EA7-94FD-09EFA470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713DF-222B-4483-ACBC-8191C784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提出阶段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13FC2-D435-4344-A746-BFBC6F60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85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三轮提炼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1969B06-7511-414B-922D-254D7F542DE3}"/>
              </a:ext>
            </a:extLst>
          </p:cNvPr>
          <p:cNvGraphicFramePr/>
          <p:nvPr/>
        </p:nvGraphicFramePr>
        <p:xfrm>
          <a:off xmlns:a="http://schemas.openxmlformats.org/drawingml/2006/main" x="476250" y="1857375"/>
          <a:ext xmlns:a="http://schemas.openxmlformats.org/drawingml/2006/main" cx="59055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07b0b4127c4a2a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23ABBF3-E0B4-4FB1-AD96-28DA464D23B5}"/>
              </a:ext>
            </a:extLst>
          </p:cNvPr>
          <p:cNvGraphicFramePr/>
          <p:nvPr/>
        </p:nvGraphicFramePr>
        <p:xfrm>
          <a:off xmlns:a="http://schemas.openxmlformats.org/drawingml/2006/main" x="6762750" y="1857375"/>
          <a:ext xmlns:a="http://schemas.openxmlformats.org/drawingml/2006/main" cx="4953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287f84179c457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1CB86-27D4-4E8D-B24D-6E782A4D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0 → 6 项任务绑定 + 1,911 条提议 → 53 个当前工作项；均采用同一计数口径</a:t>
            </a:r>
          </a:p>
        </p:txBody>
      </p:sp>
    </p:spTree>
    <p:extLst>
      <p:ext uri="{BB962C8B-B14F-4D97-AF65-F5344CB8AC3E}">
        <p14:creationId xmlns:p14="http://schemas.microsoft.com/office/powerpoint/2010/main" val="12374646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D430A-4E0F-4240-B699-232BC82342E8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219325"/>
            <a:ext cx="3905250" cy="1162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2557A-FA9C-4D45-B5B2-EEDE0051820C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2219325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1718E-166A-4C15-ABF6-B02428A1D054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190750" y="2219325"/>
            <a:ext cx="3905250" cy="1162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CEF59-FC22-45D2-ACA3-BA489CF2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53 个工作项中，18 条承担核心决定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4DEDA-8116-4C1E-8C29-8C0A8BAB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0443D-E082-4A24-9341-2D992978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323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53 个工作项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0A122-F4DB-4E30-A27E-42A09FBE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18 条核心标准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542E1-EFB3-425E-9BBB-31DBDF77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13 条参考项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D0D3B-9A74-4897-B404-55BA07B6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22 条待处理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42658-05DD-4370-AE72-2F69D02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 项硬条件</a:t>
            </a:r>
          </a:p>
          <a:p xmlns:a="http://schemas.openxmlformats.org/drawingml/2006/main">
            <a:pPr algn="ctr">
              <a:def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17 项排序偏好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A4BF8-7E7A-45B4-9681-DA4E23A0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补充观察与判读状态</a:t>
            </a:r>
          </a:p>
          <a:p xmlns:a="http://schemas.openxmlformats.org/drawingml/2006/main">
            <a:pPr algn="ctr">
              <a:def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不计入排序分数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10BDE-4C5B-40E8-B531-00DDD8F5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96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14 项延后 + 8 项未注册</a:t>
            </a:r>
          </a:p>
          <a:p xmlns:a="http://schemas.openxmlformats.org/drawingml/2006/main">
            <a:pPr algn="ctr">
              <a:defRPr sz="19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保留原因与原提议</a:t>
            </a:r>
          </a:p>
        </p:txBody>
      </p:sp>
    </p:spTree>
    <p:extLst>
      <p:ext uri="{BB962C8B-B14F-4D97-AF65-F5344CB8AC3E}">
        <p14:creationId xmlns:p14="http://schemas.microsoft.com/office/powerpoint/2010/main" val="5353010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BB818-F92E-451A-B5D0-B4799656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Surufatinib 的口服与五靶点证据齐全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A00EB-087D-4F22-9D02-1C8D44C2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2BDBD-8063-4E65-B82D-78306C2A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口服条件通过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F111C-50E8-4951-BEF1-FB47D2F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“surufatinib was</a:t>
            </a:r>
          </a:p>
          <a:p xmlns:a="http://schemas.openxmlformats.org/drawingml/2006/main">
            <a:pPr algn="l">
              <a:def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administered orally</a:t>
            </a:r>
          </a:p>
          <a:p xmlns:a="http://schemas.openxmlformats.org/drawingml/2006/main">
            <a:pPr algn="l">
              <a:def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at 250 mg once daily.”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EB97A-A250-4009-B621-7326F563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临床给药记录</a:t>
            </a:r>
          </a:p>
          <a:p xmlns:a="http://schemas.openxmlformats.org/drawingml/2006/main">
            <a:pPr algn="l">
              <a:def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口服要求 1 / 1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42ACCD6-5BF7-48E5-9B41-F84B5362509B}"/>
              </a:ext>
            </a:extLst>
          </p:cNvPr>
          <p:cNvGraphicFramePr/>
          <p:nvPr/>
        </p:nvGraphicFramePr>
        <p:xfrm>
          <a:off xmlns:a="http://schemas.openxmlformats.org/drawingml/2006/main" x="5334000" y="1714500"/>
          <a:ext xmlns:a="http://schemas.openxmlformats.org/drawingml/2006/main" cx="6286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7e44fbc9e94b1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11EA9-2AFF-4E2F-B1E0-AD3D44E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340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直接证据 5 / 5 · 图示单位 pChEMBL</a:t>
            </a:r>
          </a:p>
        </p:txBody>
      </p:sp>
    </p:spTree>
    <p:extLst>
      <p:ext uri="{BB962C8B-B14F-4D97-AF65-F5344CB8AC3E}">
        <p14:creationId xmlns:p14="http://schemas.microsoft.com/office/powerpoint/2010/main" val="7594106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13ED2-1395-41AF-BC16-8545BAA1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首次没有名次，问题出在证据读取与分类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F6E39-7230-415F-A9EA-F947EAB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DCDF6-82F4-47F9-9A35-A7029D5B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首次结果：6 / 17 = 35.3%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6D3D2-B1CE-4B54-BFBE-AE723A7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89964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DA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25FAC-3518-413C-8B9D-2D2C07AD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147" y="2333625"/>
            <a:ext cx="714935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48C42-D951-471E-99D2-660DB5FC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低于 50% 排位要求，暂无名次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C1EA7-ADE0-4962-908C-65D99400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修正后：10 / 17 = 58.8%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8A0D0-5D03-47D6-A2E6-1A20F41C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6499412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DA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96C66-ED10-4C22-B732-3D2E698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912" y="4810125"/>
            <a:ext cx="454958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87336-877A-493A-9EAC-9D75C842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蓝色：计入直接覆盖　灰色：未计入直接覆盖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732BD-5973-47BA-9529-FB94458A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已保存事实重新复用；4 项结构计算按其真实方法分类。门槛与权重未改</a:t>
            </a:r>
          </a:p>
        </p:txBody>
      </p:sp>
    </p:spTree>
    <p:extLst>
      <p:ext uri="{BB962C8B-B14F-4D97-AF65-F5344CB8AC3E}">
        <p14:creationId xmlns:p14="http://schemas.microsoft.com/office/powerpoint/2010/main" val="16374393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6B727-2613-47D8-811E-4F576A5D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最终分数由三类偏好共同构成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B4359-D517-4F83-833B-A5AE9A51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5EFF320-5042-4E94-8155-923927FD789E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70485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d52fae2525474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CA32E-5F8D-4EF8-9B40-632988BB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0.7593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3C58F-FD60-4481-8D12-1B49805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11.388889 ÷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46685-B8CD-4334-A963-A9CF58B0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910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直接覆盖 10 / 17</a:t>
            </a:r>
          </a:p>
          <a:p xmlns:a="http://schemas.openxmlformats.org/drawingml/2006/main">
            <a:pPr algn="l">
              <a:defRPr sz="21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F% 与 Tmax 仍缺证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DB7F8-C927-48E9-B8F5-DDC6B9D4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对总分的贡献 = 比较分 × 权重 ÷ 有值偏好权重之和</a:t>
            </a:r>
          </a:p>
        </p:txBody>
      </p:sp>
    </p:spTree>
    <p:extLst>
      <p:ext uri="{BB962C8B-B14F-4D97-AF65-F5344CB8AC3E}">
        <p14:creationId xmlns:p14="http://schemas.microsoft.com/office/powerpoint/2010/main" val="18896359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0DB22-E457-4D32-BE0A-073C7715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Surufatinib 在 10 个合格候选中排名第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4F70F-3B10-4FD1-BD61-8E689179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CAC47-FFDA-4C39-9CFD-9F3D0F86E4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f5c4756a54aaa"/>
          <a:srcRect xmlns:a="http://schemas.openxmlformats.org/drawingml/2006/main" l="23399" t="47191" r="42213" b="23034"/>
          <a:stretch xmlns:a="http://schemas.openxmlformats.org/drawingml/2006/main"/>
        </p:blipFill>
        <p:spPr>
          <a:xfrm xmlns:a="http://schemas.openxmlformats.org/drawingml/2006/main">
            <a:off x="571500" y="1785281"/>
            <a:ext cx="7429500" cy="362081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D86FF-0851-47E8-B29D-5AF4AF09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10 个合格并排名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96515-2C3B-42A7-B38F-425BEE0C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3,167 个待补证据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2DECD-126B-4D91-9C4C-F4FDC720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101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明确淘汰 0</a:t>
            </a:r>
          </a:p>
          <a:p xmlns:a="http://schemas.openxmlformats.org/drawingml/2006/main">
            <a:pPr algn="l">
              <a:def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未评估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F240A-3B0B-4AB7-AF12-4EA55C05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实际合格榜节选；排名表示当前固定标准下的研究优先级</a:t>
            </a:r>
          </a:p>
        </p:txBody>
      </p:sp>
    </p:spTree>
    <p:extLst>
      <p:ext uri="{BB962C8B-B14F-4D97-AF65-F5344CB8AC3E}">
        <p14:creationId xmlns:p14="http://schemas.microsoft.com/office/powerpoint/2010/main" val="18330864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B7CBE-A0F6-45FF-8709-4E65F29EF12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001125" y="473868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2807F-2FBC-4ED2-B4E8-05F30237E7B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53125" y="473868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F704E-C417-40DC-8A96-F59FB8F789A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05125" y="473868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7DA9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227BE-7DE3-44A6-B240-3ED97934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排名可以回到原文和实际计算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6E01E-735F-4ADC-A294-4C7D0CE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DA1D8-1FD9-4ED6-ACFF-3C9B7D1B5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3ee60b0fb4842"/>
          <a:srcRect xmlns:a="http://schemas.openxmlformats.org/drawingml/2006/main" l="22316" t="55556" r="5053" b="24444"/>
          <a:stretch xmlns:a="http://schemas.openxmlformats.org/drawingml/2006/main"/>
        </p:blipFill>
        <p:spPr>
          <a:xfrm xmlns:a="http://schemas.openxmlformats.org/drawingml/2006/main">
            <a:off x="571500" y="1491077"/>
            <a:ext cx="11049000" cy="211372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A00D3-124D-40D1-8C3C-2CA74BEA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333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FGFR1：34 nM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17839-B520-4AFF-B1A5-0AF58256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2333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换算为 7.4685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F52E6-24E5-43D7-B5A6-77E418CA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4 条直接记录</a:t>
            </a:r>
          </a:p>
          <a:p xmlns:a="http://schemas.openxmlformats.org/drawingml/2006/main">
            <a:pPr algn="ctr">
              <a:def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取中位数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6BB2F-1AD9-4E36-BC74-F433B04B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0"/>
            <a:ext cx="1905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0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0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7.6443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85404-7EFE-4AE7-A5C9-E7C230B8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参与汇总的值：7.2800、7.4685、7.82、7.82 pChEMBL</a:t>
            </a:r>
          </a:p>
        </p:txBody>
      </p:sp>
    </p:spTree>
    <p:extLst>
      <p:ext uri="{BB962C8B-B14F-4D97-AF65-F5344CB8AC3E}">
        <p14:creationId xmlns:p14="http://schemas.microsoft.com/office/powerpoint/2010/main" val="13789876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99137-176E-4A97-BB34-B16F38EB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更换药物或载体，沿用相同研究流程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5843F-B3C3-4D30-9DE5-D2416E14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49A48-7B8F-43D0-B822-E2356A984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83f8e53a7450e"/>
          <a:srcRect xmlns:a="http://schemas.openxmlformats.org/drawingml/2006/main" l="32344" t="38056" r="3906" b="33472"/>
          <a:stretch xmlns:a="http://schemas.openxmlformats.org/drawingml/2006/main"/>
        </p:blipFill>
        <p:spPr>
          <a:xfrm xmlns:a="http://schemas.openxmlformats.org/drawingml/2006/main">
            <a:off x="571500" y="1707730"/>
            <a:ext cx="11049000" cy="277579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2CFD9-DC13-45BE-9BA1-29DEDCD0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67DA9"/>
                </a:solidFill>
                <a:latin typeface="Microsoft YaHei"/>
                <a:ea typeface="Microsoft YaHei"/>
                <a:cs typeface="Microsoft YaHei"/>
              </a:rPr>
              <a:t>候选 ID → 性质与数值 → 单位与条件 → 来源与依据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8FD0D-1582-4A12-BFCF-BB38597D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载体示例：粒径来自 DLS 测量，细胞活率可作为硬要求，递送效率用于排序</a:t>
            </a:r>
          </a:p>
        </p:txBody>
      </p:sp>
    </p:spTree>
    <p:extLst>
      <p:ext uri="{BB962C8B-B14F-4D97-AF65-F5344CB8AC3E}">
        <p14:creationId xmlns:p14="http://schemas.microsoft.com/office/powerpoint/2010/main" val="13504114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F9385-FB56-42C9-9F30-310629C2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当前结果支持优先验证，后续证据仍有明确缺口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F7566-500E-46E8-B55B-C20CD332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889E2-268C-4968-A8F4-1C5D435B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已得到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5541F-2D4F-4E92-AA9D-0422FE60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18 条核心标准</a:t>
            </a:r>
          </a:p>
          <a:p xmlns:a="http://schemas.openxmlformats.org/drawingml/2006/main">
            <a:pPr algn="l">
              <a:defRPr sz="30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10 个合格候选</a:t>
            </a:r>
          </a:p>
          <a:p xmlns:a="http://schemas.openxmlformats.org/drawingml/2006/main">
            <a:pPr algn="l">
              <a:defRPr sz="30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可回查的排名依据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F06D0-51B0-48E1-B3B2-84ED887F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DF5E4-F248-482D-9361-80895AD9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下一步需要的证据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426ED-D94F-423F-BD3C-7D7D47C9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00300"/>
            <a:ext cx="4429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补 F%、Tmax、Food-AUC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明确 4 项参考观察的判读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检验结构偏好的实际区分能力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2ED27-0531-41AB-A000-369D1C0F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结论对应本次固定的研究标准与证据范围</a:t>
            </a:r>
          </a:p>
        </p:txBody>
      </p:sp>
    </p:spTree>
    <p:extLst>
      <p:ext uri="{BB962C8B-B14F-4D97-AF65-F5344CB8AC3E}">
        <p14:creationId xmlns:p14="http://schemas.microsoft.com/office/powerpoint/2010/main" val="19251591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D3329-6540-4B89-A2FC-53F60F1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附录：17 项偏好评分明细 1/2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E45D5-9452-48A5-8B65-512CB31B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EA3F4-2532-44CB-A653-96B64716D217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524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05125"/>
                <a:gridCol w="2476500"/>
                <a:gridCol w="1714500"/>
                <a:gridCol w="1714500"/>
                <a:gridCol w="2238375"/>
              </a:tblGrid>
              <a:tr h="452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T w="6668">
                      <a:solidFill>
                        <a:srgbClr val="CEDBE4"/>
                      </a:solidFill>
                    </a:lnT>
                    <a:lnB w="6668">
                      <a:solidFill>
                        <a:srgbClr val="CEDBE4"/>
                      </a:solidFill>
                    </a:lnB>
                    <a:solidFill>
                      <a:srgbClr val="DF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T w="6668">
                      <a:solidFill>
                        <a:srgbClr val="CEDBE4"/>
                      </a:solidFill>
                    </a:lnT>
                    <a:lnB w="6668">
                      <a:solidFill>
                        <a:srgbClr val="CEDBE4"/>
                      </a:solidFill>
                    </a:lnB>
                    <a:solidFill>
                      <a:srgbClr val="DF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T w="6668">
                      <a:solidFill>
                        <a:srgbClr val="CEDBE4"/>
                      </a:solidFill>
                    </a:lnT>
                    <a:lnB w="6668">
                      <a:solidFill>
                        <a:srgbClr val="CEDBE4"/>
                      </a:solidFill>
                    </a:lnB>
                    <a:solidFill>
                      <a:srgbClr val="DF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T w="6668">
                      <a:solidFill>
                        <a:srgbClr val="CEDBE4"/>
                      </a:solidFill>
                    </a:lnT>
                    <a:lnB w="6668">
                      <a:solidFill>
                        <a:srgbClr val="CEDBE4"/>
                      </a:solidFill>
                    </a:lnB>
                    <a:solidFill>
                      <a:srgbClr val="DF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总分贡献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T w="6668">
                      <a:solidFill>
                        <a:srgbClr val="CEDBE4"/>
                      </a:solidFill>
                    </a:lnT>
                    <a:lnB w="6668">
                      <a:solidFill>
                        <a:srgbClr val="CEDBE4"/>
                      </a:solidFill>
                    </a:lnB>
                    <a:solidFill>
                      <a:srgbClr val="DFEDF6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CSF1R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8.301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0.06667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VEGFR1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8.85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0.8889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0.05926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VEGFR2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7.68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0.7778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0.05185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VEGFR3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0.8889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0.05926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FGFR1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7.6443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0.06667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分子量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480.6 Da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0.06667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RDKit logP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3.7832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0.04444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BRENK 警报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个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0.6111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0.04074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NIH 警报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个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0.03333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ECAE4-95BA-408D-8A67-668DD1E0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各项权重为 1；总分贡献 = 比较分 ÷ 15</a:t>
            </a:r>
          </a:p>
        </p:txBody>
      </p:sp>
    </p:spTree>
    <p:extLst>
      <p:ext uri="{BB962C8B-B14F-4D97-AF65-F5344CB8AC3E}">
        <p14:creationId xmlns:p14="http://schemas.microsoft.com/office/powerpoint/2010/main" val="1107735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D1222-06FF-467C-8121-0EF9D636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13F"/>
                </a:solidFill>
                <a:latin typeface="Microsoft YaHei"/>
                <a:ea typeface="Microsoft YaHei"/>
                <a:cs typeface="Microsoft YaHei"/>
              </a:rPr>
              <a:t>附录：17 项偏好评分明细 2/2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14DE8-EAF7-4FC8-932F-5CD79A60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48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7F6CB-7C11-43F5-8B9C-C226335325E8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05125"/>
                <a:gridCol w="2476500"/>
                <a:gridCol w="1714500"/>
                <a:gridCol w="1714500"/>
                <a:gridCol w="2238375"/>
              </a:tblGrid>
              <a:tr h="45508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T w="6668">
                      <a:solidFill>
                        <a:srgbClr val="CEDBE4"/>
                      </a:solidFill>
                    </a:lnT>
                    <a:lnB w="6668">
                      <a:solidFill>
                        <a:srgbClr val="CEDBE4"/>
                      </a:solidFill>
                    </a:lnB>
                    <a:solidFill>
                      <a:srgbClr val="DF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T w="6668">
                      <a:solidFill>
                        <a:srgbClr val="CEDBE4"/>
                      </a:solidFill>
                    </a:lnT>
                    <a:lnB w="6668">
                      <a:solidFill>
                        <a:srgbClr val="CEDBE4"/>
                      </a:solidFill>
                    </a:lnB>
                    <a:solidFill>
                      <a:srgbClr val="DF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T w="6668">
                      <a:solidFill>
                        <a:srgbClr val="CEDBE4"/>
                      </a:solidFill>
                    </a:lnT>
                    <a:lnB w="6668">
                      <a:solidFill>
                        <a:srgbClr val="CEDBE4"/>
                      </a:solidFill>
                    </a:lnB>
                    <a:solidFill>
                      <a:srgbClr val="DF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T w="6668">
                      <a:solidFill>
                        <a:srgbClr val="CEDBE4"/>
                      </a:solidFill>
                    </a:lnT>
                    <a:lnB w="6668">
                      <a:solidFill>
                        <a:srgbClr val="CEDBE4"/>
                      </a:solidFill>
                    </a:lnB>
                    <a:solidFill>
                      <a:srgbClr val="DF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总分贡献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T w="6668">
                      <a:solidFill>
                        <a:srgbClr val="CEDBE4"/>
                      </a:solidFill>
                    </a:lnT>
                    <a:lnB w="6668">
                      <a:solidFill>
                        <a:srgbClr val="CEDBE4"/>
                      </a:solidFill>
                    </a:lnB>
                    <a:solidFill>
                      <a:srgbClr val="DFEDF6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PAINS 警报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个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0.03333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BBB 渗透概率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0.5975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0.02963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CYP1A2 抑制概率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0.3827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0.5556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0.03704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CYP2C19 抑制概率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0.7778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0.05185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CYP2C9 抑制概率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0.0999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0.7778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0.05185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CYP2C9 底物概率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0.1821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0.06667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人体实测 F%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人体实测 Tmax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EDBE4"/>
                      </a:solidFill>
                    </a:lnL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EDBE4"/>
                      </a:solidFill>
                    </a:lnR>
                    <a:lnB w="6668">
                      <a:solidFill>
                        <a:srgbClr val="CEDB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C225E-700E-405B-AC0D-3C6D6C79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583"/>
                </a:solidFill>
                <a:latin typeface="Microsoft YaHei"/>
                <a:ea typeface="Microsoft YaHei"/>
                <a:cs typeface="Microsoft YaHei"/>
              </a:rPr>
              <a:t>总分 0.7592593；直接证据覆盖 10/17 = 58.82%</a:t>
            </a:r>
          </a:p>
        </p:txBody>
      </p:sp>
    </p:spTree>
    <p:extLst>
      <p:ext uri="{BB962C8B-B14F-4D97-AF65-F5344CB8AC3E}">
        <p14:creationId xmlns:p14="http://schemas.microsoft.com/office/powerpoint/2010/main" val="1906571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2026-10-16T22:52:16.1920000Z</dcterms:created>
  <dcterms:modified xsi:type="dcterms:W3CDTF">2026-10-16T22:52:16.1920000Z</dcterms:modified>
</coreProperties>
</file>